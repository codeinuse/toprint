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8"/>
  </p:notesMasterIdLst>
  <p:sldIdLst>
    <p:sldId id="256" r:id="rId2"/>
    <p:sldId id="257" r:id="rId3"/>
    <p:sldId id="258" r:id="rId4"/>
    <p:sldId id="273" r:id="rId5"/>
    <p:sldId id="270" r:id="rId6"/>
    <p:sldId id="259" r:id="rId7"/>
    <p:sldId id="260" r:id="rId8"/>
    <p:sldId id="261" r:id="rId9"/>
    <p:sldId id="269" r:id="rId10"/>
    <p:sldId id="274" r:id="rId11"/>
    <p:sldId id="268" r:id="rId12"/>
    <p:sldId id="275" r:id="rId13"/>
    <p:sldId id="264" r:id="rId14"/>
    <p:sldId id="265" r:id="rId15"/>
    <p:sldId id="266" r:id="rId16"/>
    <p:sldId id="267" r:id="rId17"/>
  </p:sldIdLst>
  <p:sldSz cx="14630400" cy="8229600"/>
  <p:notesSz cx="8229600" cy="14630400"/>
  <p:embeddedFontLst>
    <p:embeddedFont>
      <p:font typeface="Inter" panose="02000503000000020004" pitchFamily="2" charset="0"/>
      <p:regular r:id="rId19"/>
      <p:bold r:id="rId20"/>
      <p:italic r:id="rId21"/>
      <p:boldItalic r:id="rId22"/>
    </p:embeddedFont>
    <p:embeddedFont>
      <p:font typeface="Inter Bold" panose="02000803000000020004" pitchFamily="2" charset="0"/>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22" y="10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6509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33942159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1641302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19.svg"/><Relationship Id="rId4" Type="http://schemas.openxmlformats.org/officeDocument/2006/relationships/image" Target="../media/image18.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2.xml"/><Relationship Id="rId1" Type="http://schemas.openxmlformats.org/officeDocument/2006/relationships/slideLayout" Target="../slideLayouts/slideLayout15.xml"/><Relationship Id="rId5" Type="http://schemas.openxmlformats.org/officeDocument/2006/relationships/image" Target="../media/image22.svg"/><Relationship Id="rId4" Type="http://schemas.openxmlformats.org/officeDocument/2006/relationships/image" Target="../media/image21.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hyperlink" Target="https://arxiv.org/abs/2512.16301" TargetMode="External"/><Relationship Id="rId3" Type="http://schemas.openxmlformats.org/officeDocument/2006/relationships/hyperlink" Target="https://arxiv.org/abs/2510.04618" TargetMode="External"/><Relationship Id="rId7" Type="http://schemas.openxmlformats.org/officeDocument/2006/relationships/hyperlink" Target="https://arxiv.org/abs/2402.01030" TargetMode="External"/><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hyperlink" Target="https://arxiv.org/abs/2504.07952" TargetMode="External"/><Relationship Id="rId5" Type="http://schemas.openxmlformats.org/officeDocument/2006/relationships/hyperlink" Target="https://arxiv.org/abs/2303.11366" TargetMode="External"/><Relationship Id="rId4" Type="http://schemas.openxmlformats.org/officeDocument/2006/relationships/hyperlink" Target="https://aclanthology.org/2024.emnlp-main.525/"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9" name="Text 6"/>
          <p:cNvSpPr/>
          <p:nvPr/>
        </p:nvSpPr>
        <p:spPr>
          <a:xfrm>
            <a:off x="6280189" y="2253263"/>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Agentic Context Engineering (ACE)</a:t>
            </a:r>
            <a:endParaRPr lang="en-US" sz="3900" dirty="0"/>
          </a:p>
        </p:txBody>
      </p:sp>
      <p:sp>
        <p:nvSpPr>
          <p:cNvPr id="10" name="Text 7"/>
          <p:cNvSpPr/>
          <p:nvPr/>
        </p:nvSpPr>
        <p:spPr>
          <a:xfrm>
            <a:off x="6280188" y="3680936"/>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 framework from Stanford, SambaNova Systems &amp; UC Berkeley that enables coding agents to self-improve from real engineering experience, without retraining the </a:t>
            </a:r>
            <a:r>
              <a:rPr lang="en-US" sz="1550">
                <a:solidFill>
                  <a:srgbClr val="272525"/>
                </a:solidFill>
                <a:latin typeface="Inter" pitchFamily="34" charset="0"/>
                <a:ea typeface="Inter" pitchFamily="34" charset="-122"/>
                <a:cs typeface="Inter" pitchFamily="34" charset="-120"/>
              </a:rPr>
              <a:t>model.</a:t>
            </a:r>
          </a:p>
          <a:p>
            <a:pPr marL="0" indent="0" algn="l">
              <a:lnSpc>
                <a:spcPts val="2500"/>
              </a:lnSpc>
              <a:buNone/>
            </a:pPr>
            <a:endParaRPr lang="en-US" sz="1550">
              <a:solidFill>
                <a:srgbClr val="272525"/>
              </a:solidFill>
              <a:latin typeface="Inter" pitchFamily="34" charset="0"/>
              <a:ea typeface="Inter" pitchFamily="34" charset="-122"/>
              <a:cs typeface="Inter" pitchFamily="34" charset="-120"/>
            </a:endParaRPr>
          </a:p>
          <a:p>
            <a:pPr marL="0" indent="0" algn="l">
              <a:lnSpc>
                <a:spcPts val="2500"/>
              </a:lnSpc>
              <a:buNone/>
            </a:pPr>
            <a:endParaRPr lang="en-US" sz="1550">
              <a:solidFill>
                <a:srgbClr val="272525"/>
              </a:solidFill>
              <a:latin typeface="Inter" pitchFamily="34" charset="0"/>
              <a:ea typeface="Inter" pitchFamily="34" charset="-122"/>
              <a:cs typeface="Inter" pitchFamily="34" charset="-120"/>
            </a:endParaRPr>
          </a:p>
          <a:p>
            <a:pPr marL="0" indent="0" algn="l">
              <a:lnSpc>
                <a:spcPts val="2500"/>
              </a:lnSpc>
              <a:buNone/>
            </a:pPr>
            <a:r>
              <a:rPr lang="en-US" sz="1550">
                <a:solidFill>
                  <a:srgbClr val="272525"/>
                </a:solidFill>
                <a:latin typeface="Inter" pitchFamily="34" charset="0"/>
                <a:ea typeface="Inter" pitchFamily="34" charset="-122"/>
                <a:cs typeface="Inter" pitchFamily="34" charset="-120"/>
              </a:rPr>
              <a:t>Presented by: Mubeen Bhatti</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42416"/>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Problem Statement</a:t>
            </a:r>
            <a:endParaRPr lang="en-US" sz="3900" dirty="0"/>
          </a:p>
        </p:txBody>
      </p:sp>
      <p:sp>
        <p:nvSpPr>
          <p:cNvPr id="3" name="Text 1"/>
          <p:cNvSpPr/>
          <p:nvPr/>
        </p:nvSpPr>
        <p:spPr>
          <a:xfrm>
            <a:off x="793790" y="2222183"/>
            <a:ext cx="13042821" cy="317540"/>
          </a:xfrm>
          <a:prstGeom prst="rect">
            <a:avLst/>
          </a:prstGeom>
          <a:noFill/>
          <a:ln/>
        </p:spPr>
        <p:txBody>
          <a:bodyPr wrap="non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Coding agents have no persistent memory of what worked, or what failed.</a:t>
            </a:r>
            <a:endParaRPr lang="en-US" sz="1550" dirty="0"/>
          </a:p>
        </p:txBody>
      </p:sp>
      <p:sp>
        <p:nvSpPr>
          <p:cNvPr id="4" name="Shape 2"/>
          <p:cNvSpPr/>
          <p:nvPr/>
        </p:nvSpPr>
        <p:spPr>
          <a:xfrm>
            <a:off x="793790" y="2762964"/>
            <a:ext cx="13042821" cy="1478280"/>
          </a:xfrm>
          <a:prstGeom prst="roundRect">
            <a:avLst>
              <a:gd name="adj" fmla="val 5639"/>
            </a:avLst>
          </a:prstGeom>
          <a:solidFill>
            <a:srgbClr val="C7C9EA"/>
          </a:solidFill>
          <a:ln/>
        </p:spPr>
        <p:txBody>
          <a:bodyPr/>
          <a:lstStyle/>
          <a:p>
            <a:endParaRPr lang="en-US"/>
          </a:p>
        </p:txBody>
      </p:sp>
      <p:sp>
        <p:nvSpPr>
          <p:cNvPr id="5" name="Text 3"/>
          <p:cNvSpPr/>
          <p:nvPr/>
        </p:nvSpPr>
        <p:spPr>
          <a:xfrm>
            <a:off x="992148" y="3010853"/>
            <a:ext cx="12646104"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Modern AI agents are forced to rewrite their entire memory every time they learn something new. Like an employee who must rewrite their entire training manual just to add one new rule, they inevitably compress, summarise, and lose the critical nuance that makes them effective.</a:t>
            </a:r>
            <a:endParaRPr lang="en-US" sz="1550" dirty="0"/>
          </a:p>
        </p:txBody>
      </p:sp>
      <p:sp>
        <p:nvSpPr>
          <p:cNvPr id="6" name="Shape 4"/>
          <p:cNvSpPr/>
          <p:nvPr/>
        </p:nvSpPr>
        <p:spPr>
          <a:xfrm>
            <a:off x="793790" y="4573607"/>
            <a:ext cx="99179" cy="99179"/>
          </a:xfrm>
          <a:prstGeom prst="roundRect">
            <a:avLst>
              <a:gd name="adj" fmla="val 460985"/>
            </a:avLst>
          </a:prstGeom>
          <a:solidFill>
            <a:srgbClr val="4950BC"/>
          </a:solidFill>
          <a:ln/>
        </p:spPr>
        <p:txBody>
          <a:bodyPr/>
          <a:lstStyle/>
          <a:p>
            <a:endParaRPr lang="en-US"/>
          </a:p>
        </p:txBody>
      </p:sp>
      <p:sp>
        <p:nvSpPr>
          <p:cNvPr id="7" name="Text 5"/>
          <p:cNvSpPr/>
          <p:nvPr/>
        </p:nvSpPr>
        <p:spPr>
          <a:xfrm>
            <a:off x="1091327" y="4464487"/>
            <a:ext cx="12745283"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Agents repeat the same mistakes across every run: no accumulated learning</a:t>
            </a:r>
            <a:endParaRPr lang="en-US" sz="1550" dirty="0"/>
          </a:p>
        </p:txBody>
      </p:sp>
      <p:sp>
        <p:nvSpPr>
          <p:cNvPr id="8" name="Shape 6"/>
          <p:cNvSpPr/>
          <p:nvPr/>
        </p:nvSpPr>
        <p:spPr>
          <a:xfrm>
            <a:off x="793790" y="5287982"/>
            <a:ext cx="99179" cy="99179"/>
          </a:xfrm>
          <a:prstGeom prst="roundRect">
            <a:avLst>
              <a:gd name="adj" fmla="val 460985"/>
            </a:avLst>
          </a:prstGeom>
          <a:solidFill>
            <a:srgbClr val="4950BC"/>
          </a:solidFill>
          <a:ln/>
        </p:spPr>
        <p:txBody>
          <a:bodyPr/>
          <a:lstStyle/>
          <a:p>
            <a:endParaRPr lang="en-US"/>
          </a:p>
        </p:txBody>
      </p:sp>
      <p:sp>
        <p:nvSpPr>
          <p:cNvPr id="9" name="Text 7"/>
          <p:cNvSpPr/>
          <p:nvPr/>
        </p:nvSpPr>
        <p:spPr>
          <a:xfrm>
            <a:off x="1091327" y="5178862"/>
            <a:ext cx="12745283"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Prompt optimisers suffer from brevity bias, compressing away crucial domain-specific detail</a:t>
            </a:r>
            <a:endParaRPr lang="en-US" sz="1550" dirty="0"/>
          </a:p>
        </p:txBody>
      </p:sp>
      <p:sp>
        <p:nvSpPr>
          <p:cNvPr id="10" name="Shape 8"/>
          <p:cNvSpPr/>
          <p:nvPr/>
        </p:nvSpPr>
        <p:spPr>
          <a:xfrm>
            <a:off x="793790" y="6002357"/>
            <a:ext cx="99179" cy="99179"/>
          </a:xfrm>
          <a:prstGeom prst="roundRect">
            <a:avLst>
              <a:gd name="adj" fmla="val 460985"/>
            </a:avLst>
          </a:prstGeom>
          <a:solidFill>
            <a:srgbClr val="4950BC"/>
          </a:solidFill>
          <a:ln/>
        </p:spPr>
        <p:txBody>
          <a:bodyPr/>
          <a:lstStyle/>
          <a:p>
            <a:endParaRPr lang="en-US"/>
          </a:p>
        </p:txBody>
      </p:sp>
      <p:sp>
        <p:nvSpPr>
          <p:cNvPr id="11" name="Text 9"/>
          <p:cNvSpPr/>
          <p:nvPr/>
        </p:nvSpPr>
        <p:spPr>
          <a:xfrm>
            <a:off x="1091327" y="5893237"/>
            <a:ext cx="12745283"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Monolithic context rewrites trigger context collapse, degrading accumulated knowledge</a:t>
            </a:r>
            <a:endParaRPr lang="en-US" sz="1550" dirty="0"/>
          </a:p>
        </p:txBody>
      </p:sp>
      <p:sp>
        <p:nvSpPr>
          <p:cNvPr id="12" name="Shape 10"/>
          <p:cNvSpPr/>
          <p:nvPr/>
        </p:nvSpPr>
        <p:spPr>
          <a:xfrm>
            <a:off x="793790" y="6716732"/>
            <a:ext cx="99179" cy="99179"/>
          </a:xfrm>
          <a:prstGeom prst="roundRect">
            <a:avLst>
              <a:gd name="adj" fmla="val 460985"/>
            </a:avLst>
          </a:prstGeom>
          <a:solidFill>
            <a:srgbClr val="4950BC"/>
          </a:solidFill>
          <a:ln/>
        </p:spPr>
        <p:txBody>
          <a:bodyPr/>
          <a:lstStyle/>
          <a:p>
            <a:endParaRPr lang="en-US"/>
          </a:p>
        </p:txBody>
      </p:sp>
      <p:sp>
        <p:nvSpPr>
          <p:cNvPr id="13" name="Text 11"/>
          <p:cNvSpPr/>
          <p:nvPr/>
        </p:nvSpPr>
        <p:spPr>
          <a:xfrm>
            <a:off x="1091327" y="6607612"/>
            <a:ext cx="12745283"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Retraining the base model is expensive, slow, and does not resolve the operational knowledge gap</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037630"/>
            <a:ext cx="8519160" cy="548640"/>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Value Proposition : ACE Framework</a:t>
            </a:r>
            <a:endParaRPr lang="en-US" sz="3900" dirty="0"/>
          </a:p>
        </p:txBody>
      </p:sp>
      <p:pic>
        <p:nvPicPr>
          <p:cNvPr id="3" name="Image 0" descr="preencoded.png"/>
          <p:cNvPicPr>
            <a:picLocks noChangeAspect="1"/>
          </p:cNvPicPr>
          <p:nvPr/>
        </p:nvPicPr>
        <p:blipFill>
          <a:blip r:embed="rId3"/>
          <a:stretch>
            <a:fillRect/>
          </a:stretch>
        </p:blipFill>
        <p:spPr>
          <a:xfrm>
            <a:off x="793790" y="2054543"/>
            <a:ext cx="4347567" cy="793790"/>
          </a:xfrm>
          <a:prstGeom prst="rect">
            <a:avLst/>
          </a:prstGeom>
        </p:spPr>
      </p:pic>
      <p:sp>
        <p:nvSpPr>
          <p:cNvPr id="4" name="Text 1"/>
          <p:cNvSpPr/>
          <p:nvPr/>
        </p:nvSpPr>
        <p:spPr>
          <a:xfrm>
            <a:off x="992148" y="304669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Generator</a:t>
            </a:r>
            <a:endParaRPr lang="en-US" sz="1950" dirty="0"/>
          </a:p>
        </p:txBody>
      </p:sp>
      <p:sp>
        <p:nvSpPr>
          <p:cNvPr id="5" name="Text 2"/>
          <p:cNvSpPr/>
          <p:nvPr/>
        </p:nvSpPr>
        <p:spPr>
          <a:xfrm>
            <a:off x="992148" y="3475911"/>
            <a:ext cx="3950851"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junior developer. Reads tickets, inspects the repository, proposes changes, and executes tools, interacting with compilers, test runners, APIs, and sandboxes.</a:t>
            </a:r>
            <a:endParaRPr lang="en-US" sz="1550" dirty="0"/>
          </a:p>
        </p:txBody>
      </p:sp>
      <p:pic>
        <p:nvPicPr>
          <p:cNvPr id="6" name="Image 1" descr="preencoded.png"/>
          <p:cNvPicPr>
            <a:picLocks noChangeAspect="1"/>
          </p:cNvPicPr>
          <p:nvPr/>
        </p:nvPicPr>
        <p:blipFill>
          <a:blip r:embed="rId4"/>
          <a:stretch>
            <a:fillRect/>
          </a:stretch>
        </p:blipFill>
        <p:spPr>
          <a:xfrm>
            <a:off x="5141357" y="2054543"/>
            <a:ext cx="4347567" cy="793790"/>
          </a:xfrm>
          <a:prstGeom prst="rect">
            <a:avLst/>
          </a:prstGeom>
        </p:spPr>
      </p:pic>
      <p:sp>
        <p:nvSpPr>
          <p:cNvPr id="7" name="Text 3"/>
          <p:cNvSpPr/>
          <p:nvPr/>
        </p:nvSpPr>
        <p:spPr>
          <a:xfrm>
            <a:off x="5339715" y="304669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Reflector</a:t>
            </a:r>
            <a:endParaRPr lang="en-US" sz="1950" dirty="0"/>
          </a:p>
        </p:txBody>
      </p:sp>
      <p:sp>
        <p:nvSpPr>
          <p:cNvPr id="8" name="Text 4"/>
          <p:cNvSpPr/>
          <p:nvPr/>
        </p:nvSpPr>
        <p:spPr>
          <a:xfrm>
            <a:off x="5339715" y="3475911"/>
            <a:ext cx="3950851"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QA tester. Reviews execution logs after each task, analyses environment feedback and error codes, and extracts concrete, actionable insights.</a:t>
            </a:r>
            <a:endParaRPr lang="en-US" sz="1550" dirty="0"/>
          </a:p>
        </p:txBody>
      </p:sp>
      <p:sp>
        <p:nvSpPr>
          <p:cNvPr id="9" name="Text 5"/>
          <p:cNvSpPr/>
          <p:nvPr/>
        </p:nvSpPr>
        <p:spPr>
          <a:xfrm>
            <a:off x="5339715" y="4865132"/>
            <a:ext cx="3950851"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Example: If an API returns paginated results of 100 rather than a full list, the Reflector identifies the pagination gap and flags it.</a:t>
            </a:r>
            <a:endParaRPr lang="en-US" sz="1550" dirty="0"/>
          </a:p>
        </p:txBody>
      </p:sp>
      <p:pic>
        <p:nvPicPr>
          <p:cNvPr id="10" name="Image 2" descr="preencoded.png"/>
          <p:cNvPicPr>
            <a:picLocks noChangeAspect="1"/>
          </p:cNvPicPr>
          <p:nvPr/>
        </p:nvPicPr>
        <p:blipFill>
          <a:blip r:embed="rId5"/>
          <a:stretch>
            <a:fillRect/>
          </a:stretch>
        </p:blipFill>
        <p:spPr>
          <a:xfrm>
            <a:off x="9488924" y="2054543"/>
            <a:ext cx="4347567" cy="793790"/>
          </a:xfrm>
          <a:prstGeom prst="rect">
            <a:avLst/>
          </a:prstGeom>
        </p:spPr>
      </p:pic>
      <p:sp>
        <p:nvSpPr>
          <p:cNvPr id="11" name="Text 6"/>
          <p:cNvSpPr/>
          <p:nvPr/>
        </p:nvSpPr>
        <p:spPr>
          <a:xfrm>
            <a:off x="9687282" y="304669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Curator</a:t>
            </a:r>
            <a:endParaRPr lang="en-US" sz="1950" dirty="0"/>
          </a:p>
        </p:txBody>
      </p:sp>
      <p:sp>
        <p:nvSpPr>
          <p:cNvPr id="12" name="Text 7"/>
          <p:cNvSpPr/>
          <p:nvPr/>
        </p:nvSpPr>
        <p:spPr>
          <a:xfrm>
            <a:off x="9687282" y="3475911"/>
            <a:ext cx="3950851"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lead architect. Takes the Reflector's insight and integrates it into the master playbook as a single, localised bullet point, without touching or rewriting the rest of the document.</a:t>
            </a:r>
            <a:endParaRPr lang="en-US" sz="1550" dirty="0"/>
          </a:p>
        </p:txBody>
      </p:sp>
      <p:sp>
        <p:nvSpPr>
          <p:cNvPr id="13" name="Text 8"/>
          <p:cNvSpPr/>
          <p:nvPr/>
        </p:nvSpPr>
        <p:spPr>
          <a:xfrm>
            <a:off x="9687282" y="5182672"/>
            <a:ext cx="395085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This is how ACE prevents context collapse.</a:t>
            </a:r>
            <a:endParaRPr lang="en-US" sz="1550" dirty="0"/>
          </a:p>
        </p:txBody>
      </p:sp>
      <p:sp>
        <p:nvSpPr>
          <p:cNvPr id="14" name="Text 9"/>
          <p:cNvSpPr/>
          <p:nvPr/>
        </p:nvSpPr>
        <p:spPr>
          <a:xfrm>
            <a:off x="793790" y="6556891"/>
            <a:ext cx="13042821" cy="635079"/>
          </a:xfrm>
          <a:prstGeom prst="rect">
            <a:avLst/>
          </a:prstGeom>
          <a:noFill/>
          <a:ln/>
        </p:spPr>
        <p:txBody>
          <a:bodyPr wrap="squar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By dividing cognitive labour across three roles, ACE bypasses the bottleneck of overloading a single process with execution, critique, and synthesis, mirroring how high-performing engineering teams actually operate.</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1526" y="563523"/>
            <a:ext cx="12111752" cy="580073"/>
          </a:xfrm>
          <a:prstGeom prst="rect">
            <a:avLst/>
          </a:prstGeom>
          <a:noFill/>
          <a:ln/>
        </p:spPr>
        <p:txBody>
          <a:bodyPr wrap="none" lIns="0" tIns="0" rIns="0" bIns="0" rtlCol="0" anchor="t"/>
          <a:lstStyle/>
          <a:p>
            <a:pPr marL="0" indent="0" algn="l">
              <a:lnSpc>
                <a:spcPts val="4550"/>
              </a:lnSpc>
              <a:buNone/>
            </a:pPr>
            <a:r>
              <a:rPr lang="en-US" sz="3650" b="1" dirty="0">
                <a:solidFill>
                  <a:srgbClr val="000000"/>
                </a:solidFill>
                <a:latin typeface="Inter Bold" pitchFamily="34" charset="0"/>
                <a:ea typeface="Inter Bold" pitchFamily="34" charset="-122"/>
                <a:cs typeface="Inter Bold" pitchFamily="34" charset="-120"/>
              </a:rPr>
              <a:t>Generator vs. Reflector: Complementary Roles in ACE</a:t>
            </a:r>
            <a:endParaRPr lang="en-US" sz="3650" dirty="0"/>
          </a:p>
        </p:txBody>
      </p:sp>
      <p:sp>
        <p:nvSpPr>
          <p:cNvPr id="3" name="Text 1"/>
          <p:cNvSpPr/>
          <p:nvPr/>
        </p:nvSpPr>
        <p:spPr>
          <a:xfrm>
            <a:off x="781526" y="1490782"/>
            <a:ext cx="13067348" cy="574596"/>
          </a:xfrm>
          <a:prstGeom prst="rect">
            <a:avLst/>
          </a:prstGeom>
          <a:noFill/>
          <a:ln/>
        </p:spPr>
        <p:txBody>
          <a:bodyPr wrap="square" lIns="0" tIns="0" rIns="0" bIns="0" rtlCol="0" anchor="t"/>
          <a:lstStyle/>
          <a:p>
            <a:pPr marL="0" indent="0" algn="l">
              <a:lnSpc>
                <a:spcPts val="2250"/>
              </a:lnSpc>
              <a:buNone/>
            </a:pPr>
            <a:r>
              <a:rPr lang="en-US" sz="1450" dirty="0">
                <a:solidFill>
                  <a:srgbClr val="272525"/>
                </a:solidFill>
                <a:latin typeface="Inter" pitchFamily="34" charset="0"/>
                <a:ea typeface="Inter" pitchFamily="34" charset="-122"/>
                <a:cs typeface="Inter" pitchFamily="34" charset="-120"/>
              </a:rPr>
              <a:t>In the ACE framework, the Generator and the Reflector </a:t>
            </a:r>
            <a:r>
              <a:rPr lang="en-US" sz="1450">
                <a:solidFill>
                  <a:srgbClr val="272525"/>
                </a:solidFill>
                <a:latin typeface="Inter" pitchFamily="34" charset="0"/>
                <a:ea typeface="Inter" pitchFamily="34" charset="-122"/>
                <a:cs typeface="Inter" pitchFamily="34" charset="-120"/>
              </a:rPr>
              <a:t>serve different </a:t>
            </a:r>
            <a:r>
              <a:rPr lang="en-US" sz="1450" dirty="0">
                <a:solidFill>
                  <a:srgbClr val="272525"/>
                </a:solidFill>
                <a:latin typeface="Inter" pitchFamily="34" charset="0"/>
                <a:ea typeface="Inter" pitchFamily="34" charset="-122"/>
                <a:cs typeface="Inter" pitchFamily="34" charset="-120"/>
              </a:rPr>
              <a:t>but complementary functions. The Generator is the "doer" that attempts tasks, while the Reflector is the "critic" or "diagnostician" that analyzes what went wrong and extracts lessons.</a:t>
            </a:r>
            <a:endParaRPr lang="en-US" sz="1450" dirty="0"/>
          </a:p>
        </p:txBody>
      </p:sp>
      <p:sp>
        <p:nvSpPr>
          <p:cNvPr id="4" name="Shape 2"/>
          <p:cNvSpPr/>
          <p:nvPr/>
        </p:nvSpPr>
        <p:spPr>
          <a:xfrm>
            <a:off x="781526" y="2260640"/>
            <a:ext cx="6446877" cy="4635460"/>
          </a:xfrm>
          <a:prstGeom prst="roundRect">
            <a:avLst>
              <a:gd name="adj" fmla="val 1682"/>
            </a:avLst>
          </a:prstGeom>
          <a:solidFill>
            <a:srgbClr val="FFFFFF"/>
          </a:solidFill>
          <a:ln w="22860">
            <a:solidFill>
              <a:srgbClr val="C0C1D7"/>
            </a:solidFill>
            <a:prstDash val="solid"/>
          </a:ln>
        </p:spPr>
        <p:txBody>
          <a:bodyPr/>
          <a:lstStyle/>
          <a:p>
            <a:endParaRPr lang="en-US"/>
          </a:p>
        </p:txBody>
      </p:sp>
      <p:sp>
        <p:nvSpPr>
          <p:cNvPr id="5" name="Text 3"/>
          <p:cNvSpPr/>
          <p:nvPr/>
        </p:nvSpPr>
        <p:spPr>
          <a:xfrm>
            <a:off x="990005" y="2469118"/>
            <a:ext cx="2983349" cy="290036"/>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Generator — The Executor</a:t>
            </a:r>
            <a:endParaRPr lang="en-US" sz="1800" dirty="0"/>
          </a:p>
        </p:txBody>
      </p:sp>
      <p:sp>
        <p:nvSpPr>
          <p:cNvPr id="6" name="Text 4"/>
          <p:cNvSpPr/>
          <p:nvPr/>
        </p:nvSpPr>
        <p:spPr>
          <a:xfrm>
            <a:off x="990005" y="2863215"/>
            <a:ext cx="6029920" cy="1149191"/>
          </a:xfrm>
          <a:prstGeom prst="rect">
            <a:avLst/>
          </a:prstGeom>
          <a:noFill/>
          <a:ln/>
        </p:spPr>
        <p:txBody>
          <a:bodyPr wrap="square" lIns="0" tIns="0" rIns="0" bIns="0" rtlCol="0" anchor="t"/>
          <a:lstStyle/>
          <a:p>
            <a:pPr marL="0" indent="0" algn="l">
              <a:lnSpc>
                <a:spcPts val="2250"/>
              </a:lnSpc>
              <a:buNone/>
            </a:pPr>
            <a:r>
              <a:rPr lang="en-US" sz="1450" dirty="0">
                <a:solidFill>
                  <a:srgbClr val="272525"/>
                </a:solidFill>
                <a:latin typeface="Inter" pitchFamily="34" charset="0"/>
                <a:ea typeface="Inter" pitchFamily="34" charset="-122"/>
                <a:cs typeface="Inter" pitchFamily="34" charset="-120"/>
              </a:rPr>
              <a:t>Takes the user's query and the current context playbook, produces a reasoning trajectory, calls external tools, and generates an output. Leaves behind an execution trace that exposes its strategies, decisions, and any mistakes it made along the way.</a:t>
            </a:r>
            <a:endParaRPr lang="en-US" sz="1450" dirty="0"/>
          </a:p>
        </p:txBody>
      </p:sp>
      <p:sp>
        <p:nvSpPr>
          <p:cNvPr id="7" name="Shape 5"/>
          <p:cNvSpPr/>
          <p:nvPr/>
        </p:nvSpPr>
        <p:spPr>
          <a:xfrm>
            <a:off x="990005" y="4207669"/>
            <a:ext cx="6029920" cy="1905357"/>
          </a:xfrm>
          <a:prstGeom prst="roundRect">
            <a:avLst>
              <a:gd name="adj" fmla="val 4092"/>
            </a:avLst>
          </a:prstGeom>
          <a:solidFill>
            <a:srgbClr val="C7C9EA"/>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175623" y="4482822"/>
            <a:ext cx="231934" cy="185618"/>
          </a:xfrm>
          <a:prstGeom prst="rect">
            <a:avLst/>
          </a:prstGeom>
        </p:spPr>
      </p:pic>
      <p:sp>
        <p:nvSpPr>
          <p:cNvPr id="9" name="Text 6"/>
          <p:cNvSpPr/>
          <p:nvPr/>
        </p:nvSpPr>
        <p:spPr>
          <a:xfrm>
            <a:off x="1593175" y="4427577"/>
            <a:ext cx="5241131" cy="1436489"/>
          </a:xfrm>
          <a:prstGeom prst="rect">
            <a:avLst/>
          </a:prstGeom>
          <a:noFill/>
          <a:ln/>
        </p:spPr>
        <p:txBody>
          <a:bodyPr wrap="square" lIns="0" tIns="0" rIns="0" bIns="0" rtlCol="0" anchor="t"/>
          <a:lstStyle/>
          <a:p>
            <a:pPr marL="0" indent="0" algn="l">
              <a:lnSpc>
                <a:spcPts val="2250"/>
              </a:lnSpc>
              <a:buNone/>
            </a:pPr>
            <a:r>
              <a:rPr lang="en-US" sz="1450" dirty="0">
                <a:solidFill>
                  <a:srgbClr val="000000"/>
                </a:solidFill>
                <a:latin typeface="Inter" pitchFamily="34" charset="0"/>
                <a:ea typeface="Inter" pitchFamily="34" charset="-122"/>
                <a:cs typeface="Inter" pitchFamily="34" charset="-120"/>
              </a:rPr>
              <a:t>Like a student taking a math test — uses the study guide (playbook) to attempt a complex equation, writes down step-by-step work (the reasoning trace), and sometimes applies the wrong formula. The job is simply to execute the task and show the work.</a:t>
            </a:r>
            <a:endParaRPr lang="en-US" sz="1450" dirty="0"/>
          </a:p>
        </p:txBody>
      </p:sp>
      <p:sp>
        <p:nvSpPr>
          <p:cNvPr id="10" name="Shape 7"/>
          <p:cNvSpPr/>
          <p:nvPr/>
        </p:nvSpPr>
        <p:spPr>
          <a:xfrm>
            <a:off x="7401997" y="2260640"/>
            <a:ext cx="6446877" cy="4635460"/>
          </a:xfrm>
          <a:prstGeom prst="roundRect">
            <a:avLst>
              <a:gd name="adj" fmla="val 1682"/>
            </a:avLst>
          </a:prstGeom>
          <a:solidFill>
            <a:srgbClr val="FFFFFF"/>
          </a:solidFill>
          <a:ln w="22860">
            <a:solidFill>
              <a:srgbClr val="C0C1D7"/>
            </a:solidFill>
            <a:prstDash val="solid"/>
          </a:ln>
        </p:spPr>
        <p:txBody>
          <a:bodyPr/>
          <a:lstStyle/>
          <a:p>
            <a:endParaRPr lang="en-US"/>
          </a:p>
        </p:txBody>
      </p:sp>
      <p:sp>
        <p:nvSpPr>
          <p:cNvPr id="11" name="Text 8"/>
          <p:cNvSpPr/>
          <p:nvPr/>
        </p:nvSpPr>
        <p:spPr>
          <a:xfrm>
            <a:off x="7610475" y="2469118"/>
            <a:ext cx="3425190" cy="290036"/>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Reflector — The Diagnostician</a:t>
            </a:r>
            <a:endParaRPr lang="en-US" sz="1800" dirty="0"/>
          </a:p>
        </p:txBody>
      </p:sp>
      <p:sp>
        <p:nvSpPr>
          <p:cNvPr id="12" name="Text 9"/>
          <p:cNvSpPr/>
          <p:nvPr/>
        </p:nvSpPr>
        <p:spPr>
          <a:xfrm>
            <a:off x="7610475" y="2863215"/>
            <a:ext cx="6029920" cy="1723787"/>
          </a:xfrm>
          <a:prstGeom prst="rect">
            <a:avLst/>
          </a:prstGeom>
          <a:noFill/>
          <a:ln/>
        </p:spPr>
        <p:txBody>
          <a:bodyPr wrap="square" lIns="0" tIns="0" rIns="0" bIns="0" rtlCol="0" anchor="t"/>
          <a:lstStyle/>
          <a:p>
            <a:pPr marL="0" indent="0" algn="l">
              <a:lnSpc>
                <a:spcPts val="2250"/>
              </a:lnSpc>
              <a:buNone/>
            </a:pPr>
            <a:r>
              <a:rPr lang="en-US" sz="1450" dirty="0">
                <a:solidFill>
                  <a:srgbClr val="272525"/>
                </a:solidFill>
                <a:latin typeface="Inter" pitchFamily="34" charset="0"/>
                <a:ea typeface="Inter" pitchFamily="34" charset="-122"/>
                <a:cs typeface="Inter" pitchFamily="34" charset="-120"/>
              </a:rPr>
              <a:t>After the Generator produces its execution trace, the Reflector steps in to analyze it. It identifies exactly where and why the Generator went wrong — misapplied rules, flawed reasoning steps, or incorrect assumptions — and distills these into specific, actionable lessons. It does NOT fix the problem itself; it diagnoses and extracts the insight.</a:t>
            </a:r>
            <a:endParaRPr lang="en-US" sz="1450" dirty="0"/>
          </a:p>
        </p:txBody>
      </p:sp>
      <p:sp>
        <p:nvSpPr>
          <p:cNvPr id="13" name="Shape 10"/>
          <p:cNvSpPr/>
          <p:nvPr/>
        </p:nvSpPr>
        <p:spPr>
          <a:xfrm>
            <a:off x="7610475" y="4782264"/>
            <a:ext cx="6029920" cy="1905357"/>
          </a:xfrm>
          <a:prstGeom prst="roundRect">
            <a:avLst>
              <a:gd name="adj" fmla="val 4092"/>
            </a:avLst>
          </a:prstGeom>
          <a:solidFill>
            <a:srgbClr val="C7C9EA"/>
          </a:solidFill>
          <a:ln/>
        </p:spPr>
        <p:txBody>
          <a:bodyPr/>
          <a:lstStyle/>
          <a:p>
            <a:endParaRPr lang="en-US"/>
          </a:p>
        </p:txBody>
      </p:sp>
      <p:pic>
        <p:nvPicPr>
          <p:cNvPr id="14" name="Image 1" descr="preencoded.png"/>
          <p:cNvPicPr>
            <a:picLocks noChangeAspect="1"/>
          </p:cNvPicPr>
          <p:nvPr/>
        </p:nvPicPr>
        <p:blipFill>
          <a:blip r:embed="rId3"/>
          <a:stretch>
            <a:fillRect/>
          </a:stretch>
        </p:blipFill>
        <p:spPr>
          <a:xfrm>
            <a:off x="7796093" y="5057418"/>
            <a:ext cx="231934" cy="185618"/>
          </a:xfrm>
          <a:prstGeom prst="rect">
            <a:avLst/>
          </a:prstGeom>
        </p:spPr>
      </p:pic>
      <p:sp>
        <p:nvSpPr>
          <p:cNvPr id="15" name="Text 11"/>
          <p:cNvSpPr/>
          <p:nvPr/>
        </p:nvSpPr>
        <p:spPr>
          <a:xfrm>
            <a:off x="8213646" y="5002173"/>
            <a:ext cx="5241131" cy="1436489"/>
          </a:xfrm>
          <a:prstGeom prst="rect">
            <a:avLst/>
          </a:prstGeom>
          <a:noFill/>
          <a:ln/>
        </p:spPr>
        <p:txBody>
          <a:bodyPr wrap="square" lIns="0" tIns="0" rIns="0" bIns="0" rtlCol="0" anchor="t"/>
          <a:lstStyle/>
          <a:p>
            <a:pPr marL="0" indent="0" algn="l">
              <a:lnSpc>
                <a:spcPts val="2250"/>
              </a:lnSpc>
              <a:buNone/>
            </a:pPr>
            <a:r>
              <a:rPr lang="en-US" sz="1450" dirty="0">
                <a:solidFill>
                  <a:srgbClr val="000000"/>
                </a:solidFill>
                <a:latin typeface="Inter" pitchFamily="34" charset="0"/>
                <a:ea typeface="Inter" pitchFamily="34" charset="-122"/>
                <a:cs typeface="Inter" pitchFamily="34" charset="-120"/>
              </a:rPr>
              <a:t>Like a teacher grading the student's test — reviews the step-by-step work, circles the exact mistake (e.g., "You forgot to carry the 1 in step 3"), and writes a clear correction note. The teacher doesn't retake the test; they identify the lesson to be learned.</a:t>
            </a:r>
            <a:endParaRPr lang="en-US" sz="1450" dirty="0"/>
          </a:p>
        </p:txBody>
      </p:sp>
      <p:sp>
        <p:nvSpPr>
          <p:cNvPr id="16" name="Text 12"/>
          <p:cNvSpPr/>
          <p:nvPr/>
        </p:nvSpPr>
        <p:spPr>
          <a:xfrm>
            <a:off x="781526" y="7091363"/>
            <a:ext cx="13067348" cy="574596"/>
          </a:xfrm>
          <a:prstGeom prst="rect">
            <a:avLst/>
          </a:prstGeom>
          <a:noFill/>
          <a:ln/>
        </p:spPr>
        <p:txBody>
          <a:bodyPr wrap="square" lIns="0" tIns="0" rIns="0" bIns="0" rtlCol="0" anchor="t"/>
          <a:lstStyle/>
          <a:p>
            <a:pPr marL="0" indent="0" algn="l">
              <a:lnSpc>
                <a:spcPts val="2250"/>
              </a:lnSpc>
              <a:buNone/>
            </a:pPr>
            <a:r>
              <a:rPr lang="en-US" sz="1450" b="1" dirty="0">
                <a:solidFill>
                  <a:srgbClr val="272525"/>
                </a:solidFill>
                <a:latin typeface="Inter" pitchFamily="34" charset="0"/>
                <a:ea typeface="Inter" pitchFamily="34" charset="-122"/>
                <a:cs typeface="Inter" pitchFamily="34" charset="-120"/>
              </a:rPr>
              <a:t>The Generator tries to accomplish the task and produces the raw experience. The Reflector reviews that experience, pinpoints what went wrong, and extracts the precise lesson — ready to be filed into memory.</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594598"/>
            <a:ext cx="10349032" cy="589121"/>
          </a:xfrm>
          <a:prstGeom prst="rect">
            <a:avLst/>
          </a:prstGeom>
          <a:noFill/>
          <a:ln/>
        </p:spPr>
        <p:txBody>
          <a:bodyPr wrap="none" lIns="0" tIns="0" rIns="0" bIns="0" rtlCol="0" anchor="t"/>
          <a:lstStyle/>
          <a:p>
            <a:pPr marL="0" indent="0" algn="l">
              <a:lnSpc>
                <a:spcPts val="4600"/>
              </a:lnSpc>
              <a:buNone/>
            </a:pPr>
            <a:r>
              <a:rPr lang="en-US" sz="3700" b="1" dirty="0">
                <a:solidFill>
                  <a:srgbClr val="000000"/>
                </a:solidFill>
                <a:latin typeface="Inter Bold" pitchFamily="34" charset="0"/>
                <a:ea typeface="Inter Bold" pitchFamily="34" charset="-122"/>
                <a:cs typeface="Inter Bold" pitchFamily="34" charset="-120"/>
              </a:rPr>
              <a:t>ACE in Action: Ordering Food at a Restaurant </a:t>
            </a:r>
            <a:endParaRPr lang="en-US" sz="3700" dirty="0"/>
          </a:p>
        </p:txBody>
      </p:sp>
      <p:sp>
        <p:nvSpPr>
          <p:cNvPr id="3" name="Text 1"/>
          <p:cNvSpPr/>
          <p:nvPr/>
        </p:nvSpPr>
        <p:spPr>
          <a:xfrm>
            <a:off x="793790" y="1255276"/>
            <a:ext cx="2828211" cy="353378"/>
          </a:xfrm>
          <a:prstGeom prst="rect">
            <a:avLst/>
          </a:prstGeom>
          <a:noFill/>
          <a:ln/>
        </p:spPr>
        <p:txBody>
          <a:bodyPr wrap="none" lIns="0" tIns="0" rIns="0" bIns="0" rtlCol="0" anchor="t"/>
          <a:lstStyle/>
          <a:p>
            <a:pPr marL="0" indent="0" algn="l">
              <a:lnSpc>
                <a:spcPts val="2750"/>
              </a:lnSpc>
              <a:buNone/>
            </a:pPr>
            <a:endParaRPr lang="en-US" sz="2200" dirty="0"/>
          </a:p>
        </p:txBody>
      </p:sp>
      <p:sp>
        <p:nvSpPr>
          <p:cNvPr id="4" name="Text 2"/>
          <p:cNvSpPr/>
          <p:nvPr/>
        </p:nvSpPr>
        <p:spPr>
          <a:xfrm>
            <a:off x="793790" y="1877258"/>
            <a:ext cx="13042821" cy="294203"/>
          </a:xfrm>
          <a:prstGeom prst="rect">
            <a:avLst/>
          </a:prstGeom>
          <a:noFill/>
          <a:ln/>
        </p:spPr>
        <p:txBody>
          <a:bodyPr wrap="non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The three ACE roles are easy to understand through a simple, everyday scenario — going to a restaurant.</a:t>
            </a:r>
            <a:endParaRPr lang="en-US" sz="1450" dirty="0"/>
          </a:p>
        </p:txBody>
      </p:sp>
      <p:sp>
        <p:nvSpPr>
          <p:cNvPr id="5" name="Shape 3"/>
          <p:cNvSpPr/>
          <p:nvPr/>
        </p:nvSpPr>
        <p:spPr>
          <a:xfrm>
            <a:off x="793790" y="2372916"/>
            <a:ext cx="4228148" cy="3990618"/>
          </a:xfrm>
          <a:prstGeom prst="roundRect">
            <a:avLst>
              <a:gd name="adj" fmla="val 1984"/>
            </a:avLst>
          </a:prstGeom>
          <a:solidFill>
            <a:srgbClr val="FFFFFF"/>
          </a:solidFill>
          <a:ln w="22860">
            <a:solidFill>
              <a:srgbClr val="C0C1D7"/>
            </a:solidFill>
            <a:prstDash val="solid"/>
          </a:ln>
        </p:spPr>
        <p:txBody>
          <a:bodyPr/>
          <a:lstStyle/>
          <a:p>
            <a:endParaRPr lang="en-US"/>
          </a:p>
        </p:txBody>
      </p:sp>
      <p:sp>
        <p:nvSpPr>
          <p:cNvPr id="6" name="Shape 4"/>
          <p:cNvSpPr/>
          <p:nvPr/>
        </p:nvSpPr>
        <p:spPr>
          <a:xfrm>
            <a:off x="816650" y="2395776"/>
            <a:ext cx="4182428" cy="565547"/>
          </a:xfrm>
          <a:prstGeom prst="roundRect">
            <a:avLst>
              <a:gd name="adj" fmla="val 9152"/>
            </a:avLst>
          </a:prstGeom>
          <a:solidFill>
            <a:srgbClr val="DADBF1"/>
          </a:solidFill>
          <a:ln/>
        </p:spPr>
        <p:txBody>
          <a:bodyPr/>
          <a:lstStyle/>
          <a:p>
            <a:endParaRPr lang="en-US"/>
          </a:p>
        </p:txBody>
      </p:sp>
      <p:sp>
        <p:nvSpPr>
          <p:cNvPr id="7" name="Text 5"/>
          <p:cNvSpPr/>
          <p:nvPr/>
        </p:nvSpPr>
        <p:spPr>
          <a:xfrm>
            <a:off x="2766417" y="2497931"/>
            <a:ext cx="282773" cy="353497"/>
          </a:xfrm>
          <a:prstGeom prst="rect">
            <a:avLst/>
          </a:prstGeom>
          <a:noFill/>
          <a:ln/>
        </p:spPr>
        <p:txBody>
          <a:bodyPr wrap="none" lIns="0" tIns="0" rIns="0" bIns="0" rtlCol="0" anchor="t"/>
          <a:lstStyle/>
          <a:p>
            <a:pPr marL="0" indent="0" algn="l">
              <a:lnSpc>
                <a:spcPts val="2200"/>
              </a:lnSpc>
              <a:buNone/>
            </a:pPr>
            <a:r>
              <a:rPr lang="en-US" sz="2200" b="1" dirty="0">
                <a:solidFill>
                  <a:srgbClr val="272525"/>
                </a:solidFill>
                <a:latin typeface="Inter Bold" pitchFamily="34" charset="0"/>
                <a:ea typeface="Inter Bold" pitchFamily="34" charset="-122"/>
                <a:cs typeface="Inter Bold" pitchFamily="34" charset="-120"/>
              </a:rPr>
              <a:t>1</a:t>
            </a:r>
            <a:endParaRPr lang="en-US" sz="2200" dirty="0"/>
          </a:p>
        </p:txBody>
      </p:sp>
      <p:sp>
        <p:nvSpPr>
          <p:cNvPr id="8" name="Text 6"/>
          <p:cNvSpPr/>
          <p:nvPr/>
        </p:nvSpPr>
        <p:spPr>
          <a:xfrm>
            <a:off x="1005126" y="3140393"/>
            <a:ext cx="3497937" cy="294680"/>
          </a:xfrm>
          <a:prstGeom prst="rect">
            <a:avLst/>
          </a:prstGeom>
          <a:noFill/>
          <a:ln/>
        </p:spPr>
        <p:txBody>
          <a:bodyPr wrap="none" lIns="0" tIns="0" rIns="0" bIns="0" rtlCol="0" anchor="t"/>
          <a:lstStyle/>
          <a:p>
            <a:pPr marL="0" indent="0" algn="l">
              <a:lnSpc>
                <a:spcPts val="2300"/>
              </a:lnSpc>
              <a:buNone/>
            </a:pPr>
            <a:r>
              <a:rPr lang="en-US" sz="1850" b="1" dirty="0">
                <a:solidFill>
                  <a:srgbClr val="272525"/>
                </a:solidFill>
                <a:latin typeface="Inter Bold" pitchFamily="34" charset="0"/>
                <a:ea typeface="Inter Bold" pitchFamily="34" charset="-122"/>
                <a:cs typeface="Inter Bold" pitchFamily="34" charset="-120"/>
              </a:rPr>
              <a:t>The Generator: Doing the Task</a:t>
            </a:r>
            <a:endParaRPr lang="en-US" sz="1850" dirty="0"/>
          </a:p>
        </p:txBody>
      </p:sp>
      <p:sp>
        <p:nvSpPr>
          <p:cNvPr id="9" name="Text 7"/>
          <p:cNvSpPr/>
          <p:nvPr/>
        </p:nvSpPr>
        <p:spPr>
          <a:xfrm>
            <a:off x="1005126" y="3542467"/>
            <a:ext cx="3805476" cy="1765221"/>
          </a:xfrm>
          <a:prstGeom prst="rect">
            <a:avLst/>
          </a:prstGeom>
          <a:noFill/>
          <a:ln/>
        </p:spPr>
        <p:txBody>
          <a:bodyPr wrap="squar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The Generator is like you ordering a meal. You pick a dish based on what you think you'll like — maybe you try something new, like a spicy pasta. This is your first attempt at solving the problem (hunger) using your current knowledge.</a:t>
            </a:r>
            <a:endParaRPr lang="en-US" sz="1450" dirty="0"/>
          </a:p>
        </p:txBody>
      </p:sp>
      <p:sp>
        <p:nvSpPr>
          <p:cNvPr id="10" name="Shape 8"/>
          <p:cNvSpPr/>
          <p:nvPr/>
        </p:nvSpPr>
        <p:spPr>
          <a:xfrm>
            <a:off x="1005126" y="5509141"/>
            <a:ext cx="1483995" cy="348377"/>
          </a:xfrm>
          <a:prstGeom prst="roundRect">
            <a:avLst>
              <a:gd name="adj" fmla="val 18185"/>
            </a:avLst>
          </a:prstGeom>
          <a:solidFill>
            <a:srgbClr val="DADBF1"/>
          </a:solidFill>
          <a:ln/>
        </p:spPr>
        <p:txBody>
          <a:bodyPr/>
          <a:lstStyle/>
          <a:p>
            <a:endParaRPr lang="en-US"/>
          </a:p>
        </p:txBody>
      </p:sp>
      <p:sp>
        <p:nvSpPr>
          <p:cNvPr id="11" name="Text 9"/>
          <p:cNvSpPr/>
          <p:nvPr/>
        </p:nvSpPr>
        <p:spPr>
          <a:xfrm>
            <a:off x="1118235" y="5565696"/>
            <a:ext cx="1257776" cy="235268"/>
          </a:xfrm>
          <a:prstGeom prst="rect">
            <a:avLst/>
          </a:prstGeom>
          <a:noFill/>
          <a:ln/>
        </p:spPr>
        <p:txBody>
          <a:bodyPr wrap="none" lIns="0" tIns="0" rIns="0" bIns="0" rtlCol="0" anchor="t"/>
          <a:lstStyle/>
          <a:p>
            <a:pPr marL="0" indent="0" algn="l">
              <a:lnSpc>
                <a:spcPts val="1850"/>
              </a:lnSpc>
              <a:buNone/>
            </a:pPr>
            <a:r>
              <a:rPr lang="en-US" sz="1150" dirty="0">
                <a:solidFill>
                  <a:srgbClr val="272525"/>
                </a:solidFill>
                <a:latin typeface="Inter" pitchFamily="34" charset="0"/>
                <a:ea typeface="Inter" pitchFamily="34" charset="-122"/>
                <a:cs typeface="Inter" pitchFamily="34" charset="-120"/>
              </a:rPr>
              <a:t>TRY A SOLUTION</a:t>
            </a:r>
            <a:endParaRPr lang="en-US" sz="1150" dirty="0"/>
          </a:p>
        </p:txBody>
      </p:sp>
      <p:sp>
        <p:nvSpPr>
          <p:cNvPr id="12" name="Shape 10"/>
          <p:cNvSpPr/>
          <p:nvPr/>
        </p:nvSpPr>
        <p:spPr>
          <a:xfrm>
            <a:off x="5201007" y="2372916"/>
            <a:ext cx="4228267" cy="3990618"/>
          </a:xfrm>
          <a:prstGeom prst="roundRect">
            <a:avLst>
              <a:gd name="adj" fmla="val 1984"/>
            </a:avLst>
          </a:prstGeom>
          <a:solidFill>
            <a:srgbClr val="FFFFFF"/>
          </a:solidFill>
          <a:ln w="22860">
            <a:solidFill>
              <a:srgbClr val="C0C1D7"/>
            </a:solidFill>
            <a:prstDash val="solid"/>
          </a:ln>
        </p:spPr>
        <p:txBody>
          <a:bodyPr/>
          <a:lstStyle/>
          <a:p>
            <a:endParaRPr lang="en-US"/>
          </a:p>
        </p:txBody>
      </p:sp>
      <p:sp>
        <p:nvSpPr>
          <p:cNvPr id="13" name="Shape 11"/>
          <p:cNvSpPr/>
          <p:nvPr/>
        </p:nvSpPr>
        <p:spPr>
          <a:xfrm>
            <a:off x="5223867" y="2395776"/>
            <a:ext cx="4182547" cy="565547"/>
          </a:xfrm>
          <a:prstGeom prst="roundRect">
            <a:avLst>
              <a:gd name="adj" fmla="val 9152"/>
            </a:avLst>
          </a:prstGeom>
          <a:solidFill>
            <a:srgbClr val="DADBF1"/>
          </a:solidFill>
          <a:ln/>
        </p:spPr>
        <p:txBody>
          <a:bodyPr/>
          <a:lstStyle/>
          <a:p>
            <a:endParaRPr lang="en-US"/>
          </a:p>
        </p:txBody>
      </p:sp>
      <p:sp>
        <p:nvSpPr>
          <p:cNvPr id="14" name="Text 12"/>
          <p:cNvSpPr/>
          <p:nvPr/>
        </p:nvSpPr>
        <p:spPr>
          <a:xfrm>
            <a:off x="7173754" y="2497931"/>
            <a:ext cx="282773" cy="353497"/>
          </a:xfrm>
          <a:prstGeom prst="rect">
            <a:avLst/>
          </a:prstGeom>
          <a:noFill/>
          <a:ln/>
        </p:spPr>
        <p:txBody>
          <a:bodyPr wrap="none" lIns="0" tIns="0" rIns="0" bIns="0" rtlCol="0" anchor="t"/>
          <a:lstStyle/>
          <a:p>
            <a:pPr marL="0" indent="0" algn="l">
              <a:lnSpc>
                <a:spcPts val="2200"/>
              </a:lnSpc>
              <a:buNone/>
            </a:pPr>
            <a:r>
              <a:rPr lang="en-US" sz="2200" b="1" dirty="0">
                <a:solidFill>
                  <a:srgbClr val="272525"/>
                </a:solidFill>
                <a:latin typeface="Inter Bold" pitchFamily="34" charset="0"/>
                <a:ea typeface="Inter Bold" pitchFamily="34" charset="-122"/>
                <a:cs typeface="Inter Bold" pitchFamily="34" charset="-120"/>
              </a:rPr>
              <a:t>2</a:t>
            </a:r>
            <a:endParaRPr lang="en-US" sz="2200" dirty="0"/>
          </a:p>
        </p:txBody>
      </p:sp>
      <p:sp>
        <p:nvSpPr>
          <p:cNvPr id="15" name="Text 13"/>
          <p:cNvSpPr/>
          <p:nvPr/>
        </p:nvSpPr>
        <p:spPr>
          <a:xfrm>
            <a:off x="5412343" y="3140393"/>
            <a:ext cx="3805595" cy="589359"/>
          </a:xfrm>
          <a:prstGeom prst="rect">
            <a:avLst/>
          </a:prstGeom>
          <a:noFill/>
          <a:ln/>
        </p:spPr>
        <p:txBody>
          <a:bodyPr wrap="square" lIns="0" tIns="0" rIns="0" bIns="0" rtlCol="0" anchor="t"/>
          <a:lstStyle/>
          <a:p>
            <a:pPr marL="0" indent="0" algn="l">
              <a:lnSpc>
                <a:spcPts val="2300"/>
              </a:lnSpc>
              <a:buNone/>
            </a:pPr>
            <a:r>
              <a:rPr lang="en-US" sz="1850" b="1" dirty="0">
                <a:solidFill>
                  <a:srgbClr val="272525"/>
                </a:solidFill>
                <a:latin typeface="Inter Bold" pitchFamily="34" charset="0"/>
                <a:ea typeface="Inter Bold" pitchFamily="34" charset="-122"/>
                <a:cs typeface="Inter Bold" pitchFamily="34" charset="-120"/>
              </a:rPr>
              <a:t>The Reflector: Learning from What Happened</a:t>
            </a:r>
            <a:endParaRPr lang="en-US" sz="1850" dirty="0"/>
          </a:p>
        </p:txBody>
      </p:sp>
      <p:sp>
        <p:nvSpPr>
          <p:cNvPr id="16" name="Text 14"/>
          <p:cNvSpPr/>
          <p:nvPr/>
        </p:nvSpPr>
        <p:spPr>
          <a:xfrm>
            <a:off x="5412343" y="3837146"/>
            <a:ext cx="3805595" cy="1765221"/>
          </a:xfrm>
          <a:prstGeom prst="rect">
            <a:avLst/>
          </a:prstGeom>
          <a:noFill/>
          <a:ln/>
        </p:spPr>
        <p:txBody>
          <a:bodyPr wrap="squar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The Reflector is like reflecting after the meal: "This was too spicy." "The portion was small." "The service was slow." You identify what worked and what didn't — extracting specific, actionable lessons from the experience.</a:t>
            </a:r>
            <a:endParaRPr lang="en-US" sz="1450" dirty="0"/>
          </a:p>
        </p:txBody>
      </p:sp>
      <p:sp>
        <p:nvSpPr>
          <p:cNvPr id="17" name="Shape 15"/>
          <p:cNvSpPr/>
          <p:nvPr/>
        </p:nvSpPr>
        <p:spPr>
          <a:xfrm>
            <a:off x="5412343" y="5803821"/>
            <a:ext cx="2072759" cy="348377"/>
          </a:xfrm>
          <a:prstGeom prst="roundRect">
            <a:avLst>
              <a:gd name="adj" fmla="val 18185"/>
            </a:avLst>
          </a:prstGeom>
          <a:solidFill>
            <a:srgbClr val="DADBF1"/>
          </a:solidFill>
          <a:ln/>
        </p:spPr>
        <p:txBody>
          <a:bodyPr/>
          <a:lstStyle/>
          <a:p>
            <a:endParaRPr lang="en-US"/>
          </a:p>
        </p:txBody>
      </p:sp>
      <p:sp>
        <p:nvSpPr>
          <p:cNvPr id="18" name="Text 16"/>
          <p:cNvSpPr/>
          <p:nvPr/>
        </p:nvSpPr>
        <p:spPr>
          <a:xfrm>
            <a:off x="5525453" y="5860375"/>
            <a:ext cx="1846540" cy="235268"/>
          </a:xfrm>
          <a:prstGeom prst="rect">
            <a:avLst/>
          </a:prstGeom>
          <a:noFill/>
          <a:ln/>
        </p:spPr>
        <p:txBody>
          <a:bodyPr wrap="none" lIns="0" tIns="0" rIns="0" bIns="0" rtlCol="0" anchor="t"/>
          <a:lstStyle/>
          <a:p>
            <a:pPr marL="0" indent="0" algn="l">
              <a:lnSpc>
                <a:spcPts val="1850"/>
              </a:lnSpc>
              <a:buNone/>
            </a:pPr>
            <a:r>
              <a:rPr lang="en-US" sz="1150" dirty="0">
                <a:solidFill>
                  <a:srgbClr val="272525"/>
                </a:solidFill>
                <a:latin typeface="Inter" pitchFamily="34" charset="0"/>
                <a:ea typeface="Inter" pitchFamily="34" charset="-122"/>
                <a:cs typeface="Inter" pitchFamily="34" charset="-120"/>
              </a:rPr>
              <a:t>ANALYZE THE OUTCOME</a:t>
            </a:r>
            <a:endParaRPr lang="en-US" sz="1150" dirty="0"/>
          </a:p>
        </p:txBody>
      </p:sp>
      <p:sp>
        <p:nvSpPr>
          <p:cNvPr id="19" name="Shape 17"/>
          <p:cNvSpPr/>
          <p:nvPr/>
        </p:nvSpPr>
        <p:spPr>
          <a:xfrm>
            <a:off x="9608344" y="2372916"/>
            <a:ext cx="4228148" cy="3990618"/>
          </a:xfrm>
          <a:prstGeom prst="roundRect">
            <a:avLst>
              <a:gd name="adj" fmla="val 1984"/>
            </a:avLst>
          </a:prstGeom>
          <a:solidFill>
            <a:srgbClr val="FFFFFF"/>
          </a:solidFill>
          <a:ln w="22860">
            <a:solidFill>
              <a:srgbClr val="C0C1D7"/>
            </a:solidFill>
            <a:prstDash val="solid"/>
          </a:ln>
        </p:spPr>
        <p:txBody>
          <a:bodyPr/>
          <a:lstStyle/>
          <a:p>
            <a:endParaRPr lang="en-US"/>
          </a:p>
        </p:txBody>
      </p:sp>
      <p:sp>
        <p:nvSpPr>
          <p:cNvPr id="20" name="Shape 18"/>
          <p:cNvSpPr/>
          <p:nvPr/>
        </p:nvSpPr>
        <p:spPr>
          <a:xfrm>
            <a:off x="9631204" y="2395776"/>
            <a:ext cx="4182428" cy="565547"/>
          </a:xfrm>
          <a:prstGeom prst="roundRect">
            <a:avLst>
              <a:gd name="adj" fmla="val 9152"/>
            </a:avLst>
          </a:prstGeom>
          <a:solidFill>
            <a:srgbClr val="DADBF1"/>
          </a:solidFill>
          <a:ln/>
        </p:spPr>
        <p:txBody>
          <a:bodyPr/>
          <a:lstStyle/>
          <a:p>
            <a:endParaRPr lang="en-US"/>
          </a:p>
        </p:txBody>
      </p:sp>
      <p:sp>
        <p:nvSpPr>
          <p:cNvPr id="21" name="Text 19"/>
          <p:cNvSpPr/>
          <p:nvPr/>
        </p:nvSpPr>
        <p:spPr>
          <a:xfrm>
            <a:off x="11580971" y="2497931"/>
            <a:ext cx="282773" cy="353497"/>
          </a:xfrm>
          <a:prstGeom prst="rect">
            <a:avLst/>
          </a:prstGeom>
          <a:noFill/>
          <a:ln/>
        </p:spPr>
        <p:txBody>
          <a:bodyPr wrap="none" lIns="0" tIns="0" rIns="0" bIns="0" rtlCol="0" anchor="t"/>
          <a:lstStyle/>
          <a:p>
            <a:pPr marL="0" indent="0" algn="l">
              <a:lnSpc>
                <a:spcPts val="2200"/>
              </a:lnSpc>
              <a:buNone/>
            </a:pPr>
            <a:r>
              <a:rPr lang="en-US" sz="2200" b="1" dirty="0">
                <a:solidFill>
                  <a:srgbClr val="272525"/>
                </a:solidFill>
                <a:latin typeface="Inter Bold" pitchFamily="34" charset="0"/>
                <a:ea typeface="Inter Bold" pitchFamily="34" charset="-122"/>
                <a:cs typeface="Inter Bold" pitchFamily="34" charset="-120"/>
              </a:rPr>
              <a:t>3</a:t>
            </a:r>
            <a:endParaRPr lang="en-US" sz="2200" dirty="0"/>
          </a:p>
        </p:txBody>
      </p:sp>
      <p:sp>
        <p:nvSpPr>
          <p:cNvPr id="22" name="Text 20"/>
          <p:cNvSpPr/>
          <p:nvPr/>
        </p:nvSpPr>
        <p:spPr>
          <a:xfrm>
            <a:off x="9819680" y="3140393"/>
            <a:ext cx="3805476" cy="589359"/>
          </a:xfrm>
          <a:prstGeom prst="rect">
            <a:avLst/>
          </a:prstGeom>
          <a:noFill/>
          <a:ln/>
        </p:spPr>
        <p:txBody>
          <a:bodyPr wrap="square" lIns="0" tIns="0" rIns="0" bIns="0" rtlCol="0" anchor="t"/>
          <a:lstStyle/>
          <a:p>
            <a:pPr marL="0" indent="0" algn="l">
              <a:lnSpc>
                <a:spcPts val="2300"/>
              </a:lnSpc>
              <a:buNone/>
            </a:pPr>
            <a:r>
              <a:rPr lang="en-US" sz="1850" b="1" dirty="0">
                <a:solidFill>
                  <a:srgbClr val="272525"/>
                </a:solidFill>
                <a:latin typeface="Inter Bold" pitchFamily="34" charset="0"/>
                <a:ea typeface="Inter Bold" pitchFamily="34" charset="-122"/>
                <a:cs typeface="Inter Bold" pitchFamily="34" charset="-120"/>
              </a:rPr>
              <a:t>The Curator: Saving What Matters</a:t>
            </a:r>
            <a:endParaRPr lang="en-US" sz="1850" dirty="0"/>
          </a:p>
        </p:txBody>
      </p:sp>
      <p:sp>
        <p:nvSpPr>
          <p:cNvPr id="23" name="Text 21"/>
          <p:cNvSpPr/>
          <p:nvPr/>
        </p:nvSpPr>
        <p:spPr>
          <a:xfrm>
            <a:off x="9819680" y="3837146"/>
            <a:ext cx="3805476" cy="1471017"/>
          </a:xfrm>
          <a:prstGeom prst="rect">
            <a:avLst/>
          </a:prstGeom>
          <a:noFill/>
          <a:ln/>
        </p:spPr>
        <p:txBody>
          <a:bodyPr wrap="squar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The Curator is like remembering those lessons next time you go out: avoid very spicy dishes, order larger portions, choose faster restaurants. Over time, your dining decisions get better and better.</a:t>
            </a:r>
            <a:endParaRPr lang="en-US" sz="1450" dirty="0"/>
          </a:p>
        </p:txBody>
      </p:sp>
      <p:sp>
        <p:nvSpPr>
          <p:cNvPr id="24" name="Shape 22"/>
          <p:cNvSpPr/>
          <p:nvPr/>
        </p:nvSpPr>
        <p:spPr>
          <a:xfrm>
            <a:off x="9819680" y="5509617"/>
            <a:ext cx="2646402" cy="348377"/>
          </a:xfrm>
          <a:prstGeom prst="roundRect">
            <a:avLst>
              <a:gd name="adj" fmla="val 18185"/>
            </a:avLst>
          </a:prstGeom>
          <a:solidFill>
            <a:srgbClr val="DADBF1"/>
          </a:solidFill>
          <a:ln/>
        </p:spPr>
        <p:txBody>
          <a:bodyPr/>
          <a:lstStyle/>
          <a:p>
            <a:endParaRPr lang="en-US"/>
          </a:p>
        </p:txBody>
      </p:sp>
      <p:sp>
        <p:nvSpPr>
          <p:cNvPr id="25" name="Text 23"/>
          <p:cNvSpPr/>
          <p:nvPr/>
        </p:nvSpPr>
        <p:spPr>
          <a:xfrm>
            <a:off x="9932789" y="5566172"/>
            <a:ext cx="2420183" cy="235268"/>
          </a:xfrm>
          <a:prstGeom prst="rect">
            <a:avLst/>
          </a:prstGeom>
          <a:noFill/>
          <a:ln/>
        </p:spPr>
        <p:txBody>
          <a:bodyPr wrap="none" lIns="0" tIns="0" rIns="0" bIns="0" rtlCol="0" anchor="t"/>
          <a:lstStyle/>
          <a:p>
            <a:pPr marL="0" indent="0" algn="l">
              <a:lnSpc>
                <a:spcPts val="1850"/>
              </a:lnSpc>
              <a:buNone/>
            </a:pPr>
            <a:r>
              <a:rPr lang="en-US" sz="1150" dirty="0">
                <a:solidFill>
                  <a:srgbClr val="272525"/>
                </a:solidFill>
                <a:latin typeface="Inter" pitchFamily="34" charset="0"/>
                <a:ea typeface="Inter" pitchFamily="34" charset="-122"/>
                <a:cs typeface="Inter" pitchFamily="34" charset="-120"/>
              </a:rPr>
              <a:t>STORE LESSONS FOR NEXT TIME</a:t>
            </a:r>
            <a:endParaRPr lang="en-US" sz="1150" dirty="0"/>
          </a:p>
        </p:txBody>
      </p:sp>
      <p:sp>
        <p:nvSpPr>
          <p:cNvPr id="26" name="Shape 24"/>
          <p:cNvSpPr/>
          <p:nvPr/>
        </p:nvSpPr>
        <p:spPr>
          <a:xfrm>
            <a:off x="793790" y="6564987"/>
            <a:ext cx="13042821" cy="1069896"/>
          </a:xfrm>
          <a:prstGeom prst="roundRect">
            <a:avLst>
              <a:gd name="adj" fmla="val 7402"/>
            </a:avLst>
          </a:prstGeom>
          <a:solidFill>
            <a:srgbClr val="C7C9EA"/>
          </a:solidFill>
          <a:ln/>
        </p:spPr>
        <p:txBody>
          <a:bodyPr/>
          <a:lstStyle/>
          <a:p>
            <a:endParaRPr lang="en-US"/>
          </a:p>
        </p:txBody>
      </p:sp>
      <p:sp>
        <p:nvSpPr>
          <p:cNvPr id="27" name="Text 25"/>
          <p:cNvSpPr/>
          <p:nvPr/>
        </p:nvSpPr>
        <p:spPr>
          <a:xfrm>
            <a:off x="982266" y="6791087"/>
            <a:ext cx="12665869" cy="588407"/>
          </a:xfrm>
          <a:prstGeom prst="rect">
            <a:avLst/>
          </a:prstGeom>
          <a:noFill/>
          <a:ln/>
        </p:spPr>
        <p:txBody>
          <a:bodyPr wrap="square" lIns="0" tIns="0" rIns="0" bIns="0" rtlCol="0" anchor="t"/>
          <a:lstStyle/>
          <a:p>
            <a:pPr marL="0" indent="0" algn="l">
              <a:lnSpc>
                <a:spcPts val="2300"/>
              </a:lnSpc>
              <a:buNone/>
            </a:pPr>
            <a:r>
              <a:rPr lang="en-US" sz="1450" dirty="0">
                <a:solidFill>
                  <a:srgbClr val="000000"/>
                </a:solidFill>
                <a:latin typeface="Inter" pitchFamily="34" charset="0"/>
                <a:ea typeface="Inter" pitchFamily="34" charset="-122"/>
                <a:cs typeface="Inter" pitchFamily="34" charset="-120"/>
              </a:rPr>
              <a:t>Instead of repeating the same mistakes every time you go out, ACE builds a growing "personal dining playbook" — each experience makes the next decision smarter.</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042416"/>
            <a:ext cx="6145054"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ACE Playbook Advantage</a:t>
            </a:r>
            <a:endParaRPr lang="en-US" sz="3900" dirty="0"/>
          </a:p>
        </p:txBody>
      </p:sp>
      <p:sp>
        <p:nvSpPr>
          <p:cNvPr id="3" name="Text 1"/>
          <p:cNvSpPr/>
          <p:nvPr/>
        </p:nvSpPr>
        <p:spPr>
          <a:xfrm>
            <a:off x="793790" y="1823680"/>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Most AI memory systems fail because they treat memory as a single document to rewrite. ACE treats it as a structured, modular knowledge base: entries are appended, refined, or retired individually, never overwritten wholesale.</a:t>
            </a:r>
            <a:endParaRPr lang="en-US" sz="1550" dirty="0"/>
          </a:p>
        </p:txBody>
      </p:sp>
      <p:sp>
        <p:nvSpPr>
          <p:cNvPr id="4" name="Text 2"/>
          <p:cNvSpPr/>
          <p:nvPr/>
        </p:nvSpPr>
        <p:spPr>
          <a:xfrm>
            <a:off x="2254091" y="3260646"/>
            <a:ext cx="2480905" cy="310158"/>
          </a:xfrm>
          <a:prstGeom prst="rect">
            <a:avLst/>
          </a:prstGeom>
          <a:noFill/>
          <a:ln/>
        </p:spPr>
        <p:txBody>
          <a:bodyPr wrap="none" lIns="0" tIns="0" rIns="0" bIns="0" rtlCol="0" anchor="t"/>
          <a:lstStyle/>
          <a:p>
            <a:pPr marL="0" indent="0" algn="r">
              <a:lnSpc>
                <a:spcPts val="2400"/>
              </a:lnSpc>
              <a:buNone/>
            </a:pPr>
            <a:r>
              <a:rPr lang="en-US" sz="1950" b="1" dirty="0">
                <a:solidFill>
                  <a:srgbClr val="272525"/>
                </a:solidFill>
                <a:latin typeface="Inter Bold" pitchFamily="34" charset="0"/>
                <a:ea typeface="Inter Bold" pitchFamily="34" charset="-122"/>
                <a:cs typeface="Inter Bold" pitchFamily="34" charset="-120"/>
              </a:rPr>
              <a:t>Modular by Design</a:t>
            </a:r>
            <a:endParaRPr lang="en-US" sz="1950" dirty="0"/>
          </a:p>
        </p:txBody>
      </p:sp>
      <p:sp>
        <p:nvSpPr>
          <p:cNvPr id="5" name="Text 3"/>
          <p:cNvSpPr/>
          <p:nvPr/>
        </p:nvSpPr>
        <p:spPr>
          <a:xfrm>
            <a:off x="793790" y="3689866"/>
            <a:ext cx="3941207" cy="635079"/>
          </a:xfrm>
          <a:prstGeom prst="rect">
            <a:avLst/>
          </a:prstGeom>
          <a:noFill/>
          <a:ln/>
        </p:spPr>
        <p:txBody>
          <a:bodyPr wrap="square" lIns="0" tIns="0" rIns="0" bIns="0" rtlCol="0" anchor="t"/>
          <a:lstStyle/>
          <a:p>
            <a:pPr marL="0" indent="0" algn="r">
              <a:lnSpc>
                <a:spcPts val="2500"/>
              </a:lnSpc>
              <a:buNone/>
            </a:pPr>
            <a:r>
              <a:rPr lang="en-US" sz="1550" dirty="0">
                <a:solidFill>
                  <a:srgbClr val="272525"/>
                </a:solidFill>
                <a:latin typeface="Inter" pitchFamily="34" charset="0"/>
                <a:ea typeface="Inter" pitchFamily="34" charset="-122"/>
                <a:cs typeface="Inter" pitchFamily="34" charset="-120"/>
              </a:rPr>
              <a:t>Individual entries added or removed without touching the rest of the playbook.</a:t>
            </a:r>
            <a:endParaRPr lang="en-US" sz="1550" dirty="0"/>
          </a:p>
        </p:txBody>
      </p:sp>
      <p:pic>
        <p:nvPicPr>
          <p:cNvPr id="6" name="Image 0" descr="preencoded.png"/>
          <p:cNvPicPr>
            <a:picLocks noChangeAspect="1"/>
          </p:cNvPicPr>
          <p:nvPr/>
        </p:nvPicPr>
        <p:blipFill>
          <a:blip r:embed="rId3"/>
          <a:stretch>
            <a:fillRect/>
          </a:stretch>
        </p:blipFill>
        <p:spPr>
          <a:xfrm>
            <a:off x="5032653" y="2769870"/>
            <a:ext cx="4564975" cy="4564975"/>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74008" y="3964603"/>
            <a:ext cx="296942" cy="296942"/>
          </a:xfrm>
          <a:prstGeom prst="rect">
            <a:avLst/>
          </a:prstGeom>
        </p:spPr>
      </p:pic>
      <p:sp>
        <p:nvSpPr>
          <p:cNvPr id="8" name="Text 4"/>
          <p:cNvSpPr/>
          <p:nvPr/>
        </p:nvSpPr>
        <p:spPr>
          <a:xfrm>
            <a:off x="9895284" y="2682002"/>
            <a:ext cx="3208734"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Incremental Delta Updates</a:t>
            </a:r>
            <a:endParaRPr lang="en-US" sz="1950" dirty="0"/>
          </a:p>
        </p:txBody>
      </p:sp>
      <p:sp>
        <p:nvSpPr>
          <p:cNvPr id="9" name="Text 5"/>
          <p:cNvSpPr/>
          <p:nvPr/>
        </p:nvSpPr>
        <p:spPr>
          <a:xfrm>
            <a:off x="9895284" y="3111222"/>
            <a:ext cx="3941326"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New knowledge merged via lightweight logic: no full rewrites, no context collapse.</a:t>
            </a:r>
            <a:endParaRPr lang="en-US" sz="1550" dirty="0"/>
          </a:p>
        </p:txBody>
      </p:sp>
      <p:pic>
        <p:nvPicPr>
          <p:cNvPr id="10" name="Image 2" descr="preencoded.png"/>
          <p:cNvPicPr>
            <a:picLocks noChangeAspect="1"/>
          </p:cNvPicPr>
          <p:nvPr/>
        </p:nvPicPr>
        <p:blipFill>
          <a:blip r:embed="rId5"/>
          <a:stretch>
            <a:fillRect/>
          </a:stretch>
        </p:blipFill>
        <p:spPr>
          <a:xfrm>
            <a:off x="5032653" y="2769870"/>
            <a:ext cx="4564975" cy="4564975"/>
          </a:xfrm>
          <a:prstGeom prst="rect">
            <a:avLst/>
          </a:prstGeom>
        </p:spPr>
      </p:pic>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60303" y="3384173"/>
            <a:ext cx="296942" cy="296942"/>
          </a:xfrm>
          <a:prstGeom prst="rect">
            <a:avLst/>
          </a:prstGeom>
        </p:spPr>
      </p:pic>
      <p:sp>
        <p:nvSpPr>
          <p:cNvPr id="12" name="Text 6"/>
          <p:cNvSpPr/>
          <p:nvPr/>
        </p:nvSpPr>
        <p:spPr>
          <a:xfrm>
            <a:off x="9994463" y="436149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Grow and Refine</a:t>
            </a:r>
            <a:endParaRPr lang="en-US" sz="1950" dirty="0"/>
          </a:p>
        </p:txBody>
      </p:sp>
      <p:sp>
        <p:nvSpPr>
          <p:cNvPr id="13" name="Text 7"/>
          <p:cNvSpPr/>
          <p:nvPr/>
        </p:nvSpPr>
        <p:spPr>
          <a:xfrm>
            <a:off x="9994463" y="4790718"/>
            <a:ext cx="3842147"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Semantic clustering merges similar rules: preserving nuance, not compressing it.</a:t>
            </a:r>
            <a:endParaRPr lang="en-US" sz="1550" dirty="0"/>
          </a:p>
        </p:txBody>
      </p:sp>
      <p:pic>
        <p:nvPicPr>
          <p:cNvPr id="14" name="Image 4" descr="preencoded.png"/>
          <p:cNvPicPr>
            <a:picLocks noChangeAspect="1"/>
          </p:cNvPicPr>
          <p:nvPr/>
        </p:nvPicPr>
        <p:blipFill>
          <a:blip r:embed="rId7"/>
          <a:stretch>
            <a:fillRect/>
          </a:stretch>
        </p:blipFill>
        <p:spPr>
          <a:xfrm>
            <a:off x="5032653" y="2769870"/>
            <a:ext cx="4564975" cy="4564975"/>
          </a:xfrm>
          <a:prstGeom prst="rect">
            <a:avLst/>
          </a:prstGeom>
        </p:spPr>
      </p:pic>
      <p:pic>
        <p:nvPicPr>
          <p:cNvPr id="1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64250" y="4903768"/>
            <a:ext cx="296942" cy="296942"/>
          </a:xfrm>
          <a:prstGeom prst="rect">
            <a:avLst/>
          </a:prstGeom>
        </p:spPr>
      </p:pic>
      <p:sp>
        <p:nvSpPr>
          <p:cNvPr id="16" name="Text 8"/>
          <p:cNvSpPr/>
          <p:nvPr/>
        </p:nvSpPr>
        <p:spPr>
          <a:xfrm>
            <a:off x="9895284" y="6040993"/>
            <a:ext cx="384869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Human-Readable and Auditable</a:t>
            </a:r>
            <a:endParaRPr lang="en-US" sz="1950" dirty="0"/>
          </a:p>
        </p:txBody>
      </p:sp>
      <p:sp>
        <p:nvSpPr>
          <p:cNvPr id="17" name="Text 9"/>
          <p:cNvSpPr/>
          <p:nvPr/>
        </p:nvSpPr>
        <p:spPr>
          <a:xfrm>
            <a:off x="9895284" y="6470213"/>
            <a:ext cx="3941326"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Plain structured text: any engineer or compliance officer can read, verify, or delete entries instantly.</a:t>
            </a:r>
            <a:endParaRPr lang="en-US" sz="1550" dirty="0"/>
          </a:p>
        </p:txBody>
      </p:sp>
      <p:pic>
        <p:nvPicPr>
          <p:cNvPr id="18" name="Image 6" descr="preencoded.png"/>
          <p:cNvPicPr>
            <a:picLocks noChangeAspect="1"/>
          </p:cNvPicPr>
          <p:nvPr/>
        </p:nvPicPr>
        <p:blipFill>
          <a:blip r:embed="rId9"/>
          <a:stretch>
            <a:fillRect/>
          </a:stretch>
        </p:blipFill>
        <p:spPr>
          <a:xfrm>
            <a:off x="5032653" y="2769870"/>
            <a:ext cx="4564975" cy="4564975"/>
          </a:xfrm>
          <a:prstGeom prst="rect">
            <a:avLst/>
          </a:prstGeom>
        </p:spPr>
      </p:pic>
      <p:pic>
        <p:nvPicPr>
          <p:cNvPr id="19"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660303" y="6423362"/>
            <a:ext cx="296942" cy="296942"/>
          </a:xfrm>
          <a:prstGeom prst="rect">
            <a:avLst/>
          </a:prstGeom>
        </p:spPr>
      </p:pic>
      <p:sp>
        <p:nvSpPr>
          <p:cNvPr id="20" name="Text 10"/>
          <p:cNvSpPr/>
          <p:nvPr/>
        </p:nvSpPr>
        <p:spPr>
          <a:xfrm>
            <a:off x="852845" y="5779889"/>
            <a:ext cx="3882152" cy="310158"/>
          </a:xfrm>
          <a:prstGeom prst="rect">
            <a:avLst/>
          </a:prstGeom>
          <a:noFill/>
          <a:ln/>
        </p:spPr>
        <p:txBody>
          <a:bodyPr wrap="none" lIns="0" tIns="0" rIns="0" bIns="0" rtlCol="0" anchor="t"/>
          <a:lstStyle/>
          <a:p>
            <a:pPr marL="0" indent="0" algn="r">
              <a:lnSpc>
                <a:spcPts val="2400"/>
              </a:lnSpc>
              <a:buNone/>
            </a:pPr>
            <a:r>
              <a:rPr lang="en-US" sz="1950" b="1" dirty="0">
                <a:solidFill>
                  <a:srgbClr val="272525"/>
                </a:solidFill>
                <a:latin typeface="Inter Bold" pitchFamily="34" charset="0"/>
                <a:ea typeface="Inter Bold" pitchFamily="34" charset="-122"/>
                <a:cs typeface="Inter Bold" pitchFamily="34" charset="-120"/>
              </a:rPr>
              <a:t>Machine Unlearning in One Step</a:t>
            </a:r>
            <a:endParaRPr lang="en-US" sz="1950" dirty="0"/>
          </a:p>
        </p:txBody>
      </p:sp>
      <p:sp>
        <p:nvSpPr>
          <p:cNvPr id="21" name="Text 11"/>
          <p:cNvSpPr/>
          <p:nvPr/>
        </p:nvSpPr>
        <p:spPr>
          <a:xfrm>
            <a:off x="793790" y="6209109"/>
            <a:ext cx="3941207" cy="635079"/>
          </a:xfrm>
          <a:prstGeom prst="rect">
            <a:avLst/>
          </a:prstGeom>
          <a:noFill/>
          <a:ln/>
        </p:spPr>
        <p:txBody>
          <a:bodyPr wrap="square" lIns="0" tIns="0" rIns="0" bIns="0" rtlCol="0" anchor="t"/>
          <a:lstStyle/>
          <a:p>
            <a:pPr marL="0" indent="0" algn="r">
              <a:lnSpc>
                <a:spcPts val="2500"/>
              </a:lnSpc>
              <a:buNone/>
            </a:pPr>
            <a:r>
              <a:rPr lang="en-US" sz="1550" dirty="0">
                <a:solidFill>
                  <a:srgbClr val="272525"/>
                </a:solidFill>
                <a:latin typeface="Inter" pitchFamily="34" charset="0"/>
                <a:ea typeface="Inter" pitchFamily="34" charset="-122"/>
                <a:cs typeface="Inter" pitchFamily="34" charset="-120"/>
              </a:rPr>
              <a:t>Delete a bullet point. The model instantly unlearns, with zero retraining required.</a:t>
            </a:r>
            <a:endParaRPr lang="en-US" sz="1550" dirty="0"/>
          </a:p>
        </p:txBody>
      </p:sp>
      <p:pic>
        <p:nvPicPr>
          <p:cNvPr id="22" name="Image 8" descr="preencoded.png"/>
          <p:cNvPicPr>
            <a:picLocks noChangeAspect="1"/>
          </p:cNvPicPr>
          <p:nvPr/>
        </p:nvPicPr>
        <p:blipFill>
          <a:blip r:embed="rId11"/>
          <a:stretch>
            <a:fillRect/>
          </a:stretch>
        </p:blipFill>
        <p:spPr>
          <a:xfrm>
            <a:off x="5032653" y="2769870"/>
            <a:ext cx="4564975" cy="4564975"/>
          </a:xfrm>
          <a:prstGeom prst="rect">
            <a:avLst/>
          </a:prstGeom>
        </p:spPr>
      </p:pic>
      <p:pic>
        <p:nvPicPr>
          <p:cNvPr id="23"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874008" y="5842933"/>
            <a:ext cx="296942" cy="29694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042416"/>
            <a:ext cx="11826835" cy="589121"/>
          </a:xfrm>
          <a:prstGeom prst="rect">
            <a:avLst/>
          </a:prstGeom>
          <a:noFill/>
          <a:ln/>
        </p:spPr>
        <p:txBody>
          <a:bodyPr wrap="none" lIns="0" tIns="0" rIns="0" bIns="0" rtlCol="0" anchor="t"/>
          <a:lstStyle/>
          <a:p>
            <a:pPr marL="0" indent="0" algn="l">
              <a:lnSpc>
                <a:spcPts val="4600"/>
              </a:lnSpc>
              <a:buNone/>
            </a:pPr>
            <a:r>
              <a:rPr lang="en-US" sz="3700" b="1" dirty="0">
                <a:solidFill>
                  <a:srgbClr val="000000"/>
                </a:solidFill>
                <a:latin typeface="Inter Bold" pitchFamily="34" charset="0"/>
                <a:ea typeface="Inter Bold" pitchFamily="34" charset="-122"/>
                <a:cs typeface="Inter Bold" pitchFamily="34" charset="-120"/>
              </a:rPr>
              <a:t>Limitations of Existing Context Adaptation Methods</a:t>
            </a:r>
            <a:endParaRPr lang="en-US" sz="3700" dirty="0"/>
          </a:p>
        </p:txBody>
      </p:sp>
      <p:sp>
        <p:nvSpPr>
          <p:cNvPr id="3" name="Text 1"/>
          <p:cNvSpPr/>
          <p:nvPr/>
        </p:nvSpPr>
        <p:spPr>
          <a:xfrm>
            <a:off x="793790" y="1742956"/>
            <a:ext cx="13042821" cy="294203"/>
          </a:xfrm>
          <a:prstGeom prst="rect">
            <a:avLst/>
          </a:prstGeom>
          <a:noFill/>
          <a:ln/>
        </p:spPr>
        <p:txBody>
          <a:bodyPr wrap="non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Context collapse is a fundamental risk of monolithic memory rewrites.</a:t>
            </a:r>
            <a:endParaRPr lang="en-US" sz="1450" dirty="0"/>
          </a:p>
        </p:txBody>
      </p:sp>
      <p:pic>
        <p:nvPicPr>
          <p:cNvPr id="4" name="Image 0" descr="preencoded.png"/>
          <p:cNvPicPr>
            <a:picLocks noChangeAspect="1"/>
          </p:cNvPicPr>
          <p:nvPr/>
        </p:nvPicPr>
        <p:blipFill>
          <a:blip r:embed="rId3"/>
          <a:stretch>
            <a:fillRect/>
          </a:stretch>
        </p:blipFill>
        <p:spPr>
          <a:xfrm>
            <a:off x="3172301" y="2238613"/>
            <a:ext cx="8285798" cy="3428167"/>
          </a:xfrm>
          <a:prstGeom prst="rect">
            <a:avLst/>
          </a:prstGeom>
        </p:spPr>
      </p:pic>
      <p:sp>
        <p:nvSpPr>
          <p:cNvPr id="5" name="Shape 2"/>
          <p:cNvSpPr/>
          <p:nvPr/>
        </p:nvSpPr>
        <p:spPr>
          <a:xfrm>
            <a:off x="793790" y="5868233"/>
            <a:ext cx="13042821" cy="1069896"/>
          </a:xfrm>
          <a:prstGeom prst="roundRect">
            <a:avLst>
              <a:gd name="adj" fmla="val 7402"/>
            </a:avLst>
          </a:prstGeom>
          <a:solidFill>
            <a:srgbClr val="C7C9EA"/>
          </a:solidFill>
          <a:ln/>
        </p:spPr>
        <p:txBody>
          <a:bodyPr/>
          <a:lstStyle/>
          <a:p>
            <a:endParaRPr lang="en-US"/>
          </a:p>
        </p:txBody>
      </p:sp>
      <p:sp>
        <p:nvSpPr>
          <p:cNvPr id="6" name="Text 3"/>
          <p:cNvSpPr/>
          <p:nvPr/>
        </p:nvSpPr>
        <p:spPr>
          <a:xfrm>
            <a:off x="982266" y="6094333"/>
            <a:ext cx="12665869" cy="588407"/>
          </a:xfrm>
          <a:prstGeom prst="rect">
            <a:avLst/>
          </a:prstGeom>
          <a:noFill/>
          <a:ln/>
        </p:spPr>
        <p:txBody>
          <a:bodyPr wrap="square" lIns="0" tIns="0" rIns="0" bIns="0" rtlCol="0" anchor="t"/>
          <a:lstStyle/>
          <a:p>
            <a:pPr marL="0" indent="0" algn="l">
              <a:lnSpc>
                <a:spcPts val="2300"/>
              </a:lnSpc>
              <a:buNone/>
            </a:pPr>
            <a:r>
              <a:rPr lang="en-US" sz="1450" b="1" dirty="0">
                <a:solidFill>
                  <a:srgbClr val="000000"/>
                </a:solidFill>
                <a:latin typeface="Inter" pitchFamily="34" charset="0"/>
                <a:ea typeface="Inter" pitchFamily="34" charset="-122"/>
                <a:cs typeface="Inter" pitchFamily="34" charset="-120"/>
              </a:rPr>
              <a:t>In an experiment, a single rewrite compressed 18,282 tokens to 122, dropping accuracy from 66.7% to 57.1% below the 63.7% baseline of an empty context. LLMs are trained to synthesis: when forced to rewrite memory, they discard the nuance that makes agents effective.</a:t>
            </a:r>
            <a:endParaRPr lang="en-US" sz="1450" dirty="0"/>
          </a:p>
        </p:txBody>
      </p:sp>
      <p:sp>
        <p:nvSpPr>
          <p:cNvPr id="7" name="Text 4"/>
          <p:cNvSpPr/>
          <p:nvPr/>
        </p:nvSpPr>
        <p:spPr>
          <a:xfrm>
            <a:off x="793790" y="7139583"/>
            <a:ext cx="13042821" cy="294203"/>
          </a:xfrm>
          <a:prstGeom prst="rect">
            <a:avLst/>
          </a:prstGeom>
          <a:noFill/>
          <a:ln/>
        </p:spPr>
        <p:txBody>
          <a:bodyPr wrap="none" lIns="0" tIns="0" rIns="0" bIns="0" rtlCol="0" anchor="t"/>
          <a:lstStyle/>
          <a:p>
            <a:pPr marL="0" indent="0" algn="l">
              <a:lnSpc>
                <a:spcPts val="2300"/>
              </a:lnSpc>
              <a:buNone/>
            </a:pP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42416"/>
            <a:ext cx="11001018"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Where ACE Fits Relative to Other Frameworks</a:t>
            </a:r>
            <a:endParaRPr lang="en-US" sz="3900" dirty="0"/>
          </a:p>
        </p:txBody>
      </p:sp>
      <p:sp>
        <p:nvSpPr>
          <p:cNvPr id="3" name="Shape 1"/>
          <p:cNvSpPr/>
          <p:nvPr/>
        </p:nvSpPr>
        <p:spPr>
          <a:xfrm>
            <a:off x="793790" y="2007751"/>
            <a:ext cx="6422231" cy="1824276"/>
          </a:xfrm>
          <a:prstGeom prst="roundRect">
            <a:avLst>
              <a:gd name="adj" fmla="val 6015"/>
            </a:avLst>
          </a:prstGeom>
          <a:solidFill>
            <a:srgbClr val="FFFFFF"/>
          </a:solidFill>
          <a:ln w="22860">
            <a:solidFill>
              <a:srgbClr val="C0C1D7"/>
            </a:solidFill>
            <a:prstDash val="solid"/>
          </a:ln>
        </p:spPr>
        <p:txBody>
          <a:bodyPr/>
          <a:lstStyle/>
          <a:p>
            <a:endParaRPr lang="en-US"/>
          </a:p>
        </p:txBody>
      </p:sp>
      <p:sp>
        <p:nvSpPr>
          <p:cNvPr id="4" name="Shape 2"/>
          <p:cNvSpPr/>
          <p:nvPr/>
        </p:nvSpPr>
        <p:spPr>
          <a:xfrm>
            <a:off x="770930" y="2007751"/>
            <a:ext cx="91440" cy="1824276"/>
          </a:xfrm>
          <a:prstGeom prst="roundRect">
            <a:avLst>
              <a:gd name="adj" fmla="val 91163"/>
            </a:avLst>
          </a:prstGeom>
          <a:solidFill>
            <a:srgbClr val="4950BC"/>
          </a:solidFill>
          <a:ln/>
        </p:spPr>
        <p:txBody>
          <a:bodyPr/>
          <a:lstStyle/>
          <a:p>
            <a:endParaRPr lang="en-US"/>
          </a:p>
        </p:txBody>
      </p:sp>
      <p:sp>
        <p:nvSpPr>
          <p:cNvPr id="5" name="Text 3"/>
          <p:cNvSpPr/>
          <p:nvPr/>
        </p:nvSpPr>
        <p:spPr>
          <a:xfrm>
            <a:off x="1083588" y="222896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Reflexion</a:t>
            </a:r>
            <a:endParaRPr lang="en-US" sz="1950" dirty="0"/>
          </a:p>
        </p:txBody>
      </p:sp>
      <p:sp>
        <p:nvSpPr>
          <p:cNvPr id="6" name="Text 4"/>
          <p:cNvSpPr/>
          <p:nvPr/>
        </p:nvSpPr>
        <p:spPr>
          <a:xfrm>
            <a:off x="1083588" y="2658189"/>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Improves agents through verbal feedback and episodic memory, but does not produce structured, curated enterprise playbooks.</a:t>
            </a:r>
            <a:endParaRPr lang="en-US" sz="1550" dirty="0"/>
          </a:p>
        </p:txBody>
      </p:sp>
      <p:sp>
        <p:nvSpPr>
          <p:cNvPr id="7" name="Shape 5"/>
          <p:cNvSpPr/>
          <p:nvPr/>
        </p:nvSpPr>
        <p:spPr>
          <a:xfrm>
            <a:off x="7414379" y="2007751"/>
            <a:ext cx="6422231" cy="1824276"/>
          </a:xfrm>
          <a:prstGeom prst="roundRect">
            <a:avLst>
              <a:gd name="adj" fmla="val 6015"/>
            </a:avLst>
          </a:prstGeom>
          <a:solidFill>
            <a:srgbClr val="FFFFFF"/>
          </a:solidFill>
          <a:ln w="22860">
            <a:solidFill>
              <a:srgbClr val="C0C1D7"/>
            </a:solidFill>
            <a:prstDash val="solid"/>
          </a:ln>
        </p:spPr>
        <p:txBody>
          <a:bodyPr/>
          <a:lstStyle/>
          <a:p>
            <a:endParaRPr lang="en-US"/>
          </a:p>
        </p:txBody>
      </p:sp>
      <p:sp>
        <p:nvSpPr>
          <p:cNvPr id="8" name="Shape 6"/>
          <p:cNvSpPr/>
          <p:nvPr/>
        </p:nvSpPr>
        <p:spPr>
          <a:xfrm>
            <a:off x="7391519" y="2007751"/>
            <a:ext cx="91440" cy="1824276"/>
          </a:xfrm>
          <a:prstGeom prst="roundRect">
            <a:avLst>
              <a:gd name="adj" fmla="val 91163"/>
            </a:avLst>
          </a:prstGeom>
          <a:solidFill>
            <a:srgbClr val="4950BC"/>
          </a:solidFill>
          <a:ln/>
        </p:spPr>
        <p:txBody>
          <a:bodyPr/>
          <a:lstStyle/>
          <a:p>
            <a:endParaRPr lang="en-US"/>
          </a:p>
        </p:txBody>
      </p:sp>
      <p:sp>
        <p:nvSpPr>
          <p:cNvPr id="9" name="Text 7"/>
          <p:cNvSpPr/>
          <p:nvPr/>
        </p:nvSpPr>
        <p:spPr>
          <a:xfrm>
            <a:off x="7704177" y="222896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MIPRO</a:t>
            </a:r>
            <a:endParaRPr lang="en-US" sz="1950" dirty="0"/>
          </a:p>
        </p:txBody>
      </p:sp>
      <p:sp>
        <p:nvSpPr>
          <p:cNvPr id="10" name="Text 8"/>
          <p:cNvSpPr/>
          <p:nvPr/>
        </p:nvSpPr>
        <p:spPr>
          <a:xfrm>
            <a:off x="7704177" y="2658189"/>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 strong prompt optimiser for multi-stage LM programs, but suffers from brevity bias: it systematically compresses away domain-specific nuance.</a:t>
            </a:r>
            <a:endParaRPr lang="en-US" sz="1550" dirty="0"/>
          </a:p>
        </p:txBody>
      </p:sp>
      <p:sp>
        <p:nvSpPr>
          <p:cNvPr id="11" name="Shape 9"/>
          <p:cNvSpPr/>
          <p:nvPr/>
        </p:nvSpPr>
        <p:spPr>
          <a:xfrm>
            <a:off x="793790" y="4030385"/>
            <a:ext cx="6422231" cy="1824276"/>
          </a:xfrm>
          <a:prstGeom prst="roundRect">
            <a:avLst>
              <a:gd name="adj" fmla="val 6015"/>
            </a:avLst>
          </a:prstGeom>
          <a:solidFill>
            <a:srgbClr val="FFFFFF"/>
          </a:solidFill>
          <a:ln w="22860">
            <a:solidFill>
              <a:srgbClr val="C0C1D7"/>
            </a:solidFill>
            <a:prstDash val="solid"/>
          </a:ln>
        </p:spPr>
        <p:txBody>
          <a:bodyPr/>
          <a:lstStyle/>
          <a:p>
            <a:endParaRPr lang="en-US"/>
          </a:p>
        </p:txBody>
      </p:sp>
      <p:sp>
        <p:nvSpPr>
          <p:cNvPr id="12" name="Shape 10"/>
          <p:cNvSpPr/>
          <p:nvPr/>
        </p:nvSpPr>
        <p:spPr>
          <a:xfrm>
            <a:off x="770930" y="4030385"/>
            <a:ext cx="91440" cy="1824276"/>
          </a:xfrm>
          <a:prstGeom prst="roundRect">
            <a:avLst>
              <a:gd name="adj" fmla="val 91163"/>
            </a:avLst>
          </a:prstGeom>
          <a:solidFill>
            <a:srgbClr val="4950BC"/>
          </a:solidFill>
          <a:ln/>
        </p:spPr>
        <p:txBody>
          <a:bodyPr/>
          <a:lstStyle/>
          <a:p>
            <a:endParaRPr lang="en-US"/>
          </a:p>
        </p:txBody>
      </p:sp>
      <p:sp>
        <p:nvSpPr>
          <p:cNvPr id="13" name="Text 11"/>
          <p:cNvSpPr/>
          <p:nvPr/>
        </p:nvSpPr>
        <p:spPr>
          <a:xfrm>
            <a:off x="1083588" y="4251603"/>
            <a:ext cx="2525673"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Dynamic Cheatsheet</a:t>
            </a:r>
            <a:endParaRPr lang="en-US" sz="1950" dirty="0"/>
          </a:p>
        </p:txBody>
      </p:sp>
      <p:sp>
        <p:nvSpPr>
          <p:cNvPr id="14" name="Text 12"/>
          <p:cNvSpPr/>
          <p:nvPr/>
        </p:nvSpPr>
        <p:spPr>
          <a:xfrm>
            <a:off x="1083588" y="4680823"/>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direct conceptual predecessor to ACE. ACE addresses its core weakness, monolithic memory rewrites, through structured delta updates and grow-and-refine curation.</a:t>
            </a:r>
            <a:endParaRPr lang="en-US" sz="1550" dirty="0"/>
          </a:p>
        </p:txBody>
      </p:sp>
      <p:sp>
        <p:nvSpPr>
          <p:cNvPr id="15" name="Shape 13"/>
          <p:cNvSpPr/>
          <p:nvPr/>
        </p:nvSpPr>
        <p:spPr>
          <a:xfrm>
            <a:off x="7414379" y="4030385"/>
            <a:ext cx="6422231" cy="1824276"/>
          </a:xfrm>
          <a:prstGeom prst="roundRect">
            <a:avLst>
              <a:gd name="adj" fmla="val 6015"/>
            </a:avLst>
          </a:prstGeom>
          <a:solidFill>
            <a:srgbClr val="FFFFFF"/>
          </a:solidFill>
          <a:ln w="22860">
            <a:solidFill>
              <a:srgbClr val="C0C1D7"/>
            </a:solidFill>
            <a:prstDash val="solid"/>
          </a:ln>
        </p:spPr>
        <p:txBody>
          <a:bodyPr/>
          <a:lstStyle/>
          <a:p>
            <a:endParaRPr lang="en-US"/>
          </a:p>
        </p:txBody>
      </p:sp>
      <p:sp>
        <p:nvSpPr>
          <p:cNvPr id="16" name="Shape 14"/>
          <p:cNvSpPr/>
          <p:nvPr/>
        </p:nvSpPr>
        <p:spPr>
          <a:xfrm>
            <a:off x="7391519" y="4030385"/>
            <a:ext cx="91440" cy="1824276"/>
          </a:xfrm>
          <a:prstGeom prst="roundRect">
            <a:avLst>
              <a:gd name="adj" fmla="val 91163"/>
            </a:avLst>
          </a:prstGeom>
          <a:solidFill>
            <a:srgbClr val="4950BC"/>
          </a:solidFill>
          <a:ln/>
        </p:spPr>
        <p:txBody>
          <a:bodyPr/>
          <a:lstStyle/>
          <a:p>
            <a:endParaRPr lang="en-US"/>
          </a:p>
        </p:txBody>
      </p:sp>
      <p:sp>
        <p:nvSpPr>
          <p:cNvPr id="17" name="Text 15"/>
          <p:cNvSpPr/>
          <p:nvPr/>
        </p:nvSpPr>
        <p:spPr>
          <a:xfrm>
            <a:off x="7704177" y="425160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CodeAct</a:t>
            </a:r>
            <a:endParaRPr lang="en-US" sz="1950" dirty="0"/>
          </a:p>
        </p:txBody>
      </p:sp>
      <p:sp>
        <p:nvSpPr>
          <p:cNvPr id="18" name="Text 16"/>
          <p:cNvSpPr/>
          <p:nvPr/>
        </p:nvSpPr>
        <p:spPr>
          <a:xfrm>
            <a:off x="7704177" y="4680823"/>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Demonstrates the value of execution-grounded agents. ACE complements it by providing the governed, evolving memory layer that CodeAct lacks.</a:t>
            </a:r>
            <a:endParaRPr lang="en-US" sz="1550" dirty="0"/>
          </a:p>
        </p:txBody>
      </p:sp>
      <p:sp>
        <p:nvSpPr>
          <p:cNvPr id="19" name="Shape 17"/>
          <p:cNvSpPr/>
          <p:nvPr/>
        </p:nvSpPr>
        <p:spPr>
          <a:xfrm>
            <a:off x="793790" y="6077903"/>
            <a:ext cx="13042821" cy="1160740"/>
          </a:xfrm>
          <a:prstGeom prst="roundRect">
            <a:avLst>
              <a:gd name="adj" fmla="val 7182"/>
            </a:avLst>
          </a:prstGeom>
          <a:solidFill>
            <a:srgbClr val="C7C9EA"/>
          </a:solidFill>
          <a:ln/>
        </p:spPr>
        <p:txBody>
          <a:bodyPr/>
          <a:lstStyle/>
          <a:p>
            <a:endParaRPr lang="en-US"/>
          </a:p>
        </p:txBody>
      </p:sp>
      <p:sp>
        <p:nvSpPr>
          <p:cNvPr id="20" name="Text 18"/>
          <p:cNvSpPr/>
          <p:nvPr/>
        </p:nvSpPr>
        <p:spPr>
          <a:xfrm>
            <a:off x="992148" y="6325791"/>
            <a:ext cx="12646104" cy="63507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Inter" pitchFamily="34" charset="0"/>
                <a:ea typeface="Inter" pitchFamily="34" charset="-122"/>
                <a:cs typeface="Inter" pitchFamily="34" charset="-120"/>
              </a:rPr>
              <a:t>The simplest positioning: CodeAct provides an action-capable agent. ACE gives that agent a governed, self-improving memory without touching the model weights.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149667"/>
            <a:ext cx="6349484"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ACE Relative Performance</a:t>
            </a:r>
            <a:endParaRPr lang="en-US" sz="3900" dirty="0"/>
          </a:p>
        </p:txBody>
      </p:sp>
      <p:sp>
        <p:nvSpPr>
          <p:cNvPr id="3" name="Shape 1"/>
          <p:cNvSpPr/>
          <p:nvPr/>
        </p:nvSpPr>
        <p:spPr>
          <a:xfrm>
            <a:off x="793790" y="2166580"/>
            <a:ext cx="13042821" cy="1160740"/>
          </a:xfrm>
          <a:prstGeom prst="roundRect">
            <a:avLst>
              <a:gd name="adj" fmla="val 7182"/>
            </a:avLst>
          </a:prstGeom>
          <a:solidFill>
            <a:srgbClr val="C7C9EA"/>
          </a:solidFill>
          <a:ln/>
        </p:spPr>
        <p:txBody>
          <a:bodyPr/>
          <a:lstStyle/>
          <a:p>
            <a:endParaRPr lang="en-US"/>
          </a:p>
        </p:txBody>
      </p:sp>
      <p:sp>
        <p:nvSpPr>
          <p:cNvPr id="4" name="Text 2"/>
          <p:cNvSpPr/>
          <p:nvPr/>
        </p:nvSpPr>
        <p:spPr>
          <a:xfrm>
            <a:off x="992148" y="2414468"/>
            <a:ext cx="12646104"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Using a smaller open-source model (DeepSeek V3), ACE matched IBM's top-ranked production agent, powered by GPT-4.1, on the AppWorld</a:t>
            </a:r>
            <a:r>
              <a:rPr lang="en-US" sz="1550" i="1" dirty="0">
                <a:solidFill>
                  <a:srgbClr val="000000"/>
                </a:solidFill>
                <a:latin typeface="Inter" pitchFamily="34" charset="0"/>
                <a:ea typeface="Inter" pitchFamily="34" charset="-122"/>
                <a:cs typeface="Inter" pitchFamily="34" charset="-120"/>
              </a:rPr>
              <a:t>* </a:t>
            </a:r>
            <a:r>
              <a:rPr lang="en-US" sz="1550" dirty="0">
                <a:solidFill>
                  <a:srgbClr val="000000"/>
                </a:solidFill>
                <a:latin typeface="Inter" pitchFamily="34" charset="0"/>
                <a:ea typeface="Inter" pitchFamily="34" charset="-122"/>
                <a:cs typeface="Inter" pitchFamily="34" charset="-120"/>
              </a:rPr>
              <a:t> leaderboard, and outperformed it on the hardest test-challenge split. It achieved this at a fraction of the compute cost.</a:t>
            </a:r>
            <a:endParaRPr lang="en-US" sz="1550" dirty="0"/>
          </a:p>
        </p:txBody>
      </p:sp>
      <p:sp>
        <p:nvSpPr>
          <p:cNvPr id="5" name="Text 3"/>
          <p:cNvSpPr/>
          <p:nvPr/>
        </p:nvSpPr>
        <p:spPr>
          <a:xfrm>
            <a:off x="793790" y="3649742"/>
            <a:ext cx="4182189"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Inter Bold" pitchFamily="34" charset="0"/>
                <a:ea typeface="Inter Bold" pitchFamily="34" charset="-122"/>
                <a:cs typeface="Inter Bold" pitchFamily="34" charset="-120"/>
              </a:rPr>
              <a:t>10.6%</a:t>
            </a:r>
            <a:endParaRPr lang="en-US" sz="5150" dirty="0"/>
          </a:p>
        </p:txBody>
      </p:sp>
      <p:sp>
        <p:nvSpPr>
          <p:cNvPr id="6" name="Text 4"/>
          <p:cNvSpPr/>
          <p:nvPr/>
        </p:nvSpPr>
        <p:spPr>
          <a:xfrm>
            <a:off x="1423392" y="4552712"/>
            <a:ext cx="2922865"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Inter Bold" pitchFamily="34" charset="0"/>
                <a:ea typeface="Inter Bold" pitchFamily="34" charset="-122"/>
                <a:cs typeface="Inter Bold" pitchFamily="34" charset="-120"/>
              </a:rPr>
              <a:t>Agent Benchmark Gains</a:t>
            </a:r>
            <a:endParaRPr lang="en-US" sz="1950" dirty="0"/>
          </a:p>
        </p:txBody>
      </p:sp>
      <p:sp>
        <p:nvSpPr>
          <p:cNvPr id="7" name="Text 5"/>
          <p:cNvSpPr/>
          <p:nvPr/>
        </p:nvSpPr>
        <p:spPr>
          <a:xfrm>
            <a:off x="793790" y="4981932"/>
            <a:ext cx="4182189" cy="635079"/>
          </a:xfrm>
          <a:prstGeom prst="rect">
            <a:avLst/>
          </a:prstGeom>
          <a:noFill/>
          <a:ln/>
        </p:spPr>
        <p:txBody>
          <a:bodyPr wrap="square" lIns="0" tIns="0" rIns="0" bIns="0" rtlCol="0" anchor="t"/>
          <a:lstStyle/>
          <a:p>
            <a:pPr marL="0" indent="0" algn="ctr">
              <a:lnSpc>
                <a:spcPts val="2500"/>
              </a:lnSpc>
              <a:buNone/>
            </a:pPr>
            <a:r>
              <a:rPr lang="en-US" sz="1550" dirty="0">
                <a:solidFill>
                  <a:srgbClr val="272525"/>
                </a:solidFill>
                <a:latin typeface="Inter" pitchFamily="34" charset="0"/>
                <a:ea typeface="Inter" pitchFamily="34" charset="-122"/>
                <a:cs typeface="Inter" pitchFamily="34" charset="-120"/>
              </a:rPr>
              <a:t>Average improvement on the AppWorld benchmark vs. baseline methods</a:t>
            </a:r>
            <a:endParaRPr lang="en-US" sz="1550" dirty="0"/>
          </a:p>
        </p:txBody>
      </p:sp>
      <p:sp>
        <p:nvSpPr>
          <p:cNvPr id="8" name="Text 6"/>
          <p:cNvSpPr/>
          <p:nvPr/>
        </p:nvSpPr>
        <p:spPr>
          <a:xfrm>
            <a:off x="5223986" y="3649742"/>
            <a:ext cx="4182308"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Inter Bold" pitchFamily="34" charset="0"/>
                <a:ea typeface="Inter Bold" pitchFamily="34" charset="-122"/>
                <a:cs typeface="Inter Bold" pitchFamily="34" charset="-120"/>
              </a:rPr>
              <a:t>8.6%</a:t>
            </a:r>
            <a:endParaRPr lang="en-US" sz="5150" dirty="0"/>
          </a:p>
        </p:txBody>
      </p:sp>
      <p:sp>
        <p:nvSpPr>
          <p:cNvPr id="9" name="Text 7"/>
          <p:cNvSpPr/>
          <p:nvPr/>
        </p:nvSpPr>
        <p:spPr>
          <a:xfrm>
            <a:off x="6074688" y="4552712"/>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Inter Bold" pitchFamily="34" charset="0"/>
                <a:ea typeface="Inter Bold" pitchFamily="34" charset="-122"/>
                <a:cs typeface="Inter Bold" pitchFamily="34" charset="-120"/>
              </a:rPr>
              <a:t>Finance Task Gains</a:t>
            </a:r>
            <a:endParaRPr lang="en-US" sz="1950" dirty="0"/>
          </a:p>
        </p:txBody>
      </p:sp>
      <p:sp>
        <p:nvSpPr>
          <p:cNvPr id="10" name="Text 8"/>
          <p:cNvSpPr/>
          <p:nvPr/>
        </p:nvSpPr>
        <p:spPr>
          <a:xfrm>
            <a:off x="5223986" y="4981932"/>
            <a:ext cx="4182308" cy="635079"/>
          </a:xfrm>
          <a:prstGeom prst="rect">
            <a:avLst/>
          </a:prstGeom>
          <a:noFill/>
          <a:ln/>
        </p:spPr>
        <p:txBody>
          <a:bodyPr wrap="square" lIns="0" tIns="0" rIns="0" bIns="0" rtlCol="0" anchor="t"/>
          <a:lstStyle/>
          <a:p>
            <a:pPr marL="0" indent="0" algn="ctr">
              <a:lnSpc>
                <a:spcPts val="2500"/>
              </a:lnSpc>
              <a:buNone/>
            </a:pPr>
            <a:r>
              <a:rPr lang="en-US" sz="1550" dirty="0">
                <a:solidFill>
                  <a:srgbClr val="272525"/>
                </a:solidFill>
                <a:latin typeface="Inter" pitchFamily="34" charset="0"/>
                <a:ea typeface="Inter" pitchFamily="34" charset="-122"/>
                <a:cs typeface="Inter" pitchFamily="34" charset="-120"/>
              </a:rPr>
              <a:t>Accuracy boost on XBRL-structured financial filings (FinER &amp; FormuLA datasets)</a:t>
            </a:r>
            <a:endParaRPr lang="en-US" sz="1550" dirty="0"/>
          </a:p>
        </p:txBody>
      </p:sp>
      <p:sp>
        <p:nvSpPr>
          <p:cNvPr id="11" name="Text 9"/>
          <p:cNvSpPr/>
          <p:nvPr/>
        </p:nvSpPr>
        <p:spPr>
          <a:xfrm>
            <a:off x="9654302" y="3649742"/>
            <a:ext cx="4182308"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Inter Bold" pitchFamily="34" charset="0"/>
                <a:ea typeface="Inter Bold" pitchFamily="34" charset="-122"/>
                <a:cs typeface="Inter Bold" pitchFamily="34" charset="-120"/>
              </a:rPr>
              <a:t>86.9%</a:t>
            </a:r>
            <a:endParaRPr lang="en-US" sz="5150" dirty="0"/>
          </a:p>
        </p:txBody>
      </p:sp>
      <p:sp>
        <p:nvSpPr>
          <p:cNvPr id="12" name="Text 10"/>
          <p:cNvSpPr/>
          <p:nvPr/>
        </p:nvSpPr>
        <p:spPr>
          <a:xfrm>
            <a:off x="10505003" y="4552712"/>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Inter Bold" pitchFamily="34" charset="0"/>
                <a:ea typeface="Inter Bold" pitchFamily="34" charset="-122"/>
                <a:cs typeface="Inter Bold" pitchFamily="34" charset="-120"/>
              </a:rPr>
              <a:t>Latency Reduction</a:t>
            </a:r>
            <a:endParaRPr lang="en-US" sz="1950" dirty="0"/>
          </a:p>
        </p:txBody>
      </p:sp>
      <p:sp>
        <p:nvSpPr>
          <p:cNvPr id="13" name="Text 11"/>
          <p:cNvSpPr/>
          <p:nvPr/>
        </p:nvSpPr>
        <p:spPr>
          <a:xfrm>
            <a:off x="9654302" y="4981932"/>
            <a:ext cx="4182308" cy="635079"/>
          </a:xfrm>
          <a:prstGeom prst="rect">
            <a:avLst/>
          </a:prstGeom>
          <a:noFill/>
          <a:ln/>
        </p:spPr>
        <p:txBody>
          <a:bodyPr wrap="square" lIns="0" tIns="0" rIns="0" bIns="0" rtlCol="0" anchor="t"/>
          <a:lstStyle/>
          <a:p>
            <a:pPr marL="0" indent="0" algn="ctr">
              <a:lnSpc>
                <a:spcPts val="2500"/>
              </a:lnSpc>
              <a:buNone/>
            </a:pPr>
            <a:r>
              <a:rPr lang="en-US" sz="1550" dirty="0">
                <a:solidFill>
                  <a:srgbClr val="272525"/>
                </a:solidFill>
                <a:latin typeface="Inter" pitchFamily="34" charset="0"/>
                <a:ea typeface="Inter" pitchFamily="34" charset="-122"/>
                <a:cs typeface="Inter" pitchFamily="34" charset="-120"/>
              </a:rPr>
              <a:t>Reduction in adaptation latency vs. prior prompt optimisation methods</a:t>
            </a:r>
            <a:endParaRPr lang="en-US" sz="1550" dirty="0"/>
          </a:p>
        </p:txBody>
      </p:sp>
      <p:sp>
        <p:nvSpPr>
          <p:cNvPr id="14" name="Text 12"/>
          <p:cNvSpPr/>
          <p:nvPr/>
        </p:nvSpPr>
        <p:spPr>
          <a:xfrm>
            <a:off x="793790" y="5840254"/>
            <a:ext cx="13042821" cy="254079"/>
          </a:xfrm>
          <a:prstGeom prst="rect">
            <a:avLst/>
          </a:prstGeom>
          <a:noFill/>
          <a:ln/>
        </p:spPr>
        <p:txBody>
          <a:bodyPr wrap="none" lIns="0" tIns="0" rIns="0" bIns="0" rtlCol="0" anchor="t"/>
          <a:lstStyle/>
          <a:p>
            <a:pPr marL="0" indent="0" algn="l">
              <a:lnSpc>
                <a:spcPts val="2000"/>
              </a:lnSpc>
              <a:buNone/>
            </a:pPr>
            <a:endParaRPr lang="en-US" sz="1250" dirty="0"/>
          </a:p>
        </p:txBody>
      </p:sp>
      <p:sp>
        <p:nvSpPr>
          <p:cNvPr id="15" name="Text 13"/>
          <p:cNvSpPr/>
          <p:nvPr/>
        </p:nvSpPr>
        <p:spPr>
          <a:xfrm>
            <a:off x="793790" y="6317575"/>
            <a:ext cx="13042821" cy="762238"/>
          </a:xfrm>
          <a:prstGeom prst="rect">
            <a:avLst/>
          </a:prstGeom>
          <a:noFill/>
          <a:ln/>
        </p:spPr>
        <p:txBody>
          <a:bodyPr wrap="square" lIns="0" tIns="0" rIns="0" bIns="0" rtlCol="0" anchor="t"/>
          <a:lstStyle/>
          <a:p>
            <a:pPr marL="0" indent="0" algn="l">
              <a:lnSpc>
                <a:spcPts val="2000"/>
              </a:lnSpc>
              <a:buNone/>
            </a:pPr>
            <a:r>
              <a:rPr lang="en-US" sz="1250" i="1" dirty="0">
                <a:solidFill>
                  <a:srgbClr val="272525"/>
                </a:solidFill>
                <a:latin typeface="Inter" pitchFamily="34" charset="0"/>
                <a:ea typeface="Inter" pitchFamily="34" charset="-122"/>
                <a:cs typeface="Inter" pitchFamily="34" charset="-120"/>
              </a:rPr>
              <a:t>* AppWorld is a benchmark that ranks AI agents based on how well they perform real-world, multi-step tasks across simulated applications such as email, calendars, and e-commerce systems. It evaluates not just whether a task is completed, but how accurately, efficiently, and safely the agent navigates complex workflows — measuring how effectively AI systems can operate as practical digital assistants.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303496"/>
            <a:ext cx="10943392"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Case Study: ACE in Financial Analysis (XBRL)</a:t>
            </a:r>
            <a:endParaRPr lang="en-US" sz="3900" dirty="0"/>
          </a:p>
        </p:txBody>
      </p:sp>
      <p:sp>
        <p:nvSpPr>
          <p:cNvPr id="3" name="Text 1"/>
          <p:cNvSpPr/>
          <p:nvPr/>
        </p:nvSpPr>
        <p:spPr>
          <a:xfrm>
            <a:off x="793790" y="2002869"/>
            <a:ext cx="5852041"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The challenges ACE is designed to solve</a:t>
            </a:r>
            <a:endParaRPr lang="en-US" sz="2300" dirty="0"/>
          </a:p>
        </p:txBody>
      </p:sp>
      <p:sp>
        <p:nvSpPr>
          <p:cNvPr id="4" name="Shape 2"/>
          <p:cNvSpPr/>
          <p:nvPr/>
        </p:nvSpPr>
        <p:spPr>
          <a:xfrm>
            <a:off x="793790" y="2672596"/>
            <a:ext cx="4215289" cy="4253508"/>
          </a:xfrm>
          <a:prstGeom prst="roundRect">
            <a:avLst>
              <a:gd name="adj" fmla="val 1978"/>
            </a:avLst>
          </a:prstGeom>
          <a:solidFill>
            <a:srgbClr val="FFFFFF"/>
          </a:solidFill>
          <a:ln w="22860">
            <a:solidFill>
              <a:srgbClr val="C0C1D7"/>
            </a:solidFill>
            <a:prstDash val="solid"/>
          </a:ln>
        </p:spPr>
        <p:txBody>
          <a:bodyPr/>
          <a:lstStyle/>
          <a:p>
            <a:endParaRPr lang="en-US"/>
          </a:p>
        </p:txBody>
      </p:sp>
      <p:sp>
        <p:nvSpPr>
          <p:cNvPr id="5" name="Shape 3"/>
          <p:cNvSpPr/>
          <p:nvPr/>
        </p:nvSpPr>
        <p:spPr>
          <a:xfrm>
            <a:off x="816650" y="2695456"/>
            <a:ext cx="4169569" cy="595313"/>
          </a:xfrm>
          <a:prstGeom prst="roundRect">
            <a:avLst>
              <a:gd name="adj" fmla="val 9395"/>
            </a:avLst>
          </a:prstGeom>
          <a:solidFill>
            <a:srgbClr val="DADBF1"/>
          </a:solidFill>
          <a:ln/>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52606" y="2840355"/>
            <a:ext cx="297656" cy="297656"/>
          </a:xfrm>
          <a:prstGeom prst="rect">
            <a:avLst/>
          </a:prstGeom>
        </p:spPr>
      </p:pic>
      <p:sp>
        <p:nvSpPr>
          <p:cNvPr id="7" name="Text 4"/>
          <p:cNvSpPr/>
          <p:nvPr/>
        </p:nvSpPr>
        <p:spPr>
          <a:xfrm>
            <a:off x="1015008" y="3489127"/>
            <a:ext cx="288988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Structured but Complex</a:t>
            </a:r>
            <a:endParaRPr lang="en-US" sz="1950" dirty="0"/>
          </a:p>
        </p:txBody>
      </p:sp>
      <p:sp>
        <p:nvSpPr>
          <p:cNvPr id="8" name="Text 5"/>
          <p:cNvSpPr/>
          <p:nvPr/>
        </p:nvSpPr>
        <p:spPr>
          <a:xfrm>
            <a:off x="1015008" y="3918347"/>
            <a:ext cx="3772853" cy="190523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Financial statements are broken into hundreds of tagged elements — many representing similar concepts across different reporting contexts. Variations across companies make consistent extraction difficult at scale.</a:t>
            </a:r>
            <a:endParaRPr lang="en-US" sz="1550" dirty="0"/>
          </a:p>
        </p:txBody>
      </p:sp>
      <p:sp>
        <p:nvSpPr>
          <p:cNvPr id="9" name="Text 6"/>
          <p:cNvSpPr/>
          <p:nvPr/>
        </p:nvSpPr>
        <p:spPr>
          <a:xfrm>
            <a:off x="1015008" y="5942648"/>
            <a:ext cx="3772853" cy="762238"/>
          </a:xfrm>
          <a:prstGeom prst="rect">
            <a:avLst/>
          </a:prstGeom>
          <a:noFill/>
          <a:ln/>
        </p:spPr>
        <p:txBody>
          <a:bodyPr wrap="square" lIns="0" tIns="0" rIns="0" bIns="0" rtlCol="0" anchor="t"/>
          <a:lstStyle/>
          <a:p>
            <a:pPr marL="0" indent="0" algn="l">
              <a:lnSpc>
                <a:spcPts val="2000"/>
              </a:lnSpc>
              <a:buNone/>
            </a:pPr>
            <a:r>
              <a:rPr lang="en-US" sz="1250" i="1" dirty="0">
                <a:solidFill>
                  <a:srgbClr val="272525"/>
                </a:solidFill>
                <a:latin typeface="Inter" pitchFamily="34" charset="0"/>
                <a:ea typeface="Inter" pitchFamily="34" charset="-122"/>
                <a:cs typeface="Inter" pitchFamily="34" charset="-120"/>
              </a:rPr>
              <a:t>e.g. A filing may include "Total Revenue," "Operating Revenue," and "Net Sales" — selecting the wrong tag distorts the analysis.</a:t>
            </a:r>
            <a:endParaRPr lang="en-US" sz="1250" dirty="0"/>
          </a:p>
        </p:txBody>
      </p:sp>
      <p:sp>
        <p:nvSpPr>
          <p:cNvPr id="10" name="Shape 7"/>
          <p:cNvSpPr/>
          <p:nvPr/>
        </p:nvSpPr>
        <p:spPr>
          <a:xfrm>
            <a:off x="5207437" y="2672596"/>
            <a:ext cx="4215408" cy="4253508"/>
          </a:xfrm>
          <a:prstGeom prst="roundRect">
            <a:avLst>
              <a:gd name="adj" fmla="val 1977"/>
            </a:avLst>
          </a:prstGeom>
          <a:solidFill>
            <a:srgbClr val="FFFFFF"/>
          </a:solidFill>
          <a:ln w="22860">
            <a:solidFill>
              <a:srgbClr val="C0C1D7"/>
            </a:solidFill>
            <a:prstDash val="solid"/>
          </a:ln>
        </p:spPr>
        <p:txBody>
          <a:bodyPr/>
          <a:lstStyle/>
          <a:p>
            <a:endParaRPr lang="en-US"/>
          </a:p>
        </p:txBody>
      </p:sp>
      <p:sp>
        <p:nvSpPr>
          <p:cNvPr id="11" name="Shape 8"/>
          <p:cNvSpPr/>
          <p:nvPr/>
        </p:nvSpPr>
        <p:spPr>
          <a:xfrm>
            <a:off x="5230297" y="2695456"/>
            <a:ext cx="4169688" cy="595313"/>
          </a:xfrm>
          <a:prstGeom prst="roundRect">
            <a:avLst>
              <a:gd name="adj" fmla="val 9395"/>
            </a:avLst>
          </a:prstGeom>
          <a:solidFill>
            <a:srgbClr val="DADBF1"/>
          </a:solidFill>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66253" y="2840355"/>
            <a:ext cx="297656" cy="297656"/>
          </a:xfrm>
          <a:prstGeom prst="rect">
            <a:avLst/>
          </a:prstGeom>
        </p:spPr>
      </p:pic>
      <p:sp>
        <p:nvSpPr>
          <p:cNvPr id="13" name="Text 9"/>
          <p:cNvSpPr/>
          <p:nvPr/>
        </p:nvSpPr>
        <p:spPr>
          <a:xfrm>
            <a:off x="5428655" y="3489127"/>
            <a:ext cx="3458289"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139 Fine-Grained Categories</a:t>
            </a:r>
            <a:endParaRPr lang="en-US" sz="1950" dirty="0"/>
          </a:p>
        </p:txBody>
      </p:sp>
      <p:sp>
        <p:nvSpPr>
          <p:cNvPr id="14" name="Text 10"/>
          <p:cNvSpPr/>
          <p:nvPr/>
        </p:nvSpPr>
        <p:spPr>
          <a:xfrm>
            <a:off x="5428655" y="3918347"/>
            <a:ext cx="3772972"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Identifying and labeling financial entities across a large set of closely related categories. Mislabeling a single entity can propagate errors through all downstream analysis.</a:t>
            </a:r>
            <a:endParaRPr lang="en-US" sz="1550" dirty="0"/>
          </a:p>
        </p:txBody>
      </p:sp>
      <p:sp>
        <p:nvSpPr>
          <p:cNvPr id="15" name="Text 11"/>
          <p:cNvSpPr/>
          <p:nvPr/>
        </p:nvSpPr>
        <p:spPr>
          <a:xfrm>
            <a:off x="5428655" y="5625108"/>
            <a:ext cx="3772972" cy="762238"/>
          </a:xfrm>
          <a:prstGeom prst="rect">
            <a:avLst/>
          </a:prstGeom>
          <a:noFill/>
          <a:ln/>
        </p:spPr>
        <p:txBody>
          <a:bodyPr wrap="square" lIns="0" tIns="0" rIns="0" bIns="0" rtlCol="0" anchor="t"/>
          <a:lstStyle/>
          <a:p>
            <a:pPr marL="0" indent="0" algn="l">
              <a:lnSpc>
                <a:spcPts val="2000"/>
              </a:lnSpc>
              <a:buNone/>
            </a:pPr>
            <a:r>
              <a:rPr lang="en-US" sz="1250" i="1" dirty="0">
                <a:solidFill>
                  <a:srgbClr val="272525"/>
                </a:solidFill>
                <a:latin typeface="Inter" pitchFamily="34" charset="0"/>
                <a:ea typeface="Inter" pitchFamily="34" charset="-122"/>
                <a:cs typeface="Inter" pitchFamily="34" charset="-120"/>
              </a:rPr>
              <a:t>e.g. "Interest" could mean interest income, interest expense, or ownership interest — context determines everything.</a:t>
            </a:r>
            <a:endParaRPr lang="en-US" sz="1250" dirty="0"/>
          </a:p>
        </p:txBody>
      </p:sp>
      <p:sp>
        <p:nvSpPr>
          <p:cNvPr id="16" name="Shape 12"/>
          <p:cNvSpPr/>
          <p:nvPr/>
        </p:nvSpPr>
        <p:spPr>
          <a:xfrm>
            <a:off x="9621203" y="2672596"/>
            <a:ext cx="4215289" cy="4253508"/>
          </a:xfrm>
          <a:prstGeom prst="roundRect">
            <a:avLst>
              <a:gd name="adj" fmla="val 1978"/>
            </a:avLst>
          </a:prstGeom>
          <a:solidFill>
            <a:srgbClr val="FFFFFF"/>
          </a:solidFill>
          <a:ln w="22860">
            <a:solidFill>
              <a:srgbClr val="C0C1D7"/>
            </a:solidFill>
            <a:prstDash val="solid"/>
          </a:ln>
        </p:spPr>
        <p:txBody>
          <a:bodyPr/>
          <a:lstStyle/>
          <a:p>
            <a:endParaRPr lang="en-US"/>
          </a:p>
        </p:txBody>
      </p:sp>
      <p:sp>
        <p:nvSpPr>
          <p:cNvPr id="17" name="Shape 13"/>
          <p:cNvSpPr/>
          <p:nvPr/>
        </p:nvSpPr>
        <p:spPr>
          <a:xfrm>
            <a:off x="9644063" y="2695456"/>
            <a:ext cx="4169569" cy="595313"/>
          </a:xfrm>
          <a:prstGeom prst="roundRect">
            <a:avLst>
              <a:gd name="adj" fmla="val 9395"/>
            </a:avLst>
          </a:prstGeom>
          <a:solidFill>
            <a:srgbClr val="DADBF1"/>
          </a:solidFill>
          <a:ln/>
        </p:spPr>
        <p:txBody>
          <a:bodyPr/>
          <a:lstStyle/>
          <a:p>
            <a:endParaRPr lang="en-US"/>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80019" y="2840355"/>
            <a:ext cx="297656" cy="297656"/>
          </a:xfrm>
          <a:prstGeom prst="rect">
            <a:avLst/>
          </a:prstGeom>
        </p:spPr>
      </p:pic>
      <p:sp>
        <p:nvSpPr>
          <p:cNvPr id="19" name="Text 14"/>
          <p:cNvSpPr/>
          <p:nvPr/>
        </p:nvSpPr>
        <p:spPr>
          <a:xfrm>
            <a:off x="9842421" y="3489127"/>
            <a:ext cx="2790706"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Extract, Then Compute</a:t>
            </a:r>
            <a:endParaRPr lang="en-US" sz="1950" dirty="0"/>
          </a:p>
        </p:txBody>
      </p:sp>
      <p:sp>
        <p:nvSpPr>
          <p:cNvPr id="20" name="Text 15"/>
          <p:cNvSpPr/>
          <p:nvPr/>
        </p:nvSpPr>
        <p:spPr>
          <a:xfrm>
            <a:off x="9842421" y="3918347"/>
            <a:ext cx="3772853"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Requires extracting specific values from structured filings and applying financial logic correctly. Errors in data selection or misunderstood variable relationships compound into wrong results.</a:t>
            </a:r>
            <a:endParaRPr lang="en-US" sz="1550" dirty="0"/>
          </a:p>
        </p:txBody>
      </p:sp>
      <p:sp>
        <p:nvSpPr>
          <p:cNvPr id="21" name="Text 16"/>
          <p:cNvSpPr/>
          <p:nvPr/>
        </p:nvSpPr>
        <p:spPr>
          <a:xfrm>
            <a:off x="9842421" y="5625108"/>
            <a:ext cx="3772853" cy="508159"/>
          </a:xfrm>
          <a:prstGeom prst="rect">
            <a:avLst/>
          </a:prstGeom>
          <a:noFill/>
          <a:ln/>
        </p:spPr>
        <p:txBody>
          <a:bodyPr wrap="square" lIns="0" tIns="0" rIns="0" bIns="0" rtlCol="0" anchor="t"/>
          <a:lstStyle/>
          <a:p>
            <a:pPr marL="0" indent="0" algn="l">
              <a:lnSpc>
                <a:spcPts val="2000"/>
              </a:lnSpc>
              <a:buNone/>
            </a:pPr>
            <a:r>
              <a:rPr lang="en-US" sz="1250" i="1" dirty="0">
                <a:solidFill>
                  <a:srgbClr val="272525"/>
                </a:solidFill>
                <a:latin typeface="Inter" pitchFamily="34" charset="0"/>
                <a:ea typeface="Inter" pitchFamily="34" charset="-122"/>
                <a:cs typeface="Inter" pitchFamily="34" charset="-120"/>
              </a:rPr>
              <a:t>e.g. Calculating profit fails if operating expenses are confused with total expenses.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19601"/>
            <a:ext cx="9848255" cy="558165"/>
          </a:xfrm>
          <a:prstGeom prst="rect">
            <a:avLst/>
          </a:prstGeom>
          <a:noFill/>
          <a:ln/>
        </p:spPr>
        <p:txBody>
          <a:bodyPr wrap="none" lIns="0" tIns="0" rIns="0" bIns="0" rtlCol="0" anchor="t"/>
          <a:lstStyle/>
          <a:p>
            <a:pPr marL="0" indent="0" algn="l">
              <a:lnSpc>
                <a:spcPts val="4350"/>
              </a:lnSpc>
              <a:buNone/>
            </a:pPr>
            <a:r>
              <a:rPr lang="en-US" sz="3500" b="1" dirty="0">
                <a:solidFill>
                  <a:srgbClr val="000000"/>
                </a:solidFill>
                <a:latin typeface="Inter Bold" pitchFamily="34" charset="0"/>
                <a:ea typeface="Inter Bold" pitchFamily="34" charset="-122"/>
                <a:cs typeface="Inter Bold" pitchFamily="34" charset="-120"/>
              </a:rPr>
              <a:t>Case Study: ACE in Financial Analysis (XBRL)</a:t>
            </a:r>
            <a:endParaRPr lang="en-US" sz="3500" dirty="0"/>
          </a:p>
        </p:txBody>
      </p:sp>
      <p:sp>
        <p:nvSpPr>
          <p:cNvPr id="3" name="Text 1"/>
          <p:cNvSpPr/>
          <p:nvPr/>
        </p:nvSpPr>
        <p:spPr>
          <a:xfrm>
            <a:off x="793790" y="1242060"/>
            <a:ext cx="9308783" cy="334804"/>
          </a:xfrm>
          <a:prstGeom prst="rect">
            <a:avLst/>
          </a:prstGeom>
          <a:noFill/>
          <a:ln/>
        </p:spPr>
        <p:txBody>
          <a:bodyPr wrap="none" lIns="0" tIns="0" rIns="0" bIns="0" rtlCol="0" anchor="t"/>
          <a:lstStyle/>
          <a:p>
            <a:pPr marL="0" indent="0" algn="l">
              <a:lnSpc>
                <a:spcPts val="2600"/>
              </a:lnSpc>
              <a:buNone/>
            </a:pPr>
            <a:r>
              <a:rPr lang="en-US" sz="2100" b="1" dirty="0">
                <a:solidFill>
                  <a:srgbClr val="000000"/>
                </a:solidFill>
                <a:latin typeface="Inter Bold" pitchFamily="34" charset="0"/>
                <a:ea typeface="Inter Bold" pitchFamily="34" charset="-122"/>
                <a:cs typeface="Inter Bold" pitchFamily="34" charset="-120"/>
              </a:rPr>
              <a:t>How ACE masters complex domain knowledge through division of labor</a:t>
            </a:r>
            <a:endParaRPr lang="en-US" sz="2100" dirty="0"/>
          </a:p>
        </p:txBody>
      </p:sp>
      <p:sp>
        <p:nvSpPr>
          <p:cNvPr id="4" name="Text 2"/>
          <p:cNvSpPr/>
          <p:nvPr/>
        </p:nvSpPr>
        <p:spPr>
          <a:xfrm>
            <a:off x="793790" y="1817965"/>
            <a:ext cx="13042821" cy="542925"/>
          </a:xfrm>
          <a:prstGeom prst="rect">
            <a:avLst/>
          </a:prstGeom>
          <a:noFill/>
          <a:ln/>
        </p:spPr>
        <p:txBody>
          <a:bodyPr wrap="square" lIns="0" tIns="0" rIns="0" bIns="0" rtlCol="0" anchor="t"/>
          <a:lstStyle/>
          <a:p>
            <a:pPr marL="0" indent="0" algn="l">
              <a:lnSpc>
                <a:spcPts val="2100"/>
              </a:lnSpc>
              <a:buNone/>
            </a:pPr>
            <a:r>
              <a:rPr lang="en-US" sz="1400" dirty="0">
                <a:solidFill>
                  <a:srgbClr val="272525"/>
                </a:solidFill>
                <a:latin typeface="Inter" pitchFamily="34" charset="0"/>
                <a:ea typeface="Inter" pitchFamily="34" charset="-122"/>
                <a:cs typeface="Inter" pitchFamily="34" charset="-120"/>
              </a:rPr>
              <a:t>ACE addresses complex XBRL-based reasoning by dividing labor across three specialized roles. Researchers evaluated its performance on FiNER, which involves labeling 139 financial entity types, and FormuLA, which requires numerical computation from structured filings.</a:t>
            </a:r>
            <a:endParaRPr lang="en-US" sz="1400" dirty="0"/>
          </a:p>
        </p:txBody>
      </p:sp>
      <p:sp>
        <p:nvSpPr>
          <p:cNvPr id="5" name="Shape 3"/>
          <p:cNvSpPr/>
          <p:nvPr/>
        </p:nvSpPr>
        <p:spPr>
          <a:xfrm>
            <a:off x="793790" y="2541746"/>
            <a:ext cx="4240411" cy="3080623"/>
          </a:xfrm>
          <a:prstGeom prst="roundRect">
            <a:avLst>
              <a:gd name="adj" fmla="val 2435"/>
            </a:avLst>
          </a:prstGeom>
          <a:solidFill>
            <a:srgbClr val="DADBF1"/>
          </a:solidFill>
          <a:ln w="7620">
            <a:solidFill>
              <a:srgbClr val="C0C1D7"/>
            </a:solidFill>
            <a:prstDash val="solid"/>
          </a:ln>
        </p:spPr>
        <p:txBody>
          <a:bodyPr/>
          <a:lstStyle/>
          <a:p>
            <a:endParaRPr lang="en-US"/>
          </a:p>
        </p:txBody>
      </p:sp>
      <p:sp>
        <p:nvSpPr>
          <p:cNvPr id="6" name="Shape 4"/>
          <p:cNvSpPr/>
          <p:nvPr/>
        </p:nvSpPr>
        <p:spPr>
          <a:xfrm>
            <a:off x="980003" y="2727960"/>
            <a:ext cx="535781" cy="535781"/>
          </a:xfrm>
          <a:prstGeom prst="roundRect">
            <a:avLst>
              <a:gd name="adj" fmla="val 17064968"/>
            </a:avLst>
          </a:prstGeom>
          <a:solidFill>
            <a:srgbClr val="4950BC"/>
          </a:solidFill>
          <a:ln/>
        </p:spPr>
        <p:txBody>
          <a:bodyPr/>
          <a:lstStyle/>
          <a:p>
            <a:endParaRPr lang="en-US"/>
          </a:p>
        </p:txBody>
      </p:sp>
      <p:sp>
        <p:nvSpPr>
          <p:cNvPr id="7" name="Text 5"/>
          <p:cNvSpPr/>
          <p:nvPr/>
        </p:nvSpPr>
        <p:spPr>
          <a:xfrm>
            <a:off x="980003" y="3424476"/>
            <a:ext cx="3350419" cy="278963"/>
          </a:xfrm>
          <a:prstGeom prst="rect">
            <a:avLst/>
          </a:prstGeom>
          <a:noFill/>
          <a:ln/>
        </p:spPr>
        <p:txBody>
          <a:bodyPr wrap="none" lIns="0" tIns="0" rIns="0" bIns="0" rtlCol="0" anchor="t"/>
          <a:lstStyle/>
          <a:p>
            <a:pPr marL="0" indent="0" algn="l">
              <a:lnSpc>
                <a:spcPts val="2150"/>
              </a:lnSpc>
              <a:buNone/>
            </a:pPr>
            <a:r>
              <a:rPr lang="en-US" sz="1750" b="1" dirty="0">
                <a:solidFill>
                  <a:srgbClr val="272525"/>
                </a:solidFill>
                <a:latin typeface="Inter Bold" pitchFamily="34" charset="0"/>
                <a:ea typeface="Inter Bold" pitchFamily="34" charset="-122"/>
                <a:cs typeface="Inter Bold" pitchFamily="34" charset="-120"/>
              </a:rPr>
              <a:t>The Generator: Task Execution</a:t>
            </a:r>
            <a:endParaRPr lang="en-US" sz="1750" dirty="0"/>
          </a:p>
        </p:txBody>
      </p:sp>
      <p:sp>
        <p:nvSpPr>
          <p:cNvPr id="8" name="Text 6"/>
          <p:cNvSpPr/>
          <p:nvPr/>
        </p:nvSpPr>
        <p:spPr>
          <a:xfrm>
            <a:off x="980003" y="3799880"/>
            <a:ext cx="3867983" cy="1357313"/>
          </a:xfrm>
          <a:prstGeom prst="rect">
            <a:avLst/>
          </a:prstGeom>
          <a:noFill/>
          <a:ln/>
        </p:spPr>
        <p:txBody>
          <a:bodyPr wrap="square" lIns="0" tIns="0" rIns="0" bIns="0" rtlCol="0" anchor="t"/>
          <a:lstStyle/>
          <a:p>
            <a:pPr marL="0" indent="0" algn="l">
              <a:lnSpc>
                <a:spcPts val="2100"/>
              </a:lnSpc>
              <a:buNone/>
            </a:pPr>
            <a:r>
              <a:rPr lang="en-US" sz="1400" dirty="0">
                <a:solidFill>
                  <a:srgbClr val="272525"/>
                </a:solidFill>
                <a:latin typeface="Inter" pitchFamily="34" charset="0"/>
                <a:ea typeface="Inter" pitchFamily="34" charset="-122"/>
                <a:cs typeface="Inter" pitchFamily="34" charset="-120"/>
              </a:rPr>
              <a:t>Acts as the financial analyst. Attempts FiNER and FormuLA queries using the current playbook, producing a reasoning trace that exposes calculation methods and any misapplied XBRL rules.</a:t>
            </a:r>
            <a:endParaRPr lang="en-US" sz="1400" dirty="0"/>
          </a:p>
        </p:txBody>
      </p:sp>
      <p:sp>
        <p:nvSpPr>
          <p:cNvPr id="9" name="Shape 7"/>
          <p:cNvSpPr/>
          <p:nvPr/>
        </p:nvSpPr>
        <p:spPr>
          <a:xfrm>
            <a:off x="5194935" y="2541746"/>
            <a:ext cx="4240411" cy="3080623"/>
          </a:xfrm>
          <a:prstGeom prst="roundRect">
            <a:avLst>
              <a:gd name="adj" fmla="val 2435"/>
            </a:avLst>
          </a:prstGeom>
          <a:solidFill>
            <a:srgbClr val="DADBF1"/>
          </a:solidFill>
          <a:ln w="7620">
            <a:solidFill>
              <a:srgbClr val="C0C1D7"/>
            </a:solidFill>
            <a:prstDash val="solid"/>
          </a:ln>
        </p:spPr>
        <p:txBody>
          <a:bodyPr/>
          <a:lstStyle/>
          <a:p>
            <a:endParaRPr lang="en-US"/>
          </a:p>
        </p:txBody>
      </p:sp>
      <p:sp>
        <p:nvSpPr>
          <p:cNvPr id="10" name="Shape 8"/>
          <p:cNvSpPr/>
          <p:nvPr/>
        </p:nvSpPr>
        <p:spPr>
          <a:xfrm>
            <a:off x="5381149" y="2727960"/>
            <a:ext cx="535781" cy="535781"/>
          </a:xfrm>
          <a:prstGeom prst="roundRect">
            <a:avLst>
              <a:gd name="adj" fmla="val 17064968"/>
            </a:avLst>
          </a:prstGeom>
          <a:solidFill>
            <a:srgbClr val="4950BC"/>
          </a:solidFill>
          <a:ln/>
        </p:spPr>
        <p:txBody>
          <a:bodyPr/>
          <a:lstStyle/>
          <a:p>
            <a:endParaRPr lang="en-US"/>
          </a:p>
        </p:txBody>
      </p:sp>
      <p:sp>
        <p:nvSpPr>
          <p:cNvPr id="11" name="Text 9"/>
          <p:cNvSpPr/>
          <p:nvPr/>
        </p:nvSpPr>
        <p:spPr>
          <a:xfrm>
            <a:off x="5381149" y="3424476"/>
            <a:ext cx="3867983" cy="557927"/>
          </a:xfrm>
          <a:prstGeom prst="rect">
            <a:avLst/>
          </a:prstGeom>
          <a:noFill/>
          <a:ln/>
        </p:spPr>
        <p:txBody>
          <a:bodyPr wrap="square" lIns="0" tIns="0" rIns="0" bIns="0" rtlCol="0" anchor="t"/>
          <a:lstStyle/>
          <a:p>
            <a:pPr marL="0" indent="0" algn="l">
              <a:lnSpc>
                <a:spcPts val="2150"/>
              </a:lnSpc>
              <a:buNone/>
            </a:pPr>
            <a:r>
              <a:rPr lang="en-US" sz="1750" b="1" dirty="0">
                <a:solidFill>
                  <a:srgbClr val="272525"/>
                </a:solidFill>
                <a:latin typeface="Inter Bold" pitchFamily="34" charset="0"/>
                <a:ea typeface="Inter Bold" pitchFamily="34" charset="-122"/>
                <a:cs typeface="Inter Bold" pitchFamily="34" charset="-120"/>
              </a:rPr>
              <a:t>The Reflector: Diagnosis &amp; Insight Extraction</a:t>
            </a:r>
            <a:endParaRPr lang="en-US" sz="1750" dirty="0"/>
          </a:p>
        </p:txBody>
      </p:sp>
      <p:sp>
        <p:nvSpPr>
          <p:cNvPr id="12" name="Text 10"/>
          <p:cNvSpPr/>
          <p:nvPr/>
        </p:nvSpPr>
        <p:spPr>
          <a:xfrm>
            <a:off x="5381149" y="4078843"/>
            <a:ext cx="3867983" cy="1357313"/>
          </a:xfrm>
          <a:prstGeom prst="rect">
            <a:avLst/>
          </a:prstGeom>
          <a:noFill/>
          <a:ln/>
        </p:spPr>
        <p:txBody>
          <a:bodyPr wrap="square" lIns="0" tIns="0" rIns="0" bIns="0" rtlCol="0" anchor="t"/>
          <a:lstStyle/>
          <a:p>
            <a:pPr marL="0" indent="0" algn="l">
              <a:lnSpc>
                <a:spcPts val="2100"/>
              </a:lnSpc>
              <a:buNone/>
            </a:pPr>
            <a:r>
              <a:rPr lang="en-US" sz="1400" dirty="0">
                <a:solidFill>
                  <a:srgbClr val="272525"/>
                </a:solidFill>
                <a:latin typeface="Inter" pitchFamily="34" charset="0"/>
                <a:ea typeface="Inter" pitchFamily="34" charset="-122"/>
                <a:cs typeface="Inter" pitchFamily="34" charset="-120"/>
              </a:rPr>
              <a:t>Reviews the execution trace to pinpoint exactly where the Generator went wrong. Distills errors into specific, actionable XBRL rules and financial concepts—not vague feedback.</a:t>
            </a:r>
            <a:endParaRPr lang="en-US" sz="1400" dirty="0"/>
          </a:p>
        </p:txBody>
      </p:sp>
      <p:sp>
        <p:nvSpPr>
          <p:cNvPr id="13" name="Shape 11"/>
          <p:cNvSpPr/>
          <p:nvPr/>
        </p:nvSpPr>
        <p:spPr>
          <a:xfrm>
            <a:off x="9596080" y="2541746"/>
            <a:ext cx="4240411" cy="3080623"/>
          </a:xfrm>
          <a:prstGeom prst="roundRect">
            <a:avLst>
              <a:gd name="adj" fmla="val 2435"/>
            </a:avLst>
          </a:prstGeom>
          <a:solidFill>
            <a:srgbClr val="DADBF1"/>
          </a:solidFill>
          <a:ln w="7620">
            <a:solidFill>
              <a:srgbClr val="C0C1D7"/>
            </a:solidFill>
            <a:prstDash val="solid"/>
          </a:ln>
        </p:spPr>
        <p:txBody>
          <a:bodyPr/>
          <a:lstStyle/>
          <a:p>
            <a:endParaRPr lang="en-US"/>
          </a:p>
        </p:txBody>
      </p:sp>
      <p:sp>
        <p:nvSpPr>
          <p:cNvPr id="14" name="Shape 12"/>
          <p:cNvSpPr/>
          <p:nvPr/>
        </p:nvSpPr>
        <p:spPr>
          <a:xfrm>
            <a:off x="9782294" y="2727960"/>
            <a:ext cx="535781" cy="535781"/>
          </a:xfrm>
          <a:prstGeom prst="roundRect">
            <a:avLst>
              <a:gd name="adj" fmla="val 17064968"/>
            </a:avLst>
          </a:prstGeom>
          <a:solidFill>
            <a:srgbClr val="4950BC"/>
          </a:solidFill>
          <a:ln/>
        </p:spPr>
        <p:txBody>
          <a:bodyPr/>
          <a:lstStyle/>
          <a:p>
            <a:endParaRPr lang="en-US"/>
          </a:p>
        </p:txBody>
      </p:sp>
      <p:sp>
        <p:nvSpPr>
          <p:cNvPr id="15" name="Text 13"/>
          <p:cNvSpPr/>
          <p:nvPr/>
        </p:nvSpPr>
        <p:spPr>
          <a:xfrm>
            <a:off x="9782294" y="3424476"/>
            <a:ext cx="3867983" cy="557927"/>
          </a:xfrm>
          <a:prstGeom prst="rect">
            <a:avLst/>
          </a:prstGeom>
          <a:noFill/>
          <a:ln/>
        </p:spPr>
        <p:txBody>
          <a:bodyPr wrap="square" lIns="0" tIns="0" rIns="0" bIns="0" rtlCol="0" anchor="t"/>
          <a:lstStyle/>
          <a:p>
            <a:pPr marL="0" indent="0" algn="l">
              <a:lnSpc>
                <a:spcPts val="2150"/>
              </a:lnSpc>
              <a:buNone/>
            </a:pPr>
            <a:r>
              <a:rPr lang="en-US" sz="1750" b="1" dirty="0">
                <a:solidFill>
                  <a:srgbClr val="272525"/>
                </a:solidFill>
                <a:latin typeface="Inter Bold" pitchFamily="34" charset="0"/>
                <a:ea typeface="Inter Bold" pitchFamily="34" charset="-122"/>
                <a:cs typeface="Inter Bold" pitchFamily="34" charset="-120"/>
              </a:rPr>
              <a:t>The Curator: Knowledge Preservation</a:t>
            </a:r>
            <a:endParaRPr lang="en-US" sz="1750" dirty="0"/>
          </a:p>
        </p:txBody>
      </p:sp>
      <p:sp>
        <p:nvSpPr>
          <p:cNvPr id="16" name="Text 14"/>
          <p:cNvSpPr/>
          <p:nvPr/>
        </p:nvSpPr>
        <p:spPr>
          <a:xfrm>
            <a:off x="9782294" y="4078843"/>
            <a:ext cx="3867983" cy="1085850"/>
          </a:xfrm>
          <a:prstGeom prst="rect">
            <a:avLst/>
          </a:prstGeom>
          <a:noFill/>
          <a:ln/>
        </p:spPr>
        <p:txBody>
          <a:bodyPr wrap="square" lIns="0" tIns="0" rIns="0" bIns="0" rtlCol="0" anchor="t"/>
          <a:lstStyle/>
          <a:p>
            <a:pPr marL="0" indent="0" algn="l">
              <a:lnSpc>
                <a:spcPts val="2100"/>
              </a:lnSpc>
              <a:buNone/>
            </a:pPr>
            <a:r>
              <a:rPr lang="en-US" sz="1400" dirty="0">
                <a:solidFill>
                  <a:srgbClr val="272525"/>
                </a:solidFill>
                <a:latin typeface="Inter" pitchFamily="34" charset="0"/>
                <a:ea typeface="Inter" pitchFamily="34" charset="-122"/>
                <a:cs typeface="Inter" pitchFamily="34" charset="-120"/>
              </a:rPr>
              <a:t>Files the extracted rules into permanent memory as incremental delta updates—never rewriting the full playbook. Builds a growing, precise XBRL rulebook over time.</a:t>
            </a:r>
            <a:endParaRPr lang="en-US" sz="1400" dirty="0"/>
          </a:p>
        </p:txBody>
      </p:sp>
      <p:sp>
        <p:nvSpPr>
          <p:cNvPr id="17" name="Text 15"/>
          <p:cNvSpPr/>
          <p:nvPr/>
        </p:nvSpPr>
        <p:spPr>
          <a:xfrm>
            <a:off x="1004411" y="5892522"/>
            <a:ext cx="3792260" cy="589359"/>
          </a:xfrm>
          <a:prstGeom prst="rect">
            <a:avLst/>
          </a:prstGeom>
          <a:noFill/>
          <a:ln/>
        </p:spPr>
        <p:txBody>
          <a:bodyPr wrap="none" lIns="0" tIns="0" rIns="0" bIns="0" rtlCol="0" anchor="t"/>
          <a:lstStyle/>
          <a:p>
            <a:pPr marL="0" indent="0" algn="ctr">
              <a:lnSpc>
                <a:spcPts val="4600"/>
              </a:lnSpc>
              <a:buNone/>
            </a:pPr>
            <a:r>
              <a:rPr lang="en-US" sz="4600" b="1" dirty="0">
                <a:solidFill>
                  <a:srgbClr val="272525"/>
                </a:solidFill>
                <a:latin typeface="Inter Bold" pitchFamily="34" charset="0"/>
                <a:ea typeface="Inter Bold" pitchFamily="34" charset="-122"/>
                <a:cs typeface="Inter Bold" pitchFamily="34" charset="-120"/>
              </a:rPr>
              <a:t>8.6%</a:t>
            </a:r>
            <a:endParaRPr lang="en-US" sz="4600" dirty="0"/>
          </a:p>
        </p:txBody>
      </p:sp>
      <p:sp>
        <p:nvSpPr>
          <p:cNvPr id="18" name="Text 16"/>
          <p:cNvSpPr/>
          <p:nvPr/>
        </p:nvSpPr>
        <p:spPr>
          <a:xfrm>
            <a:off x="1643658" y="6691670"/>
            <a:ext cx="2513767" cy="278963"/>
          </a:xfrm>
          <a:prstGeom prst="rect">
            <a:avLst/>
          </a:prstGeom>
          <a:noFill/>
          <a:ln/>
        </p:spPr>
        <p:txBody>
          <a:bodyPr wrap="none" lIns="0" tIns="0" rIns="0" bIns="0" rtlCol="0" anchor="t"/>
          <a:lstStyle/>
          <a:p>
            <a:pPr marL="0" indent="0" algn="ctr">
              <a:lnSpc>
                <a:spcPts val="2150"/>
              </a:lnSpc>
              <a:buNone/>
            </a:pPr>
            <a:r>
              <a:rPr lang="en-US" sz="1750" b="1" dirty="0">
                <a:solidFill>
                  <a:srgbClr val="272525"/>
                </a:solidFill>
                <a:latin typeface="Inter Bold" pitchFamily="34" charset="0"/>
                <a:ea typeface="Inter Bold" pitchFamily="34" charset="-122"/>
                <a:cs typeface="Inter Bold" pitchFamily="34" charset="-120"/>
              </a:rPr>
              <a:t>Avg. Performance Gain</a:t>
            </a:r>
            <a:endParaRPr lang="en-US" sz="1750" dirty="0"/>
          </a:p>
        </p:txBody>
      </p:sp>
      <p:sp>
        <p:nvSpPr>
          <p:cNvPr id="19" name="Text 17"/>
          <p:cNvSpPr/>
          <p:nvPr/>
        </p:nvSpPr>
        <p:spPr>
          <a:xfrm>
            <a:off x="793790" y="7067074"/>
            <a:ext cx="4213622" cy="542925"/>
          </a:xfrm>
          <a:prstGeom prst="rect">
            <a:avLst/>
          </a:prstGeom>
          <a:noFill/>
          <a:ln/>
        </p:spPr>
        <p:txBody>
          <a:bodyPr wrap="square" lIns="0" tIns="0" rIns="0" bIns="0" rtlCol="0" anchor="t"/>
          <a:lstStyle/>
          <a:p>
            <a:pPr marL="0" indent="0" algn="ctr">
              <a:lnSpc>
                <a:spcPts val="2100"/>
              </a:lnSpc>
              <a:buNone/>
            </a:pPr>
            <a:r>
              <a:rPr lang="en-US" sz="1400" dirty="0">
                <a:solidFill>
                  <a:srgbClr val="272525"/>
                </a:solidFill>
                <a:latin typeface="Inter" pitchFamily="34" charset="0"/>
                <a:ea typeface="Inter" pitchFamily="34" charset="-122"/>
                <a:cs typeface="Inter" pitchFamily="34" charset="-120"/>
              </a:rPr>
              <a:t>Over strong baselines on FiNER and FormuLA benchmarks.</a:t>
            </a:r>
            <a:endParaRPr lang="en-US" sz="1400" dirty="0"/>
          </a:p>
        </p:txBody>
      </p:sp>
      <p:sp>
        <p:nvSpPr>
          <p:cNvPr id="20" name="Text 18"/>
          <p:cNvSpPr/>
          <p:nvPr/>
        </p:nvSpPr>
        <p:spPr>
          <a:xfrm>
            <a:off x="5419011" y="5892522"/>
            <a:ext cx="3792260" cy="589359"/>
          </a:xfrm>
          <a:prstGeom prst="rect">
            <a:avLst/>
          </a:prstGeom>
          <a:noFill/>
          <a:ln/>
        </p:spPr>
        <p:txBody>
          <a:bodyPr wrap="none" lIns="0" tIns="0" rIns="0" bIns="0" rtlCol="0" anchor="t"/>
          <a:lstStyle/>
          <a:p>
            <a:pPr marL="0" indent="0" algn="ctr">
              <a:lnSpc>
                <a:spcPts val="4600"/>
              </a:lnSpc>
              <a:buNone/>
            </a:pPr>
            <a:r>
              <a:rPr lang="en-US" sz="4600" b="1" dirty="0">
                <a:solidFill>
                  <a:srgbClr val="272525"/>
                </a:solidFill>
                <a:latin typeface="Inter Bold" pitchFamily="34" charset="0"/>
                <a:ea typeface="Inter Bold" pitchFamily="34" charset="-122"/>
                <a:cs typeface="Inter Bold" pitchFamily="34" charset="-120"/>
              </a:rPr>
              <a:t>10.9%</a:t>
            </a:r>
            <a:endParaRPr lang="en-US" sz="4600" dirty="0"/>
          </a:p>
        </p:txBody>
      </p:sp>
      <p:sp>
        <p:nvSpPr>
          <p:cNvPr id="21" name="Text 19"/>
          <p:cNvSpPr/>
          <p:nvPr/>
        </p:nvSpPr>
        <p:spPr>
          <a:xfrm>
            <a:off x="6028015" y="6691670"/>
            <a:ext cx="2574131" cy="278963"/>
          </a:xfrm>
          <a:prstGeom prst="rect">
            <a:avLst/>
          </a:prstGeom>
          <a:noFill/>
          <a:ln/>
        </p:spPr>
        <p:txBody>
          <a:bodyPr wrap="none" lIns="0" tIns="0" rIns="0" bIns="0" rtlCol="0" anchor="t"/>
          <a:lstStyle/>
          <a:p>
            <a:pPr marL="0" indent="0" algn="ctr">
              <a:lnSpc>
                <a:spcPts val="2150"/>
              </a:lnSpc>
              <a:buNone/>
            </a:pPr>
            <a:r>
              <a:rPr lang="en-US" sz="1750" b="1" dirty="0">
                <a:solidFill>
                  <a:srgbClr val="272525"/>
                </a:solidFill>
                <a:latin typeface="Inter Bold" pitchFamily="34" charset="0"/>
                <a:ea typeface="Inter Bold" pitchFamily="34" charset="-122"/>
                <a:cs typeface="Inter Bold" pitchFamily="34" charset="-120"/>
              </a:rPr>
              <a:t>Offline Adaptation Lead</a:t>
            </a:r>
            <a:endParaRPr lang="en-US" sz="1750" dirty="0"/>
          </a:p>
        </p:txBody>
      </p:sp>
      <p:sp>
        <p:nvSpPr>
          <p:cNvPr id="22" name="Text 20"/>
          <p:cNvSpPr/>
          <p:nvPr/>
        </p:nvSpPr>
        <p:spPr>
          <a:xfrm>
            <a:off x="5208270" y="7067074"/>
            <a:ext cx="4213741" cy="542925"/>
          </a:xfrm>
          <a:prstGeom prst="rect">
            <a:avLst/>
          </a:prstGeom>
          <a:noFill/>
          <a:ln/>
        </p:spPr>
        <p:txBody>
          <a:bodyPr wrap="square" lIns="0" tIns="0" rIns="0" bIns="0" rtlCol="0" anchor="t"/>
          <a:lstStyle/>
          <a:p>
            <a:pPr marL="0" indent="0" algn="ctr">
              <a:lnSpc>
                <a:spcPts val="2100"/>
              </a:lnSpc>
              <a:buNone/>
            </a:pPr>
            <a:r>
              <a:rPr lang="en-US" sz="1400" dirty="0">
                <a:solidFill>
                  <a:srgbClr val="272525"/>
                </a:solidFill>
                <a:latin typeface="Inter" pitchFamily="34" charset="0"/>
                <a:ea typeface="Inter" pitchFamily="34" charset="-122"/>
                <a:cs typeface="Inter" pitchFamily="34" charset="-120"/>
              </a:rPr>
              <a:t>Surpassed ICL, MIPROv2, and GEPA during offline adaptation.</a:t>
            </a:r>
            <a:endParaRPr lang="en-US" sz="1400" dirty="0"/>
          </a:p>
        </p:txBody>
      </p:sp>
      <p:sp>
        <p:nvSpPr>
          <p:cNvPr id="23" name="Text 21"/>
          <p:cNvSpPr/>
          <p:nvPr/>
        </p:nvSpPr>
        <p:spPr>
          <a:xfrm>
            <a:off x="9833610" y="5892522"/>
            <a:ext cx="3792260" cy="589359"/>
          </a:xfrm>
          <a:prstGeom prst="rect">
            <a:avLst/>
          </a:prstGeom>
          <a:noFill/>
          <a:ln/>
        </p:spPr>
        <p:txBody>
          <a:bodyPr wrap="none" lIns="0" tIns="0" rIns="0" bIns="0" rtlCol="0" anchor="t"/>
          <a:lstStyle/>
          <a:p>
            <a:pPr marL="0" indent="0" algn="ctr">
              <a:lnSpc>
                <a:spcPts val="4600"/>
              </a:lnSpc>
              <a:buNone/>
            </a:pPr>
            <a:r>
              <a:rPr lang="en-US" sz="4600" b="1" dirty="0">
                <a:solidFill>
                  <a:srgbClr val="272525"/>
                </a:solidFill>
                <a:latin typeface="Inter Bold" pitchFamily="34" charset="0"/>
                <a:ea typeface="Inter Bold" pitchFamily="34" charset="-122"/>
                <a:cs typeface="Inter Bold" pitchFamily="34" charset="-120"/>
              </a:rPr>
              <a:t>6.2%</a:t>
            </a:r>
            <a:endParaRPr lang="en-US" sz="4600" dirty="0"/>
          </a:p>
        </p:txBody>
      </p:sp>
      <p:sp>
        <p:nvSpPr>
          <p:cNvPr id="24" name="Text 22"/>
          <p:cNvSpPr/>
          <p:nvPr/>
        </p:nvSpPr>
        <p:spPr>
          <a:xfrm>
            <a:off x="10457378" y="6691670"/>
            <a:ext cx="2544723" cy="278963"/>
          </a:xfrm>
          <a:prstGeom prst="rect">
            <a:avLst/>
          </a:prstGeom>
          <a:noFill/>
          <a:ln/>
        </p:spPr>
        <p:txBody>
          <a:bodyPr wrap="none" lIns="0" tIns="0" rIns="0" bIns="0" rtlCol="0" anchor="t"/>
          <a:lstStyle/>
          <a:p>
            <a:pPr marL="0" indent="0" algn="ctr">
              <a:lnSpc>
                <a:spcPts val="2150"/>
              </a:lnSpc>
              <a:buNone/>
            </a:pPr>
            <a:r>
              <a:rPr lang="en-US" sz="1750" b="1" dirty="0">
                <a:solidFill>
                  <a:srgbClr val="272525"/>
                </a:solidFill>
                <a:latin typeface="Inter Bold" pitchFamily="34" charset="0"/>
                <a:ea typeface="Inter Bold" pitchFamily="34" charset="-122"/>
                <a:cs typeface="Inter Bold" pitchFamily="34" charset="-120"/>
              </a:rPr>
              <a:t>Online Adaptation Lead</a:t>
            </a:r>
            <a:endParaRPr lang="en-US" sz="1750" dirty="0"/>
          </a:p>
        </p:txBody>
      </p:sp>
      <p:sp>
        <p:nvSpPr>
          <p:cNvPr id="25" name="Text 23"/>
          <p:cNvSpPr/>
          <p:nvPr/>
        </p:nvSpPr>
        <p:spPr>
          <a:xfrm>
            <a:off x="9622869" y="7067074"/>
            <a:ext cx="4213741" cy="542925"/>
          </a:xfrm>
          <a:prstGeom prst="rect">
            <a:avLst/>
          </a:prstGeom>
          <a:noFill/>
          <a:ln/>
        </p:spPr>
        <p:txBody>
          <a:bodyPr wrap="square" lIns="0" tIns="0" rIns="0" bIns="0" rtlCol="0" anchor="t"/>
          <a:lstStyle/>
          <a:p>
            <a:pPr marL="0" indent="0" algn="ctr">
              <a:lnSpc>
                <a:spcPts val="2100"/>
              </a:lnSpc>
              <a:buNone/>
            </a:pPr>
            <a:r>
              <a:rPr lang="en-US" sz="1400" dirty="0">
                <a:solidFill>
                  <a:srgbClr val="272525"/>
                </a:solidFill>
                <a:latin typeface="Inter" pitchFamily="34" charset="0"/>
                <a:ea typeface="Inter" pitchFamily="34" charset="-122"/>
                <a:cs typeface="Inter" pitchFamily="34" charset="-120"/>
              </a:rPr>
              <a:t>Exceeded Dynamic Cheatsheet and other adaptive memory methods.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9503" y="549593"/>
            <a:ext cx="11373207" cy="616744"/>
          </a:xfrm>
          <a:prstGeom prst="rect">
            <a:avLst/>
          </a:prstGeom>
          <a:noFill/>
          <a:ln/>
        </p:spPr>
        <p:txBody>
          <a:bodyPr wrap="none" lIns="0" tIns="0" rIns="0" bIns="0" rtlCol="0" anchor="t"/>
          <a:lstStyle/>
          <a:p>
            <a:pPr marL="0" indent="0" algn="l">
              <a:lnSpc>
                <a:spcPts val="4850"/>
              </a:lnSpc>
              <a:buNone/>
            </a:pPr>
            <a:r>
              <a:rPr lang="en-US" sz="3850" b="1" dirty="0">
                <a:solidFill>
                  <a:srgbClr val="000000"/>
                </a:solidFill>
                <a:latin typeface="Inter Bold" pitchFamily="34" charset="0"/>
                <a:ea typeface="Inter Bold" pitchFamily="34" charset="-122"/>
                <a:cs typeface="Inter Bold" pitchFamily="34" charset="-120"/>
              </a:rPr>
              <a:t>Case Study: AI-Powered Expense Management</a:t>
            </a:r>
            <a:endParaRPr lang="en-US" sz="3850" dirty="0"/>
          </a:p>
        </p:txBody>
      </p:sp>
      <p:sp>
        <p:nvSpPr>
          <p:cNvPr id="3" name="Text 1"/>
          <p:cNvSpPr/>
          <p:nvPr/>
        </p:nvSpPr>
        <p:spPr>
          <a:xfrm>
            <a:off x="789503" y="1244798"/>
            <a:ext cx="8137327" cy="370046"/>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Continuous improvement without costly redesign cycles</a:t>
            </a:r>
            <a:endParaRPr lang="en-US" sz="2300" dirty="0"/>
          </a:p>
        </p:txBody>
      </p:sp>
      <p:sp>
        <p:nvSpPr>
          <p:cNvPr id="4" name="Text 2"/>
          <p:cNvSpPr/>
          <p:nvPr/>
        </p:nvSpPr>
        <p:spPr>
          <a:xfrm>
            <a:off x="789503" y="1909167"/>
            <a:ext cx="13051393" cy="629841"/>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ACE refines expense categorization by learning from user corrections, such as reclassifying Uber from "Travel" to "Transport" without requiring manual system redesigns.</a:t>
            </a:r>
            <a:endParaRPr lang="en-US" sz="1550" dirty="0"/>
          </a:p>
        </p:txBody>
      </p:sp>
      <p:sp>
        <p:nvSpPr>
          <p:cNvPr id="5" name="Shape 3"/>
          <p:cNvSpPr/>
          <p:nvPr/>
        </p:nvSpPr>
        <p:spPr>
          <a:xfrm>
            <a:off x="789503" y="2759750"/>
            <a:ext cx="4219575" cy="3192304"/>
          </a:xfrm>
          <a:prstGeom prst="roundRect">
            <a:avLst>
              <a:gd name="adj" fmla="val 2597"/>
            </a:avLst>
          </a:prstGeom>
          <a:solidFill>
            <a:srgbClr val="DADBF1"/>
          </a:solidFill>
          <a:ln w="7620">
            <a:solidFill>
              <a:srgbClr val="C0C1D7"/>
            </a:solidFill>
            <a:prstDash val="solid"/>
          </a:ln>
        </p:spPr>
        <p:txBody>
          <a:bodyPr/>
          <a:lstStyle/>
          <a:p>
            <a:endParaRPr lang="en-US"/>
          </a:p>
        </p:txBody>
      </p:sp>
      <p:sp>
        <p:nvSpPr>
          <p:cNvPr id="6" name="Shape 4"/>
          <p:cNvSpPr/>
          <p:nvPr/>
        </p:nvSpPr>
        <p:spPr>
          <a:xfrm>
            <a:off x="994410" y="2964656"/>
            <a:ext cx="592098" cy="592098"/>
          </a:xfrm>
          <a:prstGeom prst="roundRect">
            <a:avLst>
              <a:gd name="adj" fmla="val 15441845"/>
            </a:avLst>
          </a:prstGeom>
          <a:solidFill>
            <a:srgbClr val="4950BC"/>
          </a:solidFill>
          <a:ln/>
        </p:spPr>
        <p:txBody>
          <a:bodyPr/>
          <a:lstStyle/>
          <a:p>
            <a:endParaRPr lang="en-US"/>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57288" y="3127534"/>
            <a:ext cx="266343" cy="266343"/>
          </a:xfrm>
          <a:prstGeom prst="rect">
            <a:avLst/>
          </a:prstGeom>
        </p:spPr>
      </p:pic>
      <p:sp>
        <p:nvSpPr>
          <p:cNvPr id="8" name="Text 5"/>
          <p:cNvSpPr/>
          <p:nvPr/>
        </p:nvSpPr>
        <p:spPr>
          <a:xfrm>
            <a:off x="994410" y="3752969"/>
            <a:ext cx="3809762" cy="616744"/>
          </a:xfrm>
          <a:prstGeom prst="rect">
            <a:avLst/>
          </a:prstGeom>
          <a:noFill/>
          <a:ln/>
        </p:spPr>
        <p:txBody>
          <a:bodyPr wrap="square" lIns="0" tIns="0" rIns="0" bIns="0" rtlCol="0" anchor="t"/>
          <a:lstStyle/>
          <a:p>
            <a:pPr marL="0" indent="0" algn="l">
              <a:lnSpc>
                <a:spcPts val="2400"/>
              </a:lnSpc>
              <a:buNone/>
            </a:pPr>
            <a:r>
              <a:rPr lang="en-US" sz="1900" b="1" dirty="0">
                <a:solidFill>
                  <a:srgbClr val="272525"/>
                </a:solidFill>
                <a:latin typeface="Inter Bold" pitchFamily="34" charset="0"/>
                <a:ea typeface="Inter Bold" pitchFamily="34" charset="-122"/>
                <a:cs typeface="Inter Bold" pitchFamily="34" charset="-120"/>
              </a:rPr>
              <a:t>The Generator: Product Behavior</a:t>
            </a:r>
            <a:endParaRPr lang="en-US" sz="1900" dirty="0"/>
          </a:p>
        </p:txBody>
      </p:sp>
      <p:sp>
        <p:nvSpPr>
          <p:cNvPr id="9" name="Text 6"/>
          <p:cNvSpPr/>
          <p:nvPr/>
        </p:nvSpPr>
        <p:spPr>
          <a:xfrm>
            <a:off x="994410" y="4487466"/>
            <a:ext cx="3809762" cy="1259681"/>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The AI categorizes transactions and generates spending insights using current rules, serving as the initial functional release.</a:t>
            </a:r>
            <a:endParaRPr lang="en-US" sz="1550" dirty="0"/>
          </a:p>
        </p:txBody>
      </p:sp>
      <p:sp>
        <p:nvSpPr>
          <p:cNvPr id="10" name="Shape 7"/>
          <p:cNvSpPr/>
          <p:nvPr/>
        </p:nvSpPr>
        <p:spPr>
          <a:xfrm>
            <a:off x="5205293" y="2759750"/>
            <a:ext cx="4219694" cy="3192304"/>
          </a:xfrm>
          <a:prstGeom prst="roundRect">
            <a:avLst>
              <a:gd name="adj" fmla="val 2597"/>
            </a:avLst>
          </a:prstGeom>
          <a:solidFill>
            <a:srgbClr val="DADBF1"/>
          </a:solidFill>
          <a:ln w="7620">
            <a:solidFill>
              <a:srgbClr val="C0C1D7"/>
            </a:solidFill>
            <a:prstDash val="solid"/>
          </a:ln>
        </p:spPr>
        <p:txBody>
          <a:bodyPr/>
          <a:lstStyle/>
          <a:p>
            <a:endParaRPr lang="en-US"/>
          </a:p>
        </p:txBody>
      </p:sp>
      <p:sp>
        <p:nvSpPr>
          <p:cNvPr id="11" name="Shape 8"/>
          <p:cNvSpPr/>
          <p:nvPr/>
        </p:nvSpPr>
        <p:spPr>
          <a:xfrm>
            <a:off x="5410200" y="2964656"/>
            <a:ext cx="592098" cy="592098"/>
          </a:xfrm>
          <a:prstGeom prst="roundRect">
            <a:avLst>
              <a:gd name="adj" fmla="val 15441845"/>
            </a:avLst>
          </a:prstGeom>
          <a:solidFill>
            <a:srgbClr val="4950BC"/>
          </a:solidFill>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73078" y="3127534"/>
            <a:ext cx="266343" cy="266343"/>
          </a:xfrm>
          <a:prstGeom prst="rect">
            <a:avLst/>
          </a:prstGeom>
        </p:spPr>
      </p:pic>
      <p:sp>
        <p:nvSpPr>
          <p:cNvPr id="13" name="Text 9"/>
          <p:cNvSpPr/>
          <p:nvPr/>
        </p:nvSpPr>
        <p:spPr>
          <a:xfrm>
            <a:off x="5410200" y="3752969"/>
            <a:ext cx="3809881" cy="616744"/>
          </a:xfrm>
          <a:prstGeom prst="rect">
            <a:avLst/>
          </a:prstGeom>
          <a:noFill/>
          <a:ln/>
        </p:spPr>
        <p:txBody>
          <a:bodyPr wrap="square" lIns="0" tIns="0" rIns="0" bIns="0" rtlCol="0" anchor="t"/>
          <a:lstStyle/>
          <a:p>
            <a:pPr marL="0" indent="0" algn="l">
              <a:lnSpc>
                <a:spcPts val="2400"/>
              </a:lnSpc>
              <a:buNone/>
            </a:pPr>
            <a:r>
              <a:rPr lang="en-US" sz="1900" b="1" dirty="0">
                <a:solidFill>
                  <a:srgbClr val="272525"/>
                </a:solidFill>
                <a:latin typeface="Inter Bold" pitchFamily="34" charset="0"/>
                <a:ea typeface="Inter Bold" pitchFamily="34" charset="-122"/>
                <a:cs typeface="Inter Bold" pitchFamily="34" charset="-120"/>
              </a:rPr>
              <a:t>The Reflector: Feedback &amp; Diagnosis</a:t>
            </a:r>
            <a:endParaRPr lang="en-US" sz="1900" dirty="0"/>
          </a:p>
        </p:txBody>
      </p:sp>
      <p:sp>
        <p:nvSpPr>
          <p:cNvPr id="14" name="Text 10"/>
          <p:cNvSpPr/>
          <p:nvPr/>
        </p:nvSpPr>
        <p:spPr>
          <a:xfrm>
            <a:off x="5410200" y="4487466"/>
            <a:ext cx="3809881" cy="1259681"/>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Analyzes user corrections to identify patterns, such as ride-sharing merchants being misclassified 42% of the time.</a:t>
            </a:r>
            <a:endParaRPr lang="en-US" sz="1550" dirty="0"/>
          </a:p>
        </p:txBody>
      </p:sp>
      <p:sp>
        <p:nvSpPr>
          <p:cNvPr id="15" name="Shape 11"/>
          <p:cNvSpPr/>
          <p:nvPr/>
        </p:nvSpPr>
        <p:spPr>
          <a:xfrm>
            <a:off x="9621203" y="2759750"/>
            <a:ext cx="4219575" cy="3192304"/>
          </a:xfrm>
          <a:prstGeom prst="roundRect">
            <a:avLst>
              <a:gd name="adj" fmla="val 2597"/>
            </a:avLst>
          </a:prstGeom>
          <a:solidFill>
            <a:srgbClr val="DADBF1"/>
          </a:solidFill>
          <a:ln w="7620">
            <a:solidFill>
              <a:srgbClr val="C0C1D7"/>
            </a:solidFill>
            <a:prstDash val="solid"/>
          </a:ln>
        </p:spPr>
        <p:txBody>
          <a:bodyPr/>
          <a:lstStyle/>
          <a:p>
            <a:endParaRPr lang="en-US"/>
          </a:p>
        </p:txBody>
      </p:sp>
      <p:sp>
        <p:nvSpPr>
          <p:cNvPr id="16" name="Shape 12"/>
          <p:cNvSpPr/>
          <p:nvPr/>
        </p:nvSpPr>
        <p:spPr>
          <a:xfrm>
            <a:off x="9826109" y="2964656"/>
            <a:ext cx="592098" cy="592098"/>
          </a:xfrm>
          <a:prstGeom prst="roundRect">
            <a:avLst>
              <a:gd name="adj" fmla="val 15441845"/>
            </a:avLst>
          </a:prstGeom>
          <a:solidFill>
            <a:srgbClr val="4950BC"/>
          </a:solidFill>
          <a:ln/>
        </p:spPr>
        <p:txBody>
          <a:bodyPr/>
          <a:lstStyle/>
          <a:p>
            <a:endParaRPr lang="en-US"/>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88987" y="3127534"/>
            <a:ext cx="266343" cy="266343"/>
          </a:xfrm>
          <a:prstGeom prst="rect">
            <a:avLst/>
          </a:prstGeom>
        </p:spPr>
      </p:pic>
      <p:sp>
        <p:nvSpPr>
          <p:cNvPr id="18" name="Text 13"/>
          <p:cNvSpPr/>
          <p:nvPr/>
        </p:nvSpPr>
        <p:spPr>
          <a:xfrm>
            <a:off x="9826109" y="3752969"/>
            <a:ext cx="3809762" cy="616744"/>
          </a:xfrm>
          <a:prstGeom prst="rect">
            <a:avLst/>
          </a:prstGeom>
          <a:noFill/>
          <a:ln/>
        </p:spPr>
        <p:txBody>
          <a:bodyPr wrap="square" lIns="0" tIns="0" rIns="0" bIns="0" rtlCol="0" anchor="t"/>
          <a:lstStyle/>
          <a:p>
            <a:pPr marL="0" indent="0" algn="l">
              <a:lnSpc>
                <a:spcPts val="2400"/>
              </a:lnSpc>
              <a:buNone/>
            </a:pPr>
            <a:r>
              <a:rPr lang="en-US" sz="1900" b="1" dirty="0">
                <a:solidFill>
                  <a:srgbClr val="272525"/>
                </a:solidFill>
                <a:latin typeface="Inter Bold" pitchFamily="34" charset="0"/>
                <a:ea typeface="Inter Bold" pitchFamily="34" charset="-122"/>
                <a:cs typeface="Inter Bold" pitchFamily="34" charset="-120"/>
              </a:rPr>
              <a:t>The Curator: Improvement Engine</a:t>
            </a:r>
            <a:endParaRPr lang="en-US" sz="1900" dirty="0"/>
          </a:p>
        </p:txBody>
      </p:sp>
      <p:sp>
        <p:nvSpPr>
          <p:cNvPr id="19" name="Text 14"/>
          <p:cNvSpPr/>
          <p:nvPr/>
        </p:nvSpPr>
        <p:spPr>
          <a:xfrm>
            <a:off x="9826109" y="4487466"/>
            <a:ext cx="3809762" cy="1259681"/>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Merges insights into the playbook as incremental updates, evolving the system continuously without full rewrites.</a:t>
            </a:r>
            <a:endParaRPr lang="en-US" sz="1550" dirty="0"/>
          </a:p>
        </p:txBody>
      </p:sp>
      <p:sp>
        <p:nvSpPr>
          <p:cNvPr id="20" name="Text 15"/>
          <p:cNvSpPr/>
          <p:nvPr/>
        </p:nvSpPr>
        <p:spPr>
          <a:xfrm>
            <a:off x="789503" y="6369010"/>
            <a:ext cx="2610445" cy="308372"/>
          </a:xfrm>
          <a:prstGeom prst="rect">
            <a:avLst/>
          </a:prstGeom>
          <a:noFill/>
          <a:ln/>
        </p:spPr>
        <p:txBody>
          <a:bodyPr wrap="none" lIns="0" tIns="0" rIns="0" bIns="0" rtlCol="0" anchor="t"/>
          <a:lstStyle/>
          <a:p>
            <a:pPr marL="0" indent="0" algn="l">
              <a:lnSpc>
                <a:spcPts val="2400"/>
              </a:lnSpc>
              <a:buNone/>
            </a:pPr>
            <a:r>
              <a:rPr lang="en-US" sz="1900" b="1" dirty="0">
                <a:solidFill>
                  <a:srgbClr val="000000"/>
                </a:solidFill>
                <a:latin typeface="Inter Bold" pitchFamily="34" charset="0"/>
                <a:ea typeface="Inter Bold" pitchFamily="34" charset="-122"/>
                <a:cs typeface="Inter Bold" pitchFamily="34" charset="-120"/>
              </a:rPr>
              <a:t>Traditional Approach:</a:t>
            </a:r>
            <a:endParaRPr lang="en-US" sz="1900" dirty="0"/>
          </a:p>
        </p:txBody>
      </p:sp>
      <p:sp>
        <p:nvSpPr>
          <p:cNvPr id="21" name="Text 16"/>
          <p:cNvSpPr/>
          <p:nvPr/>
        </p:nvSpPr>
        <p:spPr>
          <a:xfrm>
            <a:off x="789503" y="6873597"/>
            <a:ext cx="6284952" cy="314920"/>
          </a:xfrm>
          <a:prstGeom prst="rect">
            <a:avLst/>
          </a:prstGeom>
          <a:noFill/>
          <a:ln/>
        </p:spPr>
        <p:txBody>
          <a:bodyPr wrap="non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Collect feedback → redesign → release v2. Slow, lossy cycles.</a:t>
            </a:r>
            <a:endParaRPr lang="en-US" sz="1550" dirty="0"/>
          </a:p>
        </p:txBody>
      </p:sp>
      <p:sp>
        <p:nvSpPr>
          <p:cNvPr id="22" name="Text 17"/>
          <p:cNvSpPr/>
          <p:nvPr/>
        </p:nvSpPr>
        <p:spPr>
          <a:xfrm>
            <a:off x="7563564" y="6369010"/>
            <a:ext cx="2467213" cy="308372"/>
          </a:xfrm>
          <a:prstGeom prst="rect">
            <a:avLst/>
          </a:prstGeom>
          <a:noFill/>
          <a:ln/>
        </p:spPr>
        <p:txBody>
          <a:bodyPr wrap="none" lIns="0" tIns="0" rIns="0" bIns="0" rtlCol="0" anchor="t"/>
          <a:lstStyle/>
          <a:p>
            <a:pPr marL="0" indent="0" algn="l">
              <a:lnSpc>
                <a:spcPts val="2400"/>
              </a:lnSpc>
              <a:buNone/>
            </a:pPr>
            <a:r>
              <a:rPr lang="en-US" sz="1900" b="1" dirty="0">
                <a:solidFill>
                  <a:srgbClr val="000000"/>
                </a:solidFill>
                <a:latin typeface="Inter Bold" pitchFamily="34" charset="0"/>
                <a:ea typeface="Inter Bold" pitchFamily="34" charset="-122"/>
                <a:cs typeface="Inter Bold" pitchFamily="34" charset="-120"/>
              </a:rPr>
              <a:t>ACE Approach:</a:t>
            </a:r>
            <a:endParaRPr lang="en-US" sz="1900" dirty="0"/>
          </a:p>
        </p:txBody>
      </p:sp>
      <p:sp>
        <p:nvSpPr>
          <p:cNvPr id="23" name="Text 18"/>
          <p:cNvSpPr/>
          <p:nvPr/>
        </p:nvSpPr>
        <p:spPr>
          <a:xfrm>
            <a:off x="7563564" y="6873597"/>
            <a:ext cx="6284952" cy="629841"/>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Feedback is immediately structured and reused. Continuous improvement, no lost learning.</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042416"/>
            <a:ext cx="6526292"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Criteria for Implementation</a:t>
            </a:r>
            <a:endParaRPr lang="en-US" sz="3900" dirty="0"/>
          </a:p>
        </p:txBody>
      </p:sp>
      <p:sp>
        <p:nvSpPr>
          <p:cNvPr id="3" name="Text 1"/>
          <p:cNvSpPr/>
          <p:nvPr/>
        </p:nvSpPr>
        <p:spPr>
          <a:xfrm>
            <a:off x="801529" y="1960354"/>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ACE is best piloted where the following conditions already exist: they define the scope where implementation is viable and measurable.</a:t>
            </a:r>
            <a:endParaRPr lang="en-US" sz="1550" dirty="0"/>
          </a:p>
        </p:txBody>
      </p:sp>
      <p:sp>
        <p:nvSpPr>
          <p:cNvPr id="4" name="Shape 2"/>
          <p:cNvSpPr/>
          <p:nvPr/>
        </p:nvSpPr>
        <p:spPr>
          <a:xfrm>
            <a:off x="786051" y="2623596"/>
            <a:ext cx="13042821" cy="3440668"/>
          </a:xfrm>
          <a:prstGeom prst="roundRect">
            <a:avLst>
              <a:gd name="adj" fmla="val 2423"/>
            </a:avLst>
          </a:prstGeom>
          <a:noFill/>
          <a:ln w="7620">
            <a:solidFill>
              <a:srgbClr val="000000">
                <a:alpha val="8000"/>
              </a:srgbClr>
            </a:solidFill>
            <a:prstDash val="solid"/>
          </a:ln>
        </p:spPr>
        <p:txBody>
          <a:bodyPr/>
          <a:lstStyle/>
          <a:p>
            <a:endParaRPr lang="en-US"/>
          </a:p>
        </p:txBody>
      </p:sp>
      <p:sp>
        <p:nvSpPr>
          <p:cNvPr id="5" name="Shape 3"/>
          <p:cNvSpPr/>
          <p:nvPr/>
        </p:nvSpPr>
        <p:spPr>
          <a:xfrm>
            <a:off x="793671" y="2631217"/>
            <a:ext cx="13027581" cy="570905"/>
          </a:xfrm>
          <a:prstGeom prst="rect">
            <a:avLst/>
          </a:prstGeom>
          <a:solidFill>
            <a:srgbClr val="FFFFFF">
              <a:alpha val="4000"/>
            </a:srgbClr>
          </a:solidFill>
          <a:ln/>
        </p:spPr>
        <p:txBody>
          <a:bodyPr/>
          <a:lstStyle/>
          <a:p>
            <a:endParaRPr lang="en-US"/>
          </a:p>
        </p:txBody>
      </p:sp>
      <p:sp>
        <p:nvSpPr>
          <p:cNvPr id="6" name="Shape 4"/>
          <p:cNvSpPr/>
          <p:nvPr/>
        </p:nvSpPr>
        <p:spPr>
          <a:xfrm>
            <a:off x="793790" y="2631217"/>
            <a:ext cx="3672364" cy="570905"/>
          </a:xfrm>
          <a:prstGeom prst="roundRect">
            <a:avLst>
              <a:gd name="adj" fmla="val 14601"/>
            </a:avLst>
          </a:prstGeom>
          <a:solidFill>
            <a:srgbClr val="C7C9EB"/>
          </a:solidFill>
          <a:ln/>
        </p:spPr>
        <p:txBody>
          <a:bodyPr/>
          <a:lstStyle/>
          <a:p>
            <a:endParaRPr lang="en-US"/>
          </a:p>
        </p:txBody>
      </p:sp>
      <p:sp>
        <p:nvSpPr>
          <p:cNvPr id="7" name="Text 5"/>
          <p:cNvSpPr/>
          <p:nvPr/>
        </p:nvSpPr>
        <p:spPr>
          <a:xfrm>
            <a:off x="992148" y="2757899"/>
            <a:ext cx="3271838" cy="317540"/>
          </a:xfrm>
          <a:prstGeom prst="rect">
            <a:avLst/>
          </a:prstGeom>
          <a:noFill/>
          <a:ln/>
        </p:spPr>
        <p:txBody>
          <a:bodyPr wrap="non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Condition</a:t>
            </a:r>
            <a:endParaRPr lang="en-US" sz="1550" dirty="0"/>
          </a:p>
        </p:txBody>
      </p:sp>
      <p:sp>
        <p:nvSpPr>
          <p:cNvPr id="8" name="Shape 6"/>
          <p:cNvSpPr/>
          <p:nvPr/>
        </p:nvSpPr>
        <p:spPr>
          <a:xfrm>
            <a:off x="4466154" y="2631217"/>
            <a:ext cx="9355098" cy="570905"/>
          </a:xfrm>
          <a:prstGeom prst="rect">
            <a:avLst/>
          </a:prstGeom>
          <a:solidFill>
            <a:srgbClr val="C7C9EB"/>
          </a:solidFill>
          <a:ln/>
        </p:spPr>
        <p:txBody>
          <a:bodyPr/>
          <a:lstStyle/>
          <a:p>
            <a:endParaRPr lang="en-US"/>
          </a:p>
        </p:txBody>
      </p:sp>
      <p:sp>
        <p:nvSpPr>
          <p:cNvPr id="9" name="Text 7"/>
          <p:cNvSpPr/>
          <p:nvPr/>
        </p:nvSpPr>
        <p:spPr>
          <a:xfrm>
            <a:off x="4668322" y="2757899"/>
            <a:ext cx="8954572" cy="317540"/>
          </a:xfrm>
          <a:prstGeom prst="rect">
            <a:avLst/>
          </a:prstGeom>
          <a:noFill/>
          <a:ln/>
        </p:spPr>
        <p:txBody>
          <a:bodyPr wrap="non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Why It Matters</a:t>
            </a:r>
            <a:endParaRPr lang="en-US" sz="1550" dirty="0"/>
          </a:p>
        </p:txBody>
      </p:sp>
      <p:sp>
        <p:nvSpPr>
          <p:cNvPr id="10" name="Shape 8"/>
          <p:cNvSpPr/>
          <p:nvPr/>
        </p:nvSpPr>
        <p:spPr>
          <a:xfrm>
            <a:off x="793671" y="3202121"/>
            <a:ext cx="13027581" cy="570905"/>
          </a:xfrm>
          <a:prstGeom prst="rect">
            <a:avLst/>
          </a:prstGeom>
          <a:solidFill>
            <a:srgbClr val="000000">
              <a:alpha val="4000"/>
            </a:srgbClr>
          </a:solidFill>
          <a:ln/>
        </p:spPr>
        <p:txBody>
          <a:bodyPr/>
          <a:lstStyle/>
          <a:p>
            <a:endParaRPr lang="en-US"/>
          </a:p>
        </p:txBody>
      </p:sp>
      <p:sp>
        <p:nvSpPr>
          <p:cNvPr id="11" name="Shape 9"/>
          <p:cNvSpPr/>
          <p:nvPr/>
        </p:nvSpPr>
        <p:spPr>
          <a:xfrm>
            <a:off x="793790" y="3202121"/>
            <a:ext cx="3672364" cy="570905"/>
          </a:xfrm>
          <a:prstGeom prst="rect">
            <a:avLst/>
          </a:prstGeom>
          <a:solidFill>
            <a:srgbClr val="FFFFFF"/>
          </a:solidFill>
          <a:ln/>
        </p:spPr>
        <p:txBody>
          <a:bodyPr/>
          <a:lstStyle/>
          <a:p>
            <a:endParaRPr lang="en-US"/>
          </a:p>
        </p:txBody>
      </p:sp>
      <p:sp>
        <p:nvSpPr>
          <p:cNvPr id="12" name="Text 10"/>
          <p:cNvSpPr/>
          <p:nvPr/>
        </p:nvSpPr>
        <p:spPr>
          <a:xfrm>
            <a:off x="992148" y="3328804"/>
            <a:ext cx="327183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Strong CI Coverage</a:t>
            </a:r>
            <a:endParaRPr lang="en-US" sz="1550" dirty="0"/>
          </a:p>
        </p:txBody>
      </p:sp>
      <p:sp>
        <p:nvSpPr>
          <p:cNvPr id="13" name="Shape 11"/>
          <p:cNvSpPr/>
          <p:nvPr/>
        </p:nvSpPr>
        <p:spPr>
          <a:xfrm>
            <a:off x="4466154" y="3202121"/>
            <a:ext cx="9355098" cy="570905"/>
          </a:xfrm>
          <a:prstGeom prst="rect">
            <a:avLst/>
          </a:prstGeom>
          <a:solidFill>
            <a:srgbClr val="FFFFFF"/>
          </a:solidFill>
          <a:ln/>
        </p:spPr>
        <p:txBody>
          <a:bodyPr/>
          <a:lstStyle/>
          <a:p>
            <a:endParaRPr lang="en-US"/>
          </a:p>
        </p:txBody>
      </p:sp>
      <p:sp>
        <p:nvSpPr>
          <p:cNvPr id="14" name="Text 12"/>
          <p:cNvSpPr/>
          <p:nvPr/>
        </p:nvSpPr>
        <p:spPr>
          <a:xfrm>
            <a:off x="4668322" y="3328804"/>
            <a:ext cx="8954572"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Reliable, objective feedback signals for the Reflector to learn from</a:t>
            </a:r>
            <a:endParaRPr lang="en-US" sz="1550" dirty="0"/>
          </a:p>
        </p:txBody>
      </p:sp>
      <p:sp>
        <p:nvSpPr>
          <p:cNvPr id="15" name="Shape 13"/>
          <p:cNvSpPr/>
          <p:nvPr/>
        </p:nvSpPr>
        <p:spPr>
          <a:xfrm>
            <a:off x="793671" y="3773026"/>
            <a:ext cx="13027581" cy="570905"/>
          </a:xfrm>
          <a:prstGeom prst="rect">
            <a:avLst/>
          </a:prstGeom>
          <a:solidFill>
            <a:srgbClr val="FFFFFF">
              <a:alpha val="4000"/>
            </a:srgbClr>
          </a:solidFill>
          <a:ln/>
        </p:spPr>
        <p:txBody>
          <a:bodyPr/>
          <a:lstStyle/>
          <a:p>
            <a:endParaRPr lang="en-US"/>
          </a:p>
        </p:txBody>
      </p:sp>
      <p:sp>
        <p:nvSpPr>
          <p:cNvPr id="16" name="Shape 14"/>
          <p:cNvSpPr/>
          <p:nvPr/>
        </p:nvSpPr>
        <p:spPr>
          <a:xfrm>
            <a:off x="793790" y="3773026"/>
            <a:ext cx="3672364" cy="570905"/>
          </a:xfrm>
          <a:prstGeom prst="rect">
            <a:avLst/>
          </a:prstGeom>
          <a:solidFill>
            <a:srgbClr val="C7C9EB"/>
          </a:solidFill>
          <a:ln/>
        </p:spPr>
        <p:txBody>
          <a:bodyPr/>
          <a:lstStyle/>
          <a:p>
            <a:endParaRPr lang="en-US"/>
          </a:p>
        </p:txBody>
      </p:sp>
      <p:sp>
        <p:nvSpPr>
          <p:cNvPr id="17" name="Text 15"/>
          <p:cNvSpPr/>
          <p:nvPr/>
        </p:nvSpPr>
        <p:spPr>
          <a:xfrm>
            <a:off x="992148" y="3899708"/>
            <a:ext cx="327183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Repetitive Change Patterns</a:t>
            </a:r>
            <a:endParaRPr lang="en-US" sz="1550" dirty="0"/>
          </a:p>
        </p:txBody>
      </p:sp>
      <p:sp>
        <p:nvSpPr>
          <p:cNvPr id="18" name="Shape 16"/>
          <p:cNvSpPr/>
          <p:nvPr/>
        </p:nvSpPr>
        <p:spPr>
          <a:xfrm>
            <a:off x="4466154" y="3773026"/>
            <a:ext cx="9355098" cy="570905"/>
          </a:xfrm>
          <a:prstGeom prst="rect">
            <a:avLst/>
          </a:prstGeom>
          <a:solidFill>
            <a:srgbClr val="C7C9EB"/>
          </a:solidFill>
          <a:ln/>
        </p:spPr>
        <p:txBody>
          <a:bodyPr/>
          <a:lstStyle/>
          <a:p>
            <a:endParaRPr lang="en-US"/>
          </a:p>
        </p:txBody>
      </p:sp>
      <p:sp>
        <p:nvSpPr>
          <p:cNvPr id="19" name="Text 17"/>
          <p:cNvSpPr/>
          <p:nvPr/>
        </p:nvSpPr>
        <p:spPr>
          <a:xfrm>
            <a:off x="4668322" y="3899708"/>
            <a:ext cx="8954572"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High-frequency tasks where accumulated playbook rules compound in value</a:t>
            </a:r>
            <a:endParaRPr lang="en-US" sz="1550" dirty="0"/>
          </a:p>
        </p:txBody>
      </p:sp>
      <p:sp>
        <p:nvSpPr>
          <p:cNvPr id="20" name="Shape 18"/>
          <p:cNvSpPr/>
          <p:nvPr/>
        </p:nvSpPr>
        <p:spPr>
          <a:xfrm>
            <a:off x="793671" y="4343931"/>
            <a:ext cx="13027581" cy="570905"/>
          </a:xfrm>
          <a:prstGeom prst="rect">
            <a:avLst/>
          </a:prstGeom>
          <a:solidFill>
            <a:srgbClr val="000000">
              <a:alpha val="4000"/>
            </a:srgbClr>
          </a:solidFill>
          <a:ln/>
        </p:spPr>
        <p:txBody>
          <a:bodyPr/>
          <a:lstStyle/>
          <a:p>
            <a:endParaRPr lang="en-US"/>
          </a:p>
        </p:txBody>
      </p:sp>
      <p:sp>
        <p:nvSpPr>
          <p:cNvPr id="21" name="Shape 19"/>
          <p:cNvSpPr/>
          <p:nvPr/>
        </p:nvSpPr>
        <p:spPr>
          <a:xfrm>
            <a:off x="793790" y="4343931"/>
            <a:ext cx="3672364" cy="570905"/>
          </a:xfrm>
          <a:prstGeom prst="rect">
            <a:avLst/>
          </a:prstGeom>
          <a:solidFill>
            <a:srgbClr val="FFFFFF"/>
          </a:solidFill>
          <a:ln/>
        </p:spPr>
        <p:txBody>
          <a:bodyPr/>
          <a:lstStyle/>
          <a:p>
            <a:endParaRPr lang="en-US"/>
          </a:p>
        </p:txBody>
      </p:sp>
      <p:sp>
        <p:nvSpPr>
          <p:cNvPr id="22" name="Text 20"/>
          <p:cNvSpPr/>
          <p:nvPr/>
        </p:nvSpPr>
        <p:spPr>
          <a:xfrm>
            <a:off x="992148" y="4470613"/>
            <a:ext cx="327183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Low Regulatory Sensitivity</a:t>
            </a:r>
            <a:endParaRPr lang="en-US" sz="1550" dirty="0"/>
          </a:p>
        </p:txBody>
      </p:sp>
      <p:sp>
        <p:nvSpPr>
          <p:cNvPr id="23" name="Shape 21"/>
          <p:cNvSpPr/>
          <p:nvPr/>
        </p:nvSpPr>
        <p:spPr>
          <a:xfrm>
            <a:off x="4466154" y="4343931"/>
            <a:ext cx="9355098" cy="570905"/>
          </a:xfrm>
          <a:prstGeom prst="rect">
            <a:avLst/>
          </a:prstGeom>
          <a:solidFill>
            <a:srgbClr val="FFFFFF"/>
          </a:solidFill>
          <a:ln/>
        </p:spPr>
        <p:txBody>
          <a:bodyPr/>
          <a:lstStyle/>
          <a:p>
            <a:endParaRPr lang="en-US"/>
          </a:p>
        </p:txBody>
      </p:sp>
      <p:sp>
        <p:nvSpPr>
          <p:cNvPr id="24" name="Text 22"/>
          <p:cNvSpPr/>
          <p:nvPr/>
        </p:nvSpPr>
        <p:spPr>
          <a:xfrm>
            <a:off x="4668322" y="4470613"/>
            <a:ext cx="8954572"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Reduced compliance risk during the initial learning and trace-collection phase</a:t>
            </a:r>
            <a:endParaRPr lang="en-US" sz="1550" dirty="0"/>
          </a:p>
        </p:txBody>
      </p:sp>
      <p:sp>
        <p:nvSpPr>
          <p:cNvPr id="25" name="Shape 23"/>
          <p:cNvSpPr/>
          <p:nvPr/>
        </p:nvSpPr>
        <p:spPr>
          <a:xfrm>
            <a:off x="793671" y="4914835"/>
            <a:ext cx="13027581" cy="570905"/>
          </a:xfrm>
          <a:prstGeom prst="rect">
            <a:avLst/>
          </a:prstGeom>
          <a:solidFill>
            <a:srgbClr val="FFFFFF">
              <a:alpha val="4000"/>
            </a:srgbClr>
          </a:solidFill>
          <a:ln/>
        </p:spPr>
        <p:txBody>
          <a:bodyPr/>
          <a:lstStyle/>
          <a:p>
            <a:endParaRPr lang="en-US"/>
          </a:p>
        </p:txBody>
      </p:sp>
      <p:sp>
        <p:nvSpPr>
          <p:cNvPr id="26" name="Shape 24"/>
          <p:cNvSpPr/>
          <p:nvPr/>
        </p:nvSpPr>
        <p:spPr>
          <a:xfrm>
            <a:off x="793790" y="4914835"/>
            <a:ext cx="3672364" cy="570905"/>
          </a:xfrm>
          <a:prstGeom prst="rect">
            <a:avLst/>
          </a:prstGeom>
          <a:solidFill>
            <a:srgbClr val="C7C9EB"/>
          </a:solidFill>
          <a:ln/>
        </p:spPr>
        <p:txBody>
          <a:bodyPr/>
          <a:lstStyle/>
          <a:p>
            <a:endParaRPr lang="en-US"/>
          </a:p>
        </p:txBody>
      </p:sp>
      <p:sp>
        <p:nvSpPr>
          <p:cNvPr id="27" name="Text 25"/>
          <p:cNvSpPr/>
          <p:nvPr/>
        </p:nvSpPr>
        <p:spPr>
          <a:xfrm>
            <a:off x="992148" y="5041518"/>
            <a:ext cx="327183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Clear Rollback Mechanisms</a:t>
            </a:r>
            <a:endParaRPr lang="en-US" sz="1550" dirty="0"/>
          </a:p>
        </p:txBody>
      </p:sp>
      <p:sp>
        <p:nvSpPr>
          <p:cNvPr id="28" name="Shape 26"/>
          <p:cNvSpPr/>
          <p:nvPr/>
        </p:nvSpPr>
        <p:spPr>
          <a:xfrm>
            <a:off x="4466154" y="4914835"/>
            <a:ext cx="9355098" cy="570905"/>
          </a:xfrm>
          <a:prstGeom prst="rect">
            <a:avLst/>
          </a:prstGeom>
          <a:solidFill>
            <a:srgbClr val="C7C9EB"/>
          </a:solidFill>
          <a:ln/>
        </p:spPr>
        <p:txBody>
          <a:bodyPr/>
          <a:lstStyle/>
          <a:p>
            <a:endParaRPr lang="en-US"/>
          </a:p>
        </p:txBody>
      </p:sp>
      <p:sp>
        <p:nvSpPr>
          <p:cNvPr id="29" name="Text 27"/>
          <p:cNvSpPr/>
          <p:nvPr/>
        </p:nvSpPr>
        <p:spPr>
          <a:xfrm>
            <a:off x="4668322" y="5041518"/>
            <a:ext cx="8954572"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Safe recovery path if an approved playbook rule produces an unexpected outcome</a:t>
            </a:r>
            <a:endParaRPr lang="en-US" sz="1550" dirty="0"/>
          </a:p>
        </p:txBody>
      </p:sp>
      <p:sp>
        <p:nvSpPr>
          <p:cNvPr id="30" name="Shape 28"/>
          <p:cNvSpPr/>
          <p:nvPr/>
        </p:nvSpPr>
        <p:spPr>
          <a:xfrm>
            <a:off x="793671" y="5485740"/>
            <a:ext cx="13027581" cy="570905"/>
          </a:xfrm>
          <a:prstGeom prst="rect">
            <a:avLst/>
          </a:prstGeom>
          <a:solidFill>
            <a:srgbClr val="000000">
              <a:alpha val="4000"/>
            </a:srgbClr>
          </a:solidFill>
          <a:ln/>
        </p:spPr>
        <p:txBody>
          <a:bodyPr/>
          <a:lstStyle/>
          <a:p>
            <a:endParaRPr lang="en-US"/>
          </a:p>
        </p:txBody>
      </p:sp>
      <p:sp>
        <p:nvSpPr>
          <p:cNvPr id="31" name="Shape 29"/>
          <p:cNvSpPr/>
          <p:nvPr/>
        </p:nvSpPr>
        <p:spPr>
          <a:xfrm>
            <a:off x="793790" y="5485740"/>
            <a:ext cx="3672364" cy="570905"/>
          </a:xfrm>
          <a:prstGeom prst="rect">
            <a:avLst/>
          </a:prstGeom>
          <a:solidFill>
            <a:srgbClr val="FFFFFF"/>
          </a:solidFill>
          <a:ln/>
        </p:spPr>
        <p:txBody>
          <a:bodyPr/>
          <a:lstStyle/>
          <a:p>
            <a:endParaRPr lang="en-US"/>
          </a:p>
        </p:txBody>
      </p:sp>
      <p:sp>
        <p:nvSpPr>
          <p:cNvPr id="32" name="Text 30"/>
          <p:cNvSpPr/>
          <p:nvPr/>
        </p:nvSpPr>
        <p:spPr>
          <a:xfrm>
            <a:off x="992148" y="5612422"/>
            <a:ext cx="327183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Willing Reviewers</a:t>
            </a:r>
            <a:endParaRPr lang="en-US" sz="1550" dirty="0"/>
          </a:p>
        </p:txBody>
      </p:sp>
      <p:sp>
        <p:nvSpPr>
          <p:cNvPr id="33" name="Shape 31"/>
          <p:cNvSpPr/>
          <p:nvPr/>
        </p:nvSpPr>
        <p:spPr>
          <a:xfrm>
            <a:off x="4466154" y="5485740"/>
            <a:ext cx="9355098" cy="570905"/>
          </a:xfrm>
          <a:prstGeom prst="rect">
            <a:avLst/>
          </a:prstGeom>
          <a:solidFill>
            <a:srgbClr val="FFFFFF"/>
          </a:solidFill>
          <a:ln/>
        </p:spPr>
        <p:txBody>
          <a:bodyPr/>
          <a:lstStyle/>
          <a:p>
            <a:endParaRPr lang="en-US"/>
          </a:p>
        </p:txBody>
      </p:sp>
      <p:sp>
        <p:nvSpPr>
          <p:cNvPr id="34" name="Text 32"/>
          <p:cNvSpPr/>
          <p:nvPr/>
        </p:nvSpPr>
        <p:spPr>
          <a:xfrm>
            <a:off x="4668322" y="5612422"/>
            <a:ext cx="8954572"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Human oversight to validate lessons before they enter the active playbook</a:t>
            </a:r>
            <a:endParaRPr lang="en-US" sz="1550" dirty="0"/>
          </a:p>
        </p:txBody>
      </p:sp>
      <p:sp>
        <p:nvSpPr>
          <p:cNvPr id="35" name="Text 33"/>
          <p:cNvSpPr/>
          <p:nvPr/>
        </p:nvSpPr>
        <p:spPr>
          <a:xfrm>
            <a:off x="793790" y="6408063"/>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initial objective is not autonomous deployment, it is proving that ACE reduces repeated mistakes and captures engineering knowledge in a reusable, auditable way.</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042416"/>
            <a:ext cx="5150882"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Staged Rollout Model</a:t>
            </a:r>
            <a:endParaRPr lang="en-US" sz="3900" dirty="0"/>
          </a:p>
        </p:txBody>
      </p:sp>
      <p:sp>
        <p:nvSpPr>
          <p:cNvPr id="3" name="Shape 1"/>
          <p:cNvSpPr/>
          <p:nvPr/>
        </p:nvSpPr>
        <p:spPr>
          <a:xfrm>
            <a:off x="793790" y="2103120"/>
            <a:ext cx="13042821" cy="843201"/>
          </a:xfrm>
          <a:prstGeom prst="roundRect">
            <a:avLst>
              <a:gd name="adj" fmla="val 9886"/>
            </a:avLst>
          </a:prstGeom>
          <a:solidFill>
            <a:srgbClr val="C7C9EA"/>
          </a:solidFill>
          <a:ln/>
        </p:spPr>
        <p:txBody>
          <a:bodyPr/>
          <a:lstStyle/>
          <a:p>
            <a:endParaRPr lang="en-US"/>
          </a:p>
        </p:txBody>
      </p:sp>
      <p:sp>
        <p:nvSpPr>
          <p:cNvPr id="4" name="Text 2"/>
          <p:cNvSpPr/>
          <p:nvPr/>
        </p:nvSpPr>
        <p:spPr>
          <a:xfrm>
            <a:off x="992148" y="2321599"/>
            <a:ext cx="12646104"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Autonomy is earned incrementally: each level requires demonstrated reliability at the previous stage before progression is considered.</a:t>
            </a:r>
            <a:endParaRPr lang="en-US" sz="1550" dirty="0"/>
          </a:p>
        </p:txBody>
      </p:sp>
      <p:sp>
        <p:nvSpPr>
          <p:cNvPr id="5" name="Shape 3"/>
          <p:cNvSpPr/>
          <p:nvPr/>
        </p:nvSpPr>
        <p:spPr>
          <a:xfrm>
            <a:off x="793790" y="5156478"/>
            <a:ext cx="13042821" cy="22860"/>
          </a:xfrm>
          <a:prstGeom prst="roundRect">
            <a:avLst>
              <a:gd name="adj" fmla="val 364651"/>
            </a:avLst>
          </a:prstGeom>
          <a:solidFill>
            <a:srgbClr val="C0C1D7"/>
          </a:solidFill>
          <a:ln/>
        </p:spPr>
        <p:txBody>
          <a:bodyPr/>
          <a:lstStyle/>
          <a:p>
            <a:endParaRPr lang="en-US"/>
          </a:p>
        </p:txBody>
      </p:sp>
      <p:sp>
        <p:nvSpPr>
          <p:cNvPr id="6" name="Shape 4"/>
          <p:cNvSpPr/>
          <p:nvPr/>
        </p:nvSpPr>
        <p:spPr>
          <a:xfrm>
            <a:off x="3316486" y="4561165"/>
            <a:ext cx="22860" cy="595313"/>
          </a:xfrm>
          <a:prstGeom prst="roundRect">
            <a:avLst>
              <a:gd name="adj" fmla="val 364651"/>
            </a:avLst>
          </a:prstGeom>
          <a:solidFill>
            <a:srgbClr val="C0C1D7"/>
          </a:solidFill>
          <a:ln/>
        </p:spPr>
        <p:txBody>
          <a:bodyPr/>
          <a:lstStyle/>
          <a:p>
            <a:endParaRPr lang="en-US"/>
          </a:p>
        </p:txBody>
      </p:sp>
      <p:sp>
        <p:nvSpPr>
          <p:cNvPr id="7" name="Shape 5"/>
          <p:cNvSpPr/>
          <p:nvPr/>
        </p:nvSpPr>
        <p:spPr>
          <a:xfrm>
            <a:off x="3104674" y="4933236"/>
            <a:ext cx="446484" cy="446484"/>
          </a:xfrm>
          <a:prstGeom prst="roundRect">
            <a:avLst>
              <a:gd name="adj" fmla="val 18670"/>
            </a:avLst>
          </a:prstGeom>
          <a:solidFill>
            <a:srgbClr val="DADBF1"/>
          </a:solidFill>
          <a:ln w="7620">
            <a:solidFill>
              <a:srgbClr val="C0C1D7"/>
            </a:solidFill>
            <a:prstDash val="solid"/>
          </a:ln>
        </p:spPr>
        <p:txBody>
          <a:bodyPr/>
          <a:lstStyle/>
          <a:p>
            <a:endParaRPr 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9088" y="5007590"/>
            <a:ext cx="297656" cy="297656"/>
          </a:xfrm>
          <a:prstGeom prst="rect">
            <a:avLst/>
          </a:prstGeom>
        </p:spPr>
      </p:pic>
      <p:sp>
        <p:nvSpPr>
          <p:cNvPr id="9" name="Text 6"/>
          <p:cNvSpPr/>
          <p:nvPr/>
        </p:nvSpPr>
        <p:spPr>
          <a:xfrm>
            <a:off x="992148" y="3410069"/>
            <a:ext cx="4671536" cy="952619"/>
          </a:xfrm>
          <a:prstGeom prst="rect">
            <a:avLst/>
          </a:prstGeom>
          <a:noFill/>
          <a:ln/>
        </p:spPr>
        <p:txBody>
          <a:bodyPr wrap="square" lIns="0" tIns="0" rIns="0" bIns="0" rtlCol="0" anchor="t"/>
          <a:lstStyle/>
          <a:p>
            <a:pPr marL="0" indent="0" algn="ctr">
              <a:lnSpc>
                <a:spcPts val="2500"/>
              </a:lnSpc>
              <a:buNone/>
            </a:pPr>
            <a:r>
              <a:rPr lang="en-US" sz="1550" b="1" dirty="0">
                <a:solidFill>
                  <a:srgbClr val="272525"/>
                </a:solidFill>
                <a:latin typeface="Inter" pitchFamily="34" charset="0"/>
                <a:ea typeface="Inter" pitchFamily="34" charset="-122"/>
                <a:cs typeface="Inter" pitchFamily="34" charset="-120"/>
              </a:rPr>
              <a:t>Level 0: Advisory Only:</a:t>
            </a:r>
            <a:r>
              <a:rPr lang="en-US" sz="1550" dirty="0">
                <a:solidFill>
                  <a:srgbClr val="272525"/>
                </a:solidFill>
                <a:latin typeface="Inter" pitchFamily="34" charset="0"/>
                <a:ea typeface="Inter" pitchFamily="34" charset="-122"/>
                <a:cs typeface="Inter" pitchFamily="34" charset="-120"/>
              </a:rPr>
              <a:t> The agent proposes, and humans approve all actions. ACE collects traces only.</a:t>
            </a:r>
            <a:endParaRPr lang="en-US" sz="1550" dirty="0"/>
          </a:p>
        </p:txBody>
      </p:sp>
      <p:sp>
        <p:nvSpPr>
          <p:cNvPr id="10" name="Shape 7"/>
          <p:cNvSpPr/>
          <p:nvPr/>
        </p:nvSpPr>
        <p:spPr>
          <a:xfrm>
            <a:off x="5974556" y="5156478"/>
            <a:ext cx="22860" cy="595313"/>
          </a:xfrm>
          <a:prstGeom prst="roundRect">
            <a:avLst>
              <a:gd name="adj" fmla="val 364651"/>
            </a:avLst>
          </a:prstGeom>
          <a:solidFill>
            <a:srgbClr val="C0C1D7"/>
          </a:solidFill>
          <a:ln/>
        </p:spPr>
        <p:txBody>
          <a:bodyPr/>
          <a:lstStyle/>
          <a:p>
            <a:endParaRPr lang="en-US"/>
          </a:p>
        </p:txBody>
      </p:sp>
      <p:sp>
        <p:nvSpPr>
          <p:cNvPr id="11" name="Shape 8"/>
          <p:cNvSpPr/>
          <p:nvPr/>
        </p:nvSpPr>
        <p:spPr>
          <a:xfrm>
            <a:off x="5762744" y="4933236"/>
            <a:ext cx="446484" cy="446484"/>
          </a:xfrm>
          <a:prstGeom prst="roundRect">
            <a:avLst>
              <a:gd name="adj" fmla="val 18670"/>
            </a:avLst>
          </a:prstGeom>
          <a:solidFill>
            <a:srgbClr val="DADBF1"/>
          </a:solidFill>
          <a:ln w="7620">
            <a:solidFill>
              <a:srgbClr val="C0C1D7"/>
            </a:solidFill>
            <a:prstDash val="solid"/>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37158" y="5007590"/>
            <a:ext cx="297656" cy="297656"/>
          </a:xfrm>
          <a:prstGeom prst="rect">
            <a:avLst/>
          </a:prstGeom>
        </p:spPr>
      </p:pic>
      <p:sp>
        <p:nvSpPr>
          <p:cNvPr id="13" name="Text 9"/>
          <p:cNvSpPr/>
          <p:nvPr/>
        </p:nvSpPr>
        <p:spPr>
          <a:xfrm>
            <a:off x="3650218" y="5950268"/>
            <a:ext cx="4671655" cy="635079"/>
          </a:xfrm>
          <a:prstGeom prst="rect">
            <a:avLst/>
          </a:prstGeom>
          <a:noFill/>
          <a:ln/>
        </p:spPr>
        <p:txBody>
          <a:bodyPr wrap="square" lIns="0" tIns="0" rIns="0" bIns="0" rtlCol="0" anchor="t"/>
          <a:lstStyle/>
          <a:p>
            <a:pPr marL="0" indent="0" algn="ctr">
              <a:lnSpc>
                <a:spcPts val="2500"/>
              </a:lnSpc>
              <a:buNone/>
            </a:pPr>
            <a:r>
              <a:rPr lang="en-US" sz="1550" b="1" dirty="0">
                <a:solidFill>
                  <a:srgbClr val="272525"/>
                </a:solidFill>
                <a:latin typeface="Inter" pitchFamily="34" charset="0"/>
                <a:ea typeface="Inter" pitchFamily="34" charset="-122"/>
                <a:cs typeface="Inter" pitchFamily="34" charset="-120"/>
              </a:rPr>
              <a:t>Level 1: Draft PR Mode:</a:t>
            </a:r>
            <a:r>
              <a:rPr lang="en-US" sz="1550" dirty="0">
                <a:solidFill>
                  <a:srgbClr val="272525"/>
                </a:solidFill>
                <a:latin typeface="Inter" pitchFamily="34" charset="0"/>
                <a:ea typeface="Inter" pitchFamily="34" charset="-122"/>
                <a:cs typeface="Inter" pitchFamily="34" charset="-120"/>
              </a:rPr>
              <a:t> The agent opens PRs with risk notes but cannot merge.</a:t>
            </a:r>
            <a:endParaRPr lang="en-US" sz="1550" dirty="0"/>
          </a:p>
        </p:txBody>
      </p:sp>
      <p:sp>
        <p:nvSpPr>
          <p:cNvPr id="14" name="Shape 10"/>
          <p:cNvSpPr/>
          <p:nvPr/>
        </p:nvSpPr>
        <p:spPr>
          <a:xfrm>
            <a:off x="8632746" y="4561165"/>
            <a:ext cx="22860" cy="595313"/>
          </a:xfrm>
          <a:prstGeom prst="roundRect">
            <a:avLst>
              <a:gd name="adj" fmla="val 364651"/>
            </a:avLst>
          </a:prstGeom>
          <a:solidFill>
            <a:srgbClr val="C0C1D7"/>
          </a:solidFill>
          <a:ln/>
        </p:spPr>
        <p:txBody>
          <a:bodyPr/>
          <a:lstStyle/>
          <a:p>
            <a:endParaRPr lang="en-US"/>
          </a:p>
        </p:txBody>
      </p:sp>
      <p:sp>
        <p:nvSpPr>
          <p:cNvPr id="15" name="Shape 11"/>
          <p:cNvSpPr/>
          <p:nvPr/>
        </p:nvSpPr>
        <p:spPr>
          <a:xfrm>
            <a:off x="8420933" y="4933236"/>
            <a:ext cx="446484" cy="446484"/>
          </a:xfrm>
          <a:prstGeom prst="roundRect">
            <a:avLst>
              <a:gd name="adj" fmla="val 18670"/>
            </a:avLst>
          </a:prstGeom>
          <a:solidFill>
            <a:srgbClr val="DADBF1"/>
          </a:solidFill>
          <a:ln w="7620">
            <a:solidFill>
              <a:srgbClr val="C0C1D7"/>
            </a:solidFill>
            <a:prstDash val="solid"/>
          </a:ln>
        </p:spPr>
        <p:txBody>
          <a:bodyPr/>
          <a:lstStyle/>
          <a:p>
            <a:endParaRPr lang="en-US"/>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95348" y="5007590"/>
            <a:ext cx="297656" cy="297656"/>
          </a:xfrm>
          <a:prstGeom prst="rect">
            <a:avLst/>
          </a:prstGeom>
        </p:spPr>
      </p:pic>
      <p:sp>
        <p:nvSpPr>
          <p:cNvPr id="17" name="Text 12"/>
          <p:cNvSpPr/>
          <p:nvPr/>
        </p:nvSpPr>
        <p:spPr>
          <a:xfrm>
            <a:off x="6308408" y="3410069"/>
            <a:ext cx="4671655" cy="952619"/>
          </a:xfrm>
          <a:prstGeom prst="rect">
            <a:avLst/>
          </a:prstGeom>
          <a:noFill/>
          <a:ln/>
        </p:spPr>
        <p:txBody>
          <a:bodyPr wrap="square" lIns="0" tIns="0" rIns="0" bIns="0" rtlCol="0" anchor="t"/>
          <a:lstStyle/>
          <a:p>
            <a:pPr marL="0" indent="0" algn="ctr">
              <a:lnSpc>
                <a:spcPts val="2500"/>
              </a:lnSpc>
              <a:buNone/>
            </a:pPr>
            <a:r>
              <a:rPr lang="en-US" sz="1550" b="1" dirty="0">
                <a:solidFill>
                  <a:srgbClr val="272525"/>
                </a:solidFill>
                <a:latin typeface="Inter" pitchFamily="34" charset="0"/>
                <a:ea typeface="Inter" pitchFamily="34" charset="-122"/>
                <a:cs typeface="Inter" pitchFamily="34" charset="-120"/>
              </a:rPr>
              <a:t>Level 2: Scoped Auto-Merge:</a:t>
            </a:r>
            <a:r>
              <a:rPr lang="en-US" sz="1550" dirty="0">
                <a:solidFill>
                  <a:srgbClr val="272525"/>
                </a:solidFill>
                <a:latin typeface="Inter" pitchFamily="34" charset="0"/>
                <a:ea typeface="Inter" pitchFamily="34" charset="-122"/>
                <a:cs typeface="Inter" pitchFamily="34" charset="-120"/>
              </a:rPr>
              <a:t> The agent merges only low-risk changes with green CI and no regulated modules.</a:t>
            </a:r>
            <a:endParaRPr lang="en-US" sz="1550" dirty="0"/>
          </a:p>
        </p:txBody>
      </p:sp>
      <p:sp>
        <p:nvSpPr>
          <p:cNvPr id="18" name="Shape 13"/>
          <p:cNvSpPr/>
          <p:nvPr/>
        </p:nvSpPr>
        <p:spPr>
          <a:xfrm>
            <a:off x="11290935" y="5156478"/>
            <a:ext cx="22860" cy="595313"/>
          </a:xfrm>
          <a:prstGeom prst="roundRect">
            <a:avLst>
              <a:gd name="adj" fmla="val 364651"/>
            </a:avLst>
          </a:prstGeom>
          <a:solidFill>
            <a:srgbClr val="C0C1D7"/>
          </a:solidFill>
          <a:ln/>
        </p:spPr>
        <p:txBody>
          <a:bodyPr/>
          <a:lstStyle/>
          <a:p>
            <a:endParaRPr lang="en-US"/>
          </a:p>
        </p:txBody>
      </p:sp>
      <p:sp>
        <p:nvSpPr>
          <p:cNvPr id="19" name="Shape 14"/>
          <p:cNvSpPr/>
          <p:nvPr/>
        </p:nvSpPr>
        <p:spPr>
          <a:xfrm>
            <a:off x="11079123" y="4933236"/>
            <a:ext cx="446484" cy="446484"/>
          </a:xfrm>
          <a:prstGeom prst="roundRect">
            <a:avLst>
              <a:gd name="adj" fmla="val 18670"/>
            </a:avLst>
          </a:prstGeom>
          <a:solidFill>
            <a:srgbClr val="DADBF1"/>
          </a:solidFill>
          <a:ln w="7620">
            <a:solidFill>
              <a:srgbClr val="C0C1D7"/>
            </a:solidFill>
            <a:prstDash val="solid"/>
          </a:ln>
        </p:spPr>
        <p:txBody>
          <a:bodyPr/>
          <a:lstStyle/>
          <a:p>
            <a:endParaRPr lang="en-US"/>
          </a:p>
        </p:txBody>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153537" y="5007590"/>
            <a:ext cx="297656" cy="297656"/>
          </a:xfrm>
          <a:prstGeom prst="rect">
            <a:avLst/>
          </a:prstGeom>
        </p:spPr>
      </p:pic>
      <p:sp>
        <p:nvSpPr>
          <p:cNvPr id="21" name="Text 15"/>
          <p:cNvSpPr/>
          <p:nvPr/>
        </p:nvSpPr>
        <p:spPr>
          <a:xfrm>
            <a:off x="8966597" y="5950268"/>
            <a:ext cx="4671655" cy="952619"/>
          </a:xfrm>
          <a:prstGeom prst="rect">
            <a:avLst/>
          </a:prstGeom>
          <a:noFill/>
          <a:ln/>
        </p:spPr>
        <p:txBody>
          <a:bodyPr wrap="square" lIns="0" tIns="0" rIns="0" bIns="0" rtlCol="0" anchor="t"/>
          <a:lstStyle/>
          <a:p>
            <a:pPr marL="0" indent="0" algn="ctr">
              <a:lnSpc>
                <a:spcPts val="2500"/>
              </a:lnSpc>
              <a:buNone/>
            </a:pPr>
            <a:r>
              <a:rPr lang="en-US" sz="1550" b="1" dirty="0">
                <a:solidFill>
                  <a:srgbClr val="272525"/>
                </a:solidFill>
                <a:latin typeface="Inter" pitchFamily="34" charset="0"/>
                <a:ea typeface="Inter" pitchFamily="34" charset="-122"/>
                <a:cs typeface="Inter" pitchFamily="34" charset="-120"/>
              </a:rPr>
              <a:t>Level 3: Near-Autonomous Rollout:</a:t>
            </a:r>
            <a:r>
              <a:rPr lang="en-US" sz="1550" dirty="0">
                <a:solidFill>
                  <a:srgbClr val="272525"/>
                </a:solidFill>
                <a:latin typeface="Inter" pitchFamily="34" charset="0"/>
                <a:ea typeface="Inter" pitchFamily="34" charset="-122"/>
                <a:cs typeface="Inter" pitchFamily="34" charset="-120"/>
              </a:rPr>
              <a:t> The agent deploys within tightly bounded services using canary releases and automatic rollback.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042416"/>
            <a:ext cx="5123974"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Performance Metrics</a:t>
            </a:r>
            <a:endParaRPr lang="en-US" sz="3900" dirty="0"/>
          </a:p>
        </p:txBody>
      </p:sp>
      <p:sp>
        <p:nvSpPr>
          <p:cNvPr id="3" name="Text 1"/>
          <p:cNvSpPr/>
          <p:nvPr/>
        </p:nvSpPr>
        <p:spPr>
          <a:xfrm>
            <a:off x="793729" y="1843788"/>
            <a:ext cx="13042821" cy="635079"/>
          </a:xfrm>
          <a:prstGeom prst="rect">
            <a:avLst/>
          </a:prstGeom>
          <a:noFill/>
          <a:ln/>
        </p:spPr>
        <p:txBody>
          <a:bodyPr wrap="square" lIns="0" tIns="0" rIns="0" bIns="0" rtlCol="0" anchor="t"/>
          <a:lstStyle/>
          <a:p>
            <a:pPr marL="0" indent="0" algn="l">
              <a:lnSpc>
                <a:spcPts val="2500"/>
              </a:lnSpc>
              <a:buNone/>
            </a:pPr>
            <a:r>
              <a:rPr lang="en-US" sz="1550">
                <a:solidFill>
                  <a:srgbClr val="272525"/>
                </a:solidFill>
                <a:latin typeface="Inter" pitchFamily="34" charset="0"/>
                <a:ea typeface="Inter" pitchFamily="34" charset="-122"/>
                <a:cs typeface="Inter" pitchFamily="34" charset="-120"/>
              </a:rPr>
              <a:t>Success of ACE </a:t>
            </a:r>
            <a:r>
              <a:rPr lang="en-US" sz="1550" dirty="0">
                <a:solidFill>
                  <a:srgbClr val="272525"/>
                </a:solidFill>
                <a:latin typeface="Inter" pitchFamily="34" charset="0"/>
                <a:ea typeface="Inter" pitchFamily="34" charset="-122"/>
                <a:cs typeface="Inter" pitchFamily="34" charset="-120"/>
              </a:rPr>
              <a:t>framework is measured across two dimensions: the quality of engineering outcomes it produces, and the health of the playbook.</a:t>
            </a:r>
            <a:endParaRPr lang="en-US" sz="1550" dirty="0"/>
          </a:p>
        </p:txBody>
      </p:sp>
      <p:pic>
        <p:nvPicPr>
          <p:cNvPr id="4" name="Image 0" descr="preencoded.png"/>
          <p:cNvPicPr>
            <a:picLocks noChangeAspect="1"/>
          </p:cNvPicPr>
          <p:nvPr/>
        </p:nvPicPr>
        <p:blipFill>
          <a:blip r:embed="rId3"/>
          <a:stretch>
            <a:fillRect/>
          </a:stretch>
        </p:blipFill>
        <p:spPr>
          <a:xfrm>
            <a:off x="3632359" y="2484001"/>
            <a:ext cx="7365563" cy="3752731"/>
          </a:xfrm>
          <a:prstGeom prst="rect">
            <a:avLst/>
          </a:prstGeom>
        </p:spPr>
      </p:pic>
      <p:sp>
        <p:nvSpPr>
          <p:cNvPr id="5" name="Text 2"/>
          <p:cNvSpPr/>
          <p:nvPr/>
        </p:nvSpPr>
        <p:spPr>
          <a:xfrm>
            <a:off x="4339506" y="3409734"/>
            <a:ext cx="2338280" cy="733642"/>
          </a:xfrm>
          <a:prstGeom prst="rect">
            <a:avLst/>
          </a:prstGeom>
          <a:noFill/>
          <a:ln/>
        </p:spPr>
        <p:txBody>
          <a:bodyPr wrap="square" lIns="0" tIns="0" rIns="0" bIns="0" rtlCol="0" anchor="t"/>
          <a:lstStyle/>
          <a:p>
            <a:pPr marL="0" indent="0" algn="ctr">
              <a:lnSpc>
                <a:spcPts val="2850"/>
              </a:lnSpc>
              <a:buNone/>
            </a:pPr>
            <a:r>
              <a:rPr lang="en-US" sz="2300" b="1" dirty="0">
                <a:solidFill>
                  <a:srgbClr val="FFFFFF"/>
                </a:solidFill>
                <a:latin typeface="Inter Bold" pitchFamily="34" charset="0"/>
                <a:ea typeface="Inter Bold" pitchFamily="34" charset="-122"/>
                <a:cs typeface="Inter Bold" pitchFamily="34" charset="-120"/>
              </a:rPr>
              <a:t>Engineering Outcomes</a:t>
            </a:r>
            <a:endParaRPr lang="en-US" sz="2300" dirty="0"/>
          </a:p>
        </p:txBody>
      </p:sp>
      <p:sp>
        <p:nvSpPr>
          <p:cNvPr id="6" name="Text 3"/>
          <p:cNvSpPr/>
          <p:nvPr/>
        </p:nvSpPr>
        <p:spPr>
          <a:xfrm>
            <a:off x="4339506" y="4247717"/>
            <a:ext cx="2338280" cy="293457"/>
          </a:xfrm>
          <a:prstGeom prst="rect">
            <a:avLst/>
          </a:prstGeom>
          <a:noFill/>
          <a:ln/>
        </p:spPr>
        <p:txBody>
          <a:bodyPr wrap="none" lIns="0" tIns="0" rIns="0" bIns="0" rtlCol="0" anchor="t"/>
          <a:lstStyle/>
          <a:p>
            <a:pPr marL="0" indent="0" algn="ctr">
              <a:lnSpc>
                <a:spcPts val="2300"/>
              </a:lnSpc>
              <a:buNone/>
            </a:pPr>
            <a:r>
              <a:rPr lang="en-US" sz="1800" dirty="0">
                <a:solidFill>
                  <a:srgbClr val="FFFFFF"/>
                </a:solidFill>
                <a:latin typeface="Inter" pitchFamily="34" charset="0"/>
                <a:ea typeface="Inter" pitchFamily="34" charset="-122"/>
                <a:cs typeface="Inter" pitchFamily="34" charset="-120"/>
              </a:rPr>
              <a:t>Drives PR Quality,</a:t>
            </a:r>
            <a:endParaRPr lang="en-US" sz="1800" dirty="0"/>
          </a:p>
        </p:txBody>
      </p:sp>
      <p:sp>
        <p:nvSpPr>
          <p:cNvPr id="7" name="Text 4"/>
          <p:cNvSpPr/>
          <p:nvPr/>
        </p:nvSpPr>
        <p:spPr>
          <a:xfrm>
            <a:off x="4339506" y="4645514"/>
            <a:ext cx="2338280" cy="293457"/>
          </a:xfrm>
          <a:prstGeom prst="rect">
            <a:avLst/>
          </a:prstGeom>
          <a:noFill/>
          <a:ln/>
        </p:spPr>
        <p:txBody>
          <a:bodyPr wrap="none" lIns="0" tIns="0" rIns="0" bIns="0" rtlCol="0" anchor="t"/>
          <a:lstStyle/>
          <a:p>
            <a:pPr marL="0" indent="0" algn="ctr">
              <a:lnSpc>
                <a:spcPts val="2300"/>
              </a:lnSpc>
              <a:buNone/>
            </a:pPr>
            <a:r>
              <a:rPr lang="en-US" sz="1800" dirty="0">
                <a:solidFill>
                  <a:srgbClr val="FFFFFF"/>
                </a:solidFill>
                <a:latin typeface="Inter" pitchFamily="34" charset="0"/>
                <a:ea typeface="Inter" pitchFamily="34" charset="-122"/>
                <a:cs typeface="Inter" pitchFamily="34" charset="-120"/>
              </a:rPr>
              <a:t>CI Health, and</a:t>
            </a:r>
            <a:endParaRPr lang="en-US" sz="1800" dirty="0"/>
          </a:p>
        </p:txBody>
      </p:sp>
      <p:sp>
        <p:nvSpPr>
          <p:cNvPr id="8" name="Text 5"/>
          <p:cNvSpPr/>
          <p:nvPr/>
        </p:nvSpPr>
        <p:spPr>
          <a:xfrm>
            <a:off x="4339506" y="5043311"/>
            <a:ext cx="2338280" cy="293457"/>
          </a:xfrm>
          <a:prstGeom prst="rect">
            <a:avLst/>
          </a:prstGeom>
          <a:noFill/>
          <a:ln/>
        </p:spPr>
        <p:txBody>
          <a:bodyPr wrap="none" lIns="0" tIns="0" rIns="0" bIns="0" rtlCol="0" anchor="t"/>
          <a:lstStyle/>
          <a:p>
            <a:pPr marL="0" indent="0" algn="ctr">
              <a:lnSpc>
                <a:spcPts val="2300"/>
              </a:lnSpc>
              <a:buNone/>
            </a:pPr>
            <a:r>
              <a:rPr lang="en-US" sz="1800" dirty="0">
                <a:solidFill>
                  <a:srgbClr val="FFFFFF"/>
                </a:solidFill>
                <a:latin typeface="Inter" pitchFamily="34" charset="0"/>
                <a:ea typeface="Inter" pitchFamily="34" charset="-122"/>
                <a:cs typeface="Inter" pitchFamily="34" charset="-120"/>
              </a:rPr>
              <a:t>Build Performance.</a:t>
            </a:r>
            <a:endParaRPr lang="en-US" sz="1800" dirty="0"/>
          </a:p>
        </p:txBody>
      </p:sp>
      <p:sp>
        <p:nvSpPr>
          <p:cNvPr id="9" name="Text 6"/>
          <p:cNvSpPr/>
          <p:nvPr/>
        </p:nvSpPr>
        <p:spPr>
          <a:xfrm>
            <a:off x="7965328" y="3354303"/>
            <a:ext cx="2338281" cy="733642"/>
          </a:xfrm>
          <a:prstGeom prst="rect">
            <a:avLst/>
          </a:prstGeom>
          <a:noFill/>
          <a:ln/>
        </p:spPr>
        <p:txBody>
          <a:bodyPr wrap="square" lIns="0" tIns="0" rIns="0" bIns="0" rtlCol="0" anchor="t"/>
          <a:lstStyle/>
          <a:p>
            <a:pPr marL="0" indent="0" algn="ctr">
              <a:lnSpc>
                <a:spcPts val="2850"/>
              </a:lnSpc>
              <a:buNone/>
            </a:pPr>
            <a:r>
              <a:rPr lang="en-US" sz="2300" b="1" dirty="0">
                <a:solidFill>
                  <a:srgbClr val="FFFFFF"/>
                </a:solidFill>
                <a:latin typeface="Inter Bold" pitchFamily="34" charset="0"/>
                <a:ea typeface="Inter Bold" pitchFamily="34" charset="-122"/>
                <a:cs typeface="Inter Bold" pitchFamily="34" charset="-120"/>
              </a:rPr>
              <a:t>Playbook Quality</a:t>
            </a:r>
            <a:endParaRPr lang="en-US" sz="2300" dirty="0"/>
          </a:p>
        </p:txBody>
      </p:sp>
      <p:sp>
        <p:nvSpPr>
          <p:cNvPr id="10" name="Text 7"/>
          <p:cNvSpPr/>
          <p:nvPr/>
        </p:nvSpPr>
        <p:spPr>
          <a:xfrm>
            <a:off x="7965328" y="4192286"/>
            <a:ext cx="2338281" cy="1173827"/>
          </a:xfrm>
          <a:prstGeom prst="rect">
            <a:avLst/>
          </a:prstGeom>
          <a:noFill/>
          <a:ln/>
        </p:spPr>
        <p:txBody>
          <a:bodyPr wrap="square" lIns="0" tIns="0" rIns="0" bIns="0" rtlCol="0" anchor="t"/>
          <a:lstStyle/>
          <a:p>
            <a:pPr marL="0" indent="0" algn="ctr">
              <a:lnSpc>
                <a:spcPts val="2300"/>
              </a:lnSpc>
              <a:buNone/>
            </a:pPr>
            <a:r>
              <a:rPr lang="en-US" sz="1800" dirty="0">
                <a:solidFill>
                  <a:srgbClr val="FFFFFF"/>
                </a:solidFill>
                <a:latin typeface="Inter" pitchFamily="34" charset="0"/>
                <a:ea typeface="Inter" pitchFamily="34" charset="-122"/>
                <a:cs typeface="Inter" pitchFamily="34" charset="-120"/>
              </a:rPr>
              <a:t>Influences Playbook Health and Deployment Validation.</a:t>
            </a:r>
            <a:endParaRPr lang="en-US" sz="1800" dirty="0"/>
          </a:p>
        </p:txBody>
      </p:sp>
      <p:sp>
        <p:nvSpPr>
          <p:cNvPr id="11" name="Shape 8"/>
          <p:cNvSpPr/>
          <p:nvPr/>
        </p:nvSpPr>
        <p:spPr>
          <a:xfrm>
            <a:off x="793790" y="6459974"/>
            <a:ext cx="13042821" cy="1160740"/>
          </a:xfrm>
          <a:prstGeom prst="roundRect">
            <a:avLst>
              <a:gd name="adj" fmla="val 7182"/>
            </a:avLst>
          </a:prstGeom>
          <a:solidFill>
            <a:srgbClr val="C7C9EA"/>
          </a:solidFill>
          <a:ln/>
        </p:spPr>
        <p:txBody>
          <a:bodyPr/>
          <a:lstStyle/>
          <a:p>
            <a:endParaRPr lang="en-US"/>
          </a:p>
        </p:txBody>
      </p:sp>
      <p:sp>
        <p:nvSpPr>
          <p:cNvPr id="12" name="Text 9"/>
          <p:cNvSpPr/>
          <p:nvPr/>
        </p:nvSpPr>
        <p:spPr>
          <a:xfrm>
            <a:off x="992148" y="6707862"/>
            <a:ext cx="12646104" cy="63507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Inter" pitchFamily="34" charset="0"/>
                <a:ea typeface="Inter" pitchFamily="34" charset="-122"/>
                <a:cs typeface="Inter" pitchFamily="34" charset="-120"/>
              </a:rPr>
              <a:t>The ACE paper reports strong benchmark gains, but enterprise value is realized only when those gains translate into safer, cheaper, and faster engineering outcomes in production.</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042416"/>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References</a:t>
            </a:r>
            <a:endParaRPr lang="en-US" sz="3900" dirty="0"/>
          </a:p>
        </p:txBody>
      </p:sp>
      <p:sp>
        <p:nvSpPr>
          <p:cNvPr id="3" name="Shape 1"/>
          <p:cNvSpPr/>
          <p:nvPr/>
        </p:nvSpPr>
        <p:spPr>
          <a:xfrm>
            <a:off x="793790" y="2479834"/>
            <a:ext cx="99179" cy="99179"/>
          </a:xfrm>
          <a:prstGeom prst="roundRect">
            <a:avLst>
              <a:gd name="adj" fmla="val 460985"/>
            </a:avLst>
          </a:prstGeom>
          <a:solidFill>
            <a:srgbClr val="4950BC"/>
          </a:solidFill>
          <a:ln/>
        </p:spPr>
        <p:txBody>
          <a:bodyPr/>
          <a:lstStyle/>
          <a:p>
            <a:endParaRPr lang="en-US"/>
          </a:p>
        </p:txBody>
      </p:sp>
      <p:sp>
        <p:nvSpPr>
          <p:cNvPr id="4" name="Text 2"/>
          <p:cNvSpPr/>
          <p:nvPr/>
        </p:nvSpPr>
        <p:spPr>
          <a:xfrm>
            <a:off x="1091327" y="2370713"/>
            <a:ext cx="6099810"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Zhang, Q., et al. (2025). </a:t>
            </a:r>
            <a:r>
              <a:rPr lang="en-US" sz="1550" i="1" dirty="0">
                <a:solidFill>
                  <a:srgbClr val="272525"/>
                </a:solidFill>
                <a:latin typeface="Inter" pitchFamily="34" charset="0"/>
                <a:ea typeface="Inter" pitchFamily="34" charset="-122"/>
                <a:cs typeface="Inter" pitchFamily="34" charset="-120"/>
              </a:rPr>
              <a:t>Agentic Context Engineering: Evolving contexts for self-improving language models.</a:t>
            </a:r>
            <a:r>
              <a:rPr lang="en-US" sz="1550" dirty="0">
                <a:solidFill>
                  <a:srgbClr val="272525"/>
                </a:solidFill>
                <a:latin typeface="Inter" pitchFamily="34" charset="0"/>
                <a:ea typeface="Inter" pitchFamily="34" charset="-122"/>
                <a:cs typeface="Inter" pitchFamily="34" charset="-120"/>
              </a:rPr>
              <a:t> arXiv. ICLR 2026 submission. </a:t>
            </a:r>
            <a:r>
              <a:rPr lang="en-US" sz="1550" u="sng" dirty="0">
                <a:solidFill>
                  <a:srgbClr val="4950BC"/>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arXiv:2510.04618</a:t>
            </a:r>
            <a:endParaRPr lang="en-US" sz="1550" dirty="0"/>
          </a:p>
        </p:txBody>
      </p:sp>
      <p:sp>
        <p:nvSpPr>
          <p:cNvPr id="5" name="Shape 3"/>
          <p:cNvSpPr/>
          <p:nvPr/>
        </p:nvSpPr>
        <p:spPr>
          <a:xfrm>
            <a:off x="7439144" y="2479834"/>
            <a:ext cx="99179" cy="99179"/>
          </a:xfrm>
          <a:prstGeom prst="roundRect">
            <a:avLst>
              <a:gd name="adj" fmla="val 460985"/>
            </a:avLst>
          </a:prstGeom>
          <a:solidFill>
            <a:srgbClr val="4950BC"/>
          </a:solidFill>
          <a:ln/>
        </p:spPr>
        <p:txBody>
          <a:bodyPr/>
          <a:lstStyle/>
          <a:p>
            <a:endParaRPr lang="en-US"/>
          </a:p>
        </p:txBody>
      </p:sp>
      <p:sp>
        <p:nvSpPr>
          <p:cNvPr id="6" name="Text 4"/>
          <p:cNvSpPr/>
          <p:nvPr/>
        </p:nvSpPr>
        <p:spPr>
          <a:xfrm>
            <a:off x="7736681" y="2370713"/>
            <a:ext cx="6099929"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Opsahl-Ong, K., et al. (2024). </a:t>
            </a:r>
            <a:r>
              <a:rPr lang="en-US" sz="1550" i="1" dirty="0">
                <a:solidFill>
                  <a:srgbClr val="272525"/>
                </a:solidFill>
                <a:latin typeface="Inter" pitchFamily="34" charset="0"/>
                <a:ea typeface="Inter" pitchFamily="34" charset="-122"/>
                <a:cs typeface="Inter" pitchFamily="34" charset="-120"/>
              </a:rPr>
              <a:t>Optimizing instructions and demonstrations for multi-stage language model programs (MIPRO).</a:t>
            </a:r>
            <a:r>
              <a:rPr lang="en-US" sz="1550" dirty="0">
                <a:solidFill>
                  <a:srgbClr val="272525"/>
                </a:solidFill>
                <a:latin typeface="Inter" pitchFamily="34" charset="0"/>
                <a:ea typeface="Inter" pitchFamily="34" charset="-122"/>
                <a:cs typeface="Inter" pitchFamily="34" charset="-120"/>
              </a:rPr>
              <a:t> EMNLP 2024. </a:t>
            </a:r>
            <a:r>
              <a:rPr lang="en-US" sz="1550" u="sng" dirty="0">
                <a:solidFill>
                  <a:srgbClr val="4950BC"/>
                </a:solidFill>
                <a:latin typeface="Inter" pitchFamily="34" charset="0"/>
                <a:ea typeface="Inter" pitchFamily="34" charset="-122"/>
                <a:cs typeface="Inter" pitchFamily="34" charset="-120"/>
                <a:hlinkClick r:id="rId4">
                  <a:extLst>
                    <a:ext uri="{A12FA001-AC4F-418D-AE19-62706E023703}">
                      <ahyp:hlinkClr xmlns:ahyp="http://schemas.microsoft.com/office/drawing/2018/hyperlinkcolor" val="tx"/>
                    </a:ext>
                  </a:extLst>
                </a:hlinkClick>
              </a:rPr>
              <a:t>ACL Anthology</a:t>
            </a:r>
            <a:endParaRPr lang="en-US" sz="1550" dirty="0"/>
          </a:p>
        </p:txBody>
      </p:sp>
      <p:sp>
        <p:nvSpPr>
          <p:cNvPr id="7" name="Shape 5"/>
          <p:cNvSpPr/>
          <p:nvPr/>
        </p:nvSpPr>
        <p:spPr>
          <a:xfrm>
            <a:off x="793790" y="3829288"/>
            <a:ext cx="99179" cy="99179"/>
          </a:xfrm>
          <a:prstGeom prst="roundRect">
            <a:avLst>
              <a:gd name="adj" fmla="val 460985"/>
            </a:avLst>
          </a:prstGeom>
          <a:solidFill>
            <a:srgbClr val="4950BC"/>
          </a:solidFill>
          <a:ln/>
        </p:spPr>
        <p:txBody>
          <a:bodyPr/>
          <a:lstStyle/>
          <a:p>
            <a:endParaRPr lang="en-US"/>
          </a:p>
        </p:txBody>
      </p:sp>
      <p:sp>
        <p:nvSpPr>
          <p:cNvPr id="8" name="Text 6"/>
          <p:cNvSpPr/>
          <p:nvPr/>
        </p:nvSpPr>
        <p:spPr>
          <a:xfrm>
            <a:off x="1091327" y="3720168"/>
            <a:ext cx="6099810"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Shinn, N., et al. (2023). </a:t>
            </a:r>
            <a:r>
              <a:rPr lang="en-US" sz="1550" i="1" dirty="0">
                <a:solidFill>
                  <a:srgbClr val="272525"/>
                </a:solidFill>
                <a:latin typeface="Inter" pitchFamily="34" charset="0"/>
                <a:ea typeface="Inter" pitchFamily="34" charset="-122"/>
                <a:cs typeface="Inter" pitchFamily="34" charset="-120"/>
              </a:rPr>
              <a:t>Reflexion: Language agents with verbal reinforcement learning.</a:t>
            </a:r>
            <a:r>
              <a:rPr lang="en-US" sz="1550" dirty="0">
                <a:solidFill>
                  <a:srgbClr val="272525"/>
                </a:solidFill>
                <a:latin typeface="Inter" pitchFamily="34" charset="0"/>
                <a:ea typeface="Inter" pitchFamily="34" charset="-122"/>
                <a:cs typeface="Inter" pitchFamily="34" charset="-120"/>
              </a:rPr>
              <a:t> NeurIPS 36. </a:t>
            </a:r>
            <a:r>
              <a:rPr lang="en-US" sz="1550" u="sng" dirty="0">
                <a:solidFill>
                  <a:srgbClr val="4950BC"/>
                </a:solidFill>
                <a:latin typeface="Inter" pitchFamily="34" charset="0"/>
                <a:ea typeface="Inter" pitchFamily="34" charset="-122"/>
                <a:cs typeface="Inter" pitchFamily="34" charset="-120"/>
                <a:hlinkClick r:id="rId5">
                  <a:extLst>
                    <a:ext uri="{A12FA001-AC4F-418D-AE19-62706E023703}">
                      <ahyp:hlinkClr xmlns:ahyp="http://schemas.microsoft.com/office/drawing/2018/hyperlinkcolor" val="tx"/>
                    </a:ext>
                  </a:extLst>
                </a:hlinkClick>
              </a:rPr>
              <a:t>arXiv:2303.11366</a:t>
            </a:r>
            <a:endParaRPr lang="en-US" sz="1550" dirty="0"/>
          </a:p>
        </p:txBody>
      </p:sp>
      <p:sp>
        <p:nvSpPr>
          <p:cNvPr id="9" name="Shape 7"/>
          <p:cNvSpPr/>
          <p:nvPr/>
        </p:nvSpPr>
        <p:spPr>
          <a:xfrm>
            <a:off x="7439144" y="3829288"/>
            <a:ext cx="99179" cy="99179"/>
          </a:xfrm>
          <a:prstGeom prst="roundRect">
            <a:avLst>
              <a:gd name="adj" fmla="val 460985"/>
            </a:avLst>
          </a:prstGeom>
          <a:solidFill>
            <a:srgbClr val="4950BC"/>
          </a:solidFill>
          <a:ln/>
        </p:spPr>
        <p:txBody>
          <a:bodyPr/>
          <a:lstStyle/>
          <a:p>
            <a:endParaRPr lang="en-US"/>
          </a:p>
        </p:txBody>
      </p:sp>
      <p:sp>
        <p:nvSpPr>
          <p:cNvPr id="10" name="Text 8"/>
          <p:cNvSpPr/>
          <p:nvPr/>
        </p:nvSpPr>
        <p:spPr>
          <a:xfrm>
            <a:off x="7736681" y="3720168"/>
            <a:ext cx="6099929"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Suzgun, M., et al. (2025). </a:t>
            </a:r>
            <a:r>
              <a:rPr lang="en-US" sz="1550" i="1" dirty="0">
                <a:solidFill>
                  <a:srgbClr val="272525"/>
                </a:solidFill>
                <a:latin typeface="Inter" pitchFamily="34" charset="0"/>
                <a:ea typeface="Inter" pitchFamily="34" charset="-122"/>
                <a:cs typeface="Inter" pitchFamily="34" charset="-120"/>
              </a:rPr>
              <a:t>Dynamic Cheatsheet: Test-time learning with adaptive memory.</a:t>
            </a:r>
            <a:r>
              <a:rPr lang="en-US" sz="1550" dirty="0">
                <a:solidFill>
                  <a:srgbClr val="272525"/>
                </a:solidFill>
                <a:latin typeface="Inter" pitchFamily="34" charset="0"/>
                <a:ea typeface="Inter" pitchFamily="34" charset="-122"/>
                <a:cs typeface="Inter" pitchFamily="34" charset="-120"/>
              </a:rPr>
              <a:t> arXiv. </a:t>
            </a:r>
            <a:r>
              <a:rPr lang="en-US" sz="1550" u="sng" dirty="0">
                <a:solidFill>
                  <a:srgbClr val="4950BC"/>
                </a:solidFill>
                <a:latin typeface="Inter" pitchFamily="34" charset="0"/>
                <a:ea typeface="Inter" pitchFamily="34" charset="-122"/>
                <a:cs typeface="Inter" pitchFamily="34" charset="-120"/>
                <a:hlinkClick r:id="rId6">
                  <a:extLst>
                    <a:ext uri="{A12FA001-AC4F-418D-AE19-62706E023703}">
                      <ahyp:hlinkClr xmlns:ahyp="http://schemas.microsoft.com/office/drawing/2018/hyperlinkcolor" val="tx"/>
                    </a:ext>
                  </a:extLst>
                </a:hlinkClick>
              </a:rPr>
              <a:t>arXiv:2504.07952</a:t>
            </a:r>
            <a:endParaRPr lang="en-US" sz="1550" dirty="0"/>
          </a:p>
        </p:txBody>
      </p:sp>
      <p:sp>
        <p:nvSpPr>
          <p:cNvPr id="11" name="Shape 9"/>
          <p:cNvSpPr/>
          <p:nvPr/>
        </p:nvSpPr>
        <p:spPr>
          <a:xfrm>
            <a:off x="793790" y="4861203"/>
            <a:ext cx="99179" cy="99179"/>
          </a:xfrm>
          <a:prstGeom prst="roundRect">
            <a:avLst>
              <a:gd name="adj" fmla="val 460985"/>
            </a:avLst>
          </a:prstGeom>
          <a:solidFill>
            <a:srgbClr val="4950BC"/>
          </a:solidFill>
          <a:ln/>
        </p:spPr>
        <p:txBody>
          <a:bodyPr/>
          <a:lstStyle/>
          <a:p>
            <a:endParaRPr lang="en-US"/>
          </a:p>
        </p:txBody>
      </p:sp>
      <p:sp>
        <p:nvSpPr>
          <p:cNvPr id="12" name="Text 10"/>
          <p:cNvSpPr/>
          <p:nvPr/>
        </p:nvSpPr>
        <p:spPr>
          <a:xfrm>
            <a:off x="1091327" y="4752082"/>
            <a:ext cx="6099810"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Wang, X., et al. (2024). </a:t>
            </a:r>
            <a:r>
              <a:rPr lang="en-US" sz="1550" i="1" dirty="0">
                <a:solidFill>
                  <a:srgbClr val="272525"/>
                </a:solidFill>
                <a:latin typeface="Inter" pitchFamily="34" charset="0"/>
                <a:ea typeface="Inter" pitchFamily="34" charset="-122"/>
                <a:cs typeface="Inter" pitchFamily="34" charset="-120"/>
              </a:rPr>
              <a:t>Executable code actions elicit better LLM agents (CodeAct).</a:t>
            </a:r>
            <a:r>
              <a:rPr lang="en-US" sz="1550" dirty="0">
                <a:solidFill>
                  <a:srgbClr val="272525"/>
                </a:solidFill>
                <a:latin typeface="Inter" pitchFamily="34" charset="0"/>
                <a:ea typeface="Inter" pitchFamily="34" charset="-122"/>
                <a:cs typeface="Inter" pitchFamily="34" charset="-120"/>
              </a:rPr>
              <a:t> ICML. </a:t>
            </a:r>
            <a:r>
              <a:rPr lang="en-US" sz="1550" u="sng" dirty="0">
                <a:solidFill>
                  <a:srgbClr val="4950BC"/>
                </a:solidFill>
                <a:latin typeface="Inter" pitchFamily="34" charset="0"/>
                <a:ea typeface="Inter" pitchFamily="34" charset="-122"/>
                <a:cs typeface="Inter" pitchFamily="34" charset="-120"/>
                <a:hlinkClick r:id="rId7">
                  <a:extLst>
                    <a:ext uri="{A12FA001-AC4F-418D-AE19-62706E023703}">
                      <ahyp:hlinkClr xmlns:ahyp="http://schemas.microsoft.com/office/drawing/2018/hyperlinkcolor" val="tx"/>
                    </a:ext>
                  </a:extLst>
                </a:hlinkClick>
              </a:rPr>
              <a:t>arXiv:2402.01030</a:t>
            </a:r>
            <a:endParaRPr lang="en-US" sz="1550" dirty="0"/>
          </a:p>
        </p:txBody>
      </p:sp>
      <p:sp>
        <p:nvSpPr>
          <p:cNvPr id="13" name="Shape 11"/>
          <p:cNvSpPr/>
          <p:nvPr/>
        </p:nvSpPr>
        <p:spPr>
          <a:xfrm>
            <a:off x="7439144" y="4861203"/>
            <a:ext cx="99179" cy="99179"/>
          </a:xfrm>
          <a:prstGeom prst="roundRect">
            <a:avLst>
              <a:gd name="adj" fmla="val 460985"/>
            </a:avLst>
          </a:prstGeom>
          <a:solidFill>
            <a:srgbClr val="4950BC"/>
          </a:solidFill>
          <a:ln/>
        </p:spPr>
        <p:txBody>
          <a:bodyPr/>
          <a:lstStyle/>
          <a:p>
            <a:endParaRPr lang="en-US"/>
          </a:p>
        </p:txBody>
      </p:sp>
      <p:sp>
        <p:nvSpPr>
          <p:cNvPr id="14" name="Text 12"/>
          <p:cNvSpPr/>
          <p:nvPr/>
        </p:nvSpPr>
        <p:spPr>
          <a:xfrm>
            <a:off x="7736681" y="4752082"/>
            <a:ext cx="6099929"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Jiang, P., et al. (2025). </a:t>
            </a:r>
            <a:r>
              <a:rPr lang="en-US" sz="1550" i="1" dirty="0">
                <a:solidFill>
                  <a:srgbClr val="272525"/>
                </a:solidFill>
                <a:latin typeface="Inter" pitchFamily="34" charset="0"/>
                <a:ea typeface="Inter" pitchFamily="34" charset="-122"/>
                <a:cs typeface="Inter" pitchFamily="34" charset="-120"/>
              </a:rPr>
              <a:t>Adaptation of agentic AI.</a:t>
            </a:r>
            <a:r>
              <a:rPr lang="en-US" sz="1550" dirty="0">
                <a:solidFill>
                  <a:srgbClr val="272525"/>
                </a:solidFill>
                <a:latin typeface="Inter" pitchFamily="34" charset="0"/>
                <a:ea typeface="Inter" pitchFamily="34" charset="-122"/>
                <a:cs typeface="Inter" pitchFamily="34" charset="-120"/>
              </a:rPr>
              <a:t> arXiv. </a:t>
            </a:r>
            <a:r>
              <a:rPr lang="en-US" sz="1550" u="sng" dirty="0">
                <a:solidFill>
                  <a:srgbClr val="4950BC"/>
                </a:solidFill>
                <a:latin typeface="Inter" pitchFamily="34" charset="0"/>
                <a:ea typeface="Inter" pitchFamily="34" charset="-122"/>
                <a:cs typeface="Inter" pitchFamily="34" charset="-120"/>
                <a:hlinkClick r:id="rId8">
                  <a:extLst>
                    <a:ext uri="{A12FA001-AC4F-418D-AE19-62706E023703}">
                      <ahyp:hlinkClr xmlns:ahyp="http://schemas.microsoft.com/office/drawing/2018/hyperlinkcolor" val="tx"/>
                    </a:ext>
                  </a:extLst>
                </a:hlinkClick>
              </a:rPr>
              <a:t>arXiv:2512.16301</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TotalTime>
  <Words>2346</Words>
  <Application>Microsoft Office PowerPoint</Application>
  <PresentationFormat>Custom</PresentationFormat>
  <Paragraphs>178</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Inter Bold</vt:lpstr>
      <vt:lpstr>Inter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Mubeen Bhatti</cp:lastModifiedBy>
  <cp:revision>4</cp:revision>
  <dcterms:created xsi:type="dcterms:W3CDTF">2026-03-16T06:16:53Z</dcterms:created>
  <dcterms:modified xsi:type="dcterms:W3CDTF">2026-03-17T17:37:46Z</dcterms:modified>
</cp:coreProperties>
</file>