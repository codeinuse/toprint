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7"/>
  </p:notesMasterIdLst>
  <p:sldIdLst>
    <p:sldId id="256" r:id="rId2"/>
    <p:sldId id="257" r:id="rId3"/>
    <p:sldId id="258" r:id="rId4"/>
    <p:sldId id="273" r:id="rId5"/>
    <p:sldId id="259" r:id="rId6"/>
    <p:sldId id="260" r:id="rId7"/>
    <p:sldId id="261" r:id="rId8"/>
    <p:sldId id="263" r:id="rId9"/>
    <p:sldId id="274" r:id="rId10"/>
    <p:sldId id="268" r:id="rId11"/>
    <p:sldId id="275" r:id="rId12"/>
    <p:sldId id="264" r:id="rId13"/>
    <p:sldId id="265" r:id="rId14"/>
    <p:sldId id="266" r:id="rId15"/>
    <p:sldId id="267" r:id="rId16"/>
  </p:sldIdLst>
  <p:sldSz cx="14630400" cy="8229600"/>
  <p:notesSz cx="8229600" cy="14630400"/>
  <p:embeddedFontLst>
    <p:embeddedFont>
      <p:font typeface="Inter" panose="02000503000000020004" pitchFamily="2" charset="0"/>
      <p:regular r:id="rId18"/>
      <p:bold r:id="rId19"/>
      <p:italic r:id="rId20"/>
      <p:boldItalic r:id="rId21"/>
    </p:embeddedFont>
    <p:embeddedFont>
      <p:font typeface="Inter Bold" panose="02000803000000020004" pitchFamily="2"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3837" autoAdjust="0"/>
  </p:normalViewPr>
  <p:slideViewPr>
    <p:cSldViewPr snapToGrid="0" snapToObjects="1">
      <p:cViewPr varScale="1">
        <p:scale>
          <a:sx n="50" d="100"/>
          <a:sy n="50" d="100"/>
        </p:scale>
        <p:origin x="168"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509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Today I would be presenting the Agenctic Context Engineering Framework </a:t>
            </a:r>
          </a:p>
          <a:p>
            <a:endParaRPr lang="en-US"/>
          </a:p>
          <a:p>
            <a:r>
              <a:rPr lang="en-US" sz="1200">
                <a:solidFill>
                  <a:srgbClr val="272525"/>
                </a:solidFill>
                <a:latin typeface="Inter" pitchFamily="34" charset="0"/>
                <a:ea typeface="Inter" pitchFamily="34" charset="-122"/>
                <a:cs typeface="Inter" pitchFamily="34" charset="-120"/>
              </a:rPr>
              <a:t>Which is a framework from Stanford, SambaNova Systems &amp; UC Berkeley that enables coding agents to self-improve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start with a simple thought experiment.</a:t>
            </a:r>
          </a:p>
          <a:p>
            <a:endParaRPr lang="en-US"/>
          </a:p>
          <a:p>
            <a:r>
              <a:rPr lang="en-US"/>
              <a:t>Imagine you’re learning a complex job. Every day, you pick up new rules, shortcuts, and things to avoid.</a:t>
            </a:r>
          </a:p>
          <a:p>
            <a:endParaRPr lang="en-US"/>
          </a:p>
          <a:p>
            <a:r>
              <a:rPr lang="en-US"/>
              <a:t>Now imagine that every time you learn something new, you’re forced to rewrite your entire training notebook from scratch.</a:t>
            </a:r>
          </a:p>
          <a:p>
            <a:endParaRPr lang="en-US"/>
          </a:p>
          <a:p>
            <a:r>
              <a:rPr lang="en-US"/>
              <a:t>Naturally, you’d start summarizing. You’d compress things, skip details, and try to keep it manageable.</a:t>
            </a:r>
          </a:p>
          <a:p>
            <a:endParaRPr lang="en-US"/>
          </a:p>
          <a:p>
            <a:r>
              <a:rPr lang="en-US"/>
              <a:t>But over time, you lose the nuance — the small but critical details that actually make you effective.</a:t>
            </a:r>
          </a:p>
          <a:p>
            <a:endParaRPr lang="en-US"/>
          </a:p>
          <a:p>
            <a:r>
              <a:rPr lang="en-US"/>
              <a:t>Eventually, you start making the same mistakes again.</a:t>
            </a:r>
          </a:p>
          <a:p>
            <a:endParaRPr lang="en-US"/>
          </a:p>
          <a:p>
            <a:r>
              <a:rPr lang="en-US"/>
              <a:t>And that’s exactly what happens with modern AI systems today.</a:t>
            </a:r>
          </a:p>
          <a:p>
            <a:endParaRPr lang="en-US"/>
          </a:p>
          <a:p>
            <a:r>
              <a:rPr lang="en-US"/>
              <a:t>Every time we rebuild context, we lose accumulated learning — and the system ends up repeating errors instead of improving.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t>ACE </a:t>
            </a:r>
            <a:r>
              <a:rPr lang="en-US"/>
              <a:t>Framwork </a:t>
            </a:r>
            <a:r>
              <a:t>solves this by changing the architecture of learning.</a:t>
            </a:r>
          </a:p>
          <a:p>
            <a:endParaRPr/>
          </a:p>
          <a:p>
            <a:r>
              <a:t>Instead of asking one model to do everything, it splits the work into three roles.</a:t>
            </a:r>
          </a:p>
          <a:p>
            <a:endParaRPr/>
          </a:p>
          <a:p>
            <a:r>
              <a:t>The Generator is like the junior developer. It reads the task, explores the repo, runs tools, and does the work.</a:t>
            </a:r>
          </a:p>
          <a:p>
            <a:endParaRPr/>
          </a:p>
          <a:p>
            <a:r>
              <a:t>The Reflector is like QA. It reviews the logs, looks at the environment feedback, and extracts the lesson.</a:t>
            </a:r>
          </a:p>
          <a:p>
            <a:endParaRPr lang="en-US"/>
          </a:p>
          <a:p>
            <a:r>
              <a:rPr lang="en-US"/>
              <a:t>Let’s look at an example. If</a:t>
            </a:r>
            <a:r>
              <a:t> the generator fails to pull 500 songs from the Spotify API, the reflector may discover that the API only returns pages of 100 results at a time. The lesson is that we need a pagination loop.</a:t>
            </a:r>
          </a:p>
          <a:p>
            <a:endParaRPr/>
          </a:p>
          <a:p>
            <a:r>
              <a:t>The Curator is like the lead architect. It takes that lesson and adds it to the master playbook as a single localized bullet point without rewriting the rest of the document.</a:t>
            </a:r>
          </a:p>
          <a:p>
            <a:endParaRPr/>
          </a:p>
          <a:p>
            <a:r>
              <a:t>That division of labor is what lets ACE learn without collapsing its own memory.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highlights the difference between two roles in the ACE framework, </a:t>
            </a:r>
          </a:p>
          <a:p>
            <a:endParaRPr lang="en-US"/>
          </a:p>
          <a:p>
            <a:r>
              <a:rPr lang="en-US"/>
              <a:t>The Generator is essentially the doer. Its job is to take the task, use the available context or playbook, and try to complete the work</a:t>
            </a:r>
          </a:p>
          <a:p>
            <a:endParaRPr lang="en-US"/>
          </a:p>
          <a:p>
            <a:r>
              <a:rPr lang="en-US"/>
              <a:t>“The Reflector plays a very different role. It is not there to redo the task. Its role is to step back, review what happened, and figure out where things went wrong, whether that was a bad assumption, a missed rule, or flawed reasoning.”</a:t>
            </a:r>
          </a:p>
          <a:p>
            <a:endParaRPr lang="en-US"/>
          </a:p>
          <a:p>
            <a:r>
              <a:rPr lang="en-US"/>
              <a:t>“A simple way to think about it is this: the Generator is like a student taking the test, and the Reflector is like a teacher grading it. The student attempts the work, but the teacher identifies the lesson that should be learned.”</a:t>
            </a:r>
          </a:p>
          <a:p>
            <a:endParaRPr lang="en-US"/>
          </a:p>
          <a:p>
            <a:r>
              <a:rPr lang="en-US"/>
              <a:t>“This separation is important because it makes the system more disciplined. One component focuses on action, and the other focuses on diagnosis. That creates a cleaner feedback loop.”</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“What makes this powerful is that the Generator creates experience, and the Reflector turns that experience into learning. So instead of failure being wasted effort, ACE converts it into something reusable.”</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big advantage of ACE is that it treats memory like a playbook rather than a single essay.</a:t>
            </a:r>
          </a:p>
          <a:p>
            <a:endParaRPr/>
          </a:p>
          <a:p>
            <a:r>
              <a:t>A playbook is modular. You can add one rule, retire one rule, or merge similar rules without touching everything else.</a:t>
            </a:r>
          </a:p>
          <a:p>
            <a:endParaRPr/>
          </a:p>
          <a:p>
            <a:r>
              <a:t>That is what incremental delta updates mean. The curator produces a tiny localized edit, not a full rewrite.</a:t>
            </a:r>
          </a:p>
          <a:p>
            <a:endParaRPr/>
          </a:p>
          <a:p>
            <a:r>
              <a:t>Then grow and refine</a:t>
            </a:r>
            <a:r>
              <a:rPr lang="en-US"/>
              <a:t>,</a:t>
            </a:r>
            <a:r>
              <a:t> keep</a:t>
            </a:r>
            <a:r>
              <a:rPr lang="en-US"/>
              <a:t>ing</a:t>
            </a:r>
            <a:r>
              <a:t> the playbook organized. It uses semantic grouping to merge similar rules </a:t>
            </a:r>
            <a:endParaRPr lang="en-US"/>
          </a:p>
          <a:p>
            <a:endParaRPr lang="en-US"/>
          </a:p>
          <a:p>
            <a:r>
              <a:rPr lang="en-US"/>
              <a:t>Lets think of it this way that</a:t>
            </a:r>
            <a:r>
              <a:t> ACE is organizing a filing cabinet, not shredding the files.</a:t>
            </a:r>
          </a:p>
          <a:p>
            <a:endParaRPr/>
          </a:p>
          <a:p>
            <a:r>
              <a:t>This also makes the memory </a:t>
            </a:r>
            <a:r>
              <a:rPr lang="en-US"/>
              <a:t>human-readable</a:t>
            </a:r>
            <a:r>
              <a:t> and auditable. Engineers, architects, or compliance teams can inspect a rule directly and delete it if it no longer applies.</a:t>
            </a:r>
          </a:p>
          <a:p>
            <a:endParaRPr/>
          </a:p>
          <a:p>
            <a:r>
              <a:t>That is why machine unlearning becomes practical. You can literally remove a bullet point instead of retraining a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this graph from the paper, t</a:t>
            </a:r>
            <a:r>
              <a:t>his is the moment that shows why monolithic context rewriting is dangerous.</a:t>
            </a:r>
          </a:p>
          <a:p>
            <a:endParaRPr/>
          </a:p>
          <a:p>
            <a:r>
              <a:rPr lang="en-US"/>
              <a:t>If we look a</a:t>
            </a:r>
            <a:r>
              <a:t>t step 60, the system had accumulated 18</a:t>
            </a:r>
            <a:r>
              <a:rPr lang="en-US"/>
              <a:t>k</a:t>
            </a:r>
            <a:r>
              <a:t> tokens of context and was performing at 6</a:t>
            </a:r>
            <a:r>
              <a:rPr lang="en-US"/>
              <a:t>7%</a:t>
            </a:r>
            <a:r>
              <a:t> percent accuracy.</a:t>
            </a:r>
            <a:r>
              <a:rPr lang="en-US"/>
              <a:t> And t</a:t>
            </a:r>
            <a:r>
              <a:t>hen a single rewrite compressed the context to 122 tokens.</a:t>
            </a:r>
          </a:p>
          <a:p>
            <a:endParaRPr/>
          </a:p>
          <a:p>
            <a:r>
              <a:rPr lang="en-US"/>
              <a:t>As you can see, the a</a:t>
            </a:r>
            <a:r>
              <a:t>ccuracy immediately dropped to 57 percent, which is worse than the baseline with no context.</a:t>
            </a:r>
          </a:p>
          <a:p>
            <a:endParaRPr/>
          </a:p>
          <a:p>
            <a:r>
              <a:rPr lang="en-US"/>
              <a:t>Note that </a:t>
            </a:r>
            <a:r>
              <a:t>this is not just a bad prompt or a bad implementation</a:t>
            </a:r>
            <a:r>
              <a:rPr lang="en-US"/>
              <a:t>, but a </a:t>
            </a:r>
            <a:r>
              <a:t>structural risk of </a:t>
            </a:r>
            <a:r>
              <a:rPr lang="en-US"/>
              <a:t>end-to-end</a:t>
            </a:r>
            <a:r>
              <a:t> context rewriting.</a:t>
            </a:r>
          </a:p>
          <a:p>
            <a:endParaRPr/>
          </a:p>
          <a:p>
            <a:r>
              <a:rPr lang="en-US"/>
              <a:t>As we all know, when </a:t>
            </a:r>
            <a:r>
              <a:t>LLMs are trained to synthesize and compress information. </a:t>
            </a:r>
            <a:r>
              <a:rPr lang="en-US"/>
              <a:t>W</a:t>
            </a:r>
            <a:r>
              <a:t>hen you force them to rewrite memory, they tend to discard the nuanced rules that actually made the agent effective.</a:t>
            </a:r>
            <a:endParaRPr lang="en-US"/>
          </a:p>
          <a:p>
            <a:endParaRPr lang="en-US"/>
          </a:p>
          <a:p>
            <a:r>
              <a:rPr lang="en-US"/>
              <a:t>ACE solves this problem by splitting the roles into three distinct agents which update the playbook incremental and do not perform a complete rewrite.</a:t>
            </a:r>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slide shows you a comparison with other leading frameworks in the same space. </a:t>
            </a:r>
          </a:p>
          <a:p>
            <a:endParaRPr lang="en-US"/>
          </a:p>
          <a:p>
            <a:r>
              <a:rPr lang="en-US"/>
              <a:t>Without going through too much detail </a:t>
            </a:r>
          </a:p>
          <a:p>
            <a:endParaRPr lang="en-US"/>
          </a:p>
          <a:p>
            <a:r>
              <a:t>Reflexion is useful for agents that improve through verbal feedback and episodic memory, but it does not really give you a structured enterprise playbook.</a:t>
            </a:r>
          </a:p>
          <a:p>
            <a:endParaRPr/>
          </a:p>
          <a:p>
            <a:r>
              <a:t>MIPRO is strong </a:t>
            </a:r>
            <a:r>
              <a:rPr lang="en-US"/>
              <a:t>at optimizing prompts across multi-stage language model programs, but it is still a prompt optimizer and can compress </a:t>
            </a:r>
            <a:r>
              <a:t> still compress away nuance.</a:t>
            </a:r>
          </a:p>
          <a:p>
            <a:endParaRPr/>
          </a:p>
          <a:p>
            <a:r>
              <a:rPr lang="en-US"/>
              <a:t>The advantage of ACE is that it fills the gaps in the other four frameworks.</a:t>
            </a:r>
          </a:p>
          <a:p>
            <a:endParaRPr lang="en-US"/>
          </a:p>
          <a:p>
            <a:r>
              <a:rPr lang="en-US"/>
              <a:t>------------</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Dynamic Cheatsheet is the closest conceptual predecessor. It proved that persistent adaptive memory can work, but ACE specifically addresses the weakness of monolithic memory rewriting through structured delta updates and grow and refine curation.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CodeAct shows the power of execution grounded agents in code environments. ACE complements that by giving the agent a governed, self improving memory layer.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simplest positioning is this: CodeAct provides the action capable agent. ACE gives that agent a memory that can keep improving without touching the model weights.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the results become strategically interesting.</a:t>
            </a:r>
          </a:p>
          <a:p>
            <a:endParaRPr/>
          </a:p>
          <a:p>
            <a:r>
              <a:t>Using DeepSeek</a:t>
            </a:r>
            <a:r>
              <a:rPr lang="en-US"/>
              <a:t>, which is a small open-source model, </a:t>
            </a:r>
            <a:r>
              <a:t>ACE matched IBM’s </a:t>
            </a:r>
            <a:r>
              <a:rPr lang="en-US"/>
              <a:t>top-ranked</a:t>
            </a:r>
            <a:r>
              <a:t> production agent powered by GPT</a:t>
            </a:r>
            <a:r>
              <a:rPr lang="en-US"/>
              <a:t> </a:t>
            </a:r>
            <a:r>
              <a:t>on the AppWorld leaderboard</a:t>
            </a:r>
            <a:r>
              <a:rPr lang="en-US"/>
              <a:t>, and it even slightly beat it on the hardest </a:t>
            </a:r>
            <a:r>
              <a:rPr lang="en-US">
                <a:highlight>
                  <a:srgbClr val="FFFF00"/>
                </a:highlight>
              </a:rPr>
              <a:t>test challenge split.</a:t>
            </a:r>
          </a:p>
          <a:p>
            <a:endParaRPr lang="en-US"/>
          </a:p>
          <a:p>
            <a:r>
              <a:t>That is a big deal.</a:t>
            </a:r>
          </a:p>
          <a:p>
            <a:endParaRPr/>
          </a:p>
          <a:p>
            <a:r>
              <a:t>It suggests that better memory architecture can sometimes </a:t>
            </a:r>
            <a:r>
              <a:rPr lang="en-US"/>
              <a:t>allow a smaller model to punch in the same weight class as a much larger proprietary model</a:t>
            </a:r>
            <a:r>
              <a:t>.</a:t>
            </a:r>
          </a:p>
          <a:p>
            <a:endParaRPr/>
          </a:p>
          <a:p>
            <a:r>
              <a:t>So</a:t>
            </a:r>
            <a:r>
              <a:rPr lang="en-US"/>
              <a:t>, for us, a key takeaway</a:t>
            </a:r>
            <a:r>
              <a:t> is that we may not always need a bigger model. Sometimes we need a better </a:t>
            </a:r>
            <a:r>
              <a:rPr lang="en-US"/>
              <a:t>note-taking</a:t>
            </a:r>
            <a:r>
              <a:t> system around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central paper by Zhang provides results for a benchmark test using XBRL…</a:t>
            </a:r>
          </a:p>
          <a:p>
            <a:endParaRPr lang="en-US"/>
          </a:p>
          <a:p>
            <a:r>
              <a:rPr lang="en-US"/>
              <a:t>Which is a standardized format for financial reporting, but the challenge is that similar concepts are tagged differently across filings, making consistent interpretation difficult.</a:t>
            </a:r>
          </a:p>
          <a:p>
            <a:endParaRPr lang="en-US"/>
          </a:p>
          <a:p>
            <a:r>
              <a:rPr lang="en-US"/>
              <a:t>Even though the data is structured, it’s still complex. There are hundreds of similar tags, and small selection errors can materially distort results.</a:t>
            </a:r>
          </a:p>
          <a:p>
            <a:endParaRPr lang="en-US"/>
          </a:p>
          <a:p>
            <a:r>
              <a:rPr lang="en-US"/>
              <a:t>For example, selecting ‘Total Revenue’ instead of ‘Operating Revenue’ can completely change the outcome of a margin calculation.</a:t>
            </a:r>
          </a:p>
          <a:p>
            <a:endParaRPr lang="en-US"/>
          </a:p>
          <a:p>
            <a:r>
              <a:rPr lang="en-US"/>
              <a:t>There’s also a classification challenge — closely related categories can be easily confused, and those mistakes cascade through the analysis.</a:t>
            </a:r>
          </a:p>
          <a:p>
            <a:endParaRPr lang="en-US"/>
          </a:p>
          <a:p>
            <a:r>
              <a:rPr lang="en-US"/>
              <a:t>Finally, it’s not just about extracting data — it’s about applying the right financial logic. Errors in either step lead to incorrect outputs.</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ACE addresses this by separating execution from validation. The Generator performs the extraction and calculation, while the Reflector reviews whether the right data and logic were used.</a:t>
            </a:r>
          </a:p>
          <a:p>
            <a:endParaRPr lang="en-US"/>
          </a:p>
          <a:p>
            <a:r>
              <a:rPr lang="en-US"/>
              <a:t>The result is a system that doesn’t just produce outputs, but improves accuracy over time by learning from mistakes.</a:t>
            </a:r>
          </a:p>
          <a:p>
            <a:endParaRPr lang="en-US"/>
          </a:p>
          <a:p>
            <a:r>
              <a:rPr lang="en-US"/>
              <a:t>ACE demonstrates measurable gains, delivering up to 11% improvement in adaptation performance while consistently outperforming strong baseline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case study shows how ACE can be applied to product development, not just problem solving.”</a:t>
            </a:r>
          </a:p>
          <a:p>
            <a:endParaRPr lang="en-US"/>
          </a:p>
          <a:p>
            <a:r>
              <a:rPr lang="en-US"/>
              <a:t>The Generator represents the live product — it delivers functionality based on current rules and logic.”</a:t>
            </a:r>
          </a:p>
          <a:p>
            <a:endParaRPr lang="en-US"/>
          </a:p>
          <a:p>
            <a:r>
              <a:rPr lang="en-US"/>
              <a:t>“As users interact with the product, they naturally generate feedback through corrections and behavior.”</a:t>
            </a:r>
          </a:p>
          <a:p>
            <a:endParaRPr lang="en-US"/>
          </a:p>
          <a:p>
            <a:r>
              <a:rPr lang="en-US"/>
              <a:t>“The Reflector captures that feedback and identifies patterns, turning individual corrections into structured insights.”</a:t>
            </a:r>
          </a:p>
          <a:p>
            <a:endParaRPr lang="en-US"/>
          </a:p>
          <a:p>
            <a:r>
              <a:rPr lang="en-US"/>
              <a:t>“Then the Curator integrates those insights back into the system, continuously improving the product without requiring full redesign cycles.”</a:t>
            </a:r>
          </a:p>
          <a:p>
            <a:endParaRPr lang="en-US"/>
          </a:p>
          <a:p>
            <a:r>
              <a:rPr lang="en-US"/>
              <a:t>“The key shift here is that product improvement becomes continuous rather than version-based.”</a:t>
            </a:r>
          </a:p>
          <a:p>
            <a:endParaRPr lang="en-US"/>
          </a:p>
          <a:p>
            <a:r>
              <a:rPr lang="en-US"/>
              <a:t>“Instead of waiting for major releases, the system learns and evolves in real time.”</a:t>
            </a:r>
          </a:p>
          <a:p>
            <a:endParaRPr lang="en-US"/>
          </a:p>
          <a:p>
            <a:r>
              <a:rPr lang="en-US"/>
              <a:t>“So ACE essentially creates a feedback-driven development loop, where the product gets smarter with every interaction.”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analyze how we should approach the implementation of this framework.</a:t>
            </a:r>
          </a:p>
          <a:p>
            <a:endParaRPr lang="en-US"/>
          </a:p>
          <a:p>
            <a:r>
              <a:rPr lang="en-US"/>
              <a:t>ACE should be piloted in environments where outcomes can be measured clearly and safely. </a:t>
            </a:r>
          </a:p>
          <a:p>
            <a:endParaRPr lang="en-US"/>
          </a:p>
          <a:p>
            <a:r>
              <a:rPr lang="en-US"/>
              <a:t>We should start where the conditions listed in the table are met: have CI feedback, repeated engineering tasks, and human oversight. </a:t>
            </a:r>
          </a:p>
          <a:p>
            <a:endParaRPr lang="en-US"/>
          </a:p>
          <a:p>
            <a:r>
              <a:rPr lang="en-US"/>
              <a:t>Allowing the ACE system to learn from real traces while maintaining rollback protection. </a:t>
            </a:r>
          </a:p>
          <a:p>
            <a:endParaRPr lang="en-US"/>
          </a:p>
          <a:p>
            <a:r>
              <a:rPr lang="en-US"/>
              <a:t>The initial goal should not be autonomy—it should be to demonstrate that ACE can capture engineering lessons, reduce repeated mistakes, and build a reusable, auditable knowledge base.</a:t>
            </a: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Speaking on the roll out model …  </a:t>
            </a:r>
            <a:r>
              <a:t>Autonomy should be earned gradually.</a:t>
            </a:r>
          </a:p>
          <a:p>
            <a:endParaRPr/>
          </a:p>
          <a:p>
            <a:r>
              <a:t>Level 0 is advisory only. The agent proposes actions and humans approve everything. ACE is mainly collecting traces.</a:t>
            </a:r>
          </a:p>
          <a:p>
            <a:endParaRPr/>
          </a:p>
          <a:p>
            <a:r>
              <a:t>Level 1 is draft PR mode. The agent can open pull requests with notes, but it still cannot merge.</a:t>
            </a:r>
          </a:p>
          <a:p>
            <a:endParaRPr/>
          </a:p>
          <a:p>
            <a:r>
              <a:t>Level 2 is scoped auto merge. The agent can merge only low risk changes with green CI and no regulated modules involved.</a:t>
            </a:r>
          </a:p>
          <a:p>
            <a:endParaRPr/>
          </a:p>
          <a:p>
            <a:r>
              <a:t>Level 3 is near autonomous rollout. At this point the system can operate only within tightly bounded services, with canary releases and automatic rollback.</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principle here is simple: start with memory, not autonomy. Reliability at one level is what earns the right to move to the next.</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evaluate ACE properly, we need two sets of metrics.</a:t>
            </a:r>
          </a:p>
          <a:p>
            <a:endParaRPr/>
          </a:p>
          <a:p>
            <a:r>
              <a:t>The first is engineering outcomes. </a:t>
            </a:r>
            <a:endParaRPr lang="en-US"/>
          </a:p>
          <a:p>
            <a:r>
              <a:t>Are pull requests better?</a:t>
            </a:r>
            <a:endParaRPr lang="en-US"/>
          </a:p>
          <a:p>
            <a:r>
              <a:t>Is CI healthier? </a:t>
            </a:r>
            <a:endParaRPr lang="en-US"/>
          </a:p>
          <a:p>
            <a:r>
              <a:t>Are failures resolved faster? </a:t>
            </a:r>
            <a:endParaRPr lang="en-US"/>
          </a:p>
          <a:p>
            <a:r>
              <a:t>Are deployments safer?</a:t>
            </a:r>
            <a:r>
              <a:rPr lang="en-US"/>
              <a:t> </a:t>
            </a:r>
          </a:p>
          <a:p>
            <a:r>
              <a:rPr lang="en-US"/>
              <a:t>These are the engineering outcomes…</a:t>
            </a:r>
            <a:endParaRPr/>
          </a:p>
          <a:p>
            <a:endParaRPr/>
          </a:p>
          <a:p>
            <a:r>
              <a:t>The second is playbook quality. </a:t>
            </a:r>
            <a:r>
              <a:rPr lang="en-US"/>
              <a:t>Where we are observing </a:t>
            </a:r>
          </a:p>
          <a:p>
            <a:r>
              <a:t>Is the memory actually improving? </a:t>
            </a:r>
            <a:endParaRPr lang="en-US"/>
          </a:p>
          <a:p>
            <a:r>
              <a:t>Are the learned rules still valid? </a:t>
            </a:r>
            <a:endParaRPr lang="en-US"/>
          </a:p>
          <a:p>
            <a:r>
              <a:t>Are teams approving or rejecting what the system learns?</a:t>
            </a:r>
          </a:p>
          <a:p>
            <a:endParaRPr/>
          </a:p>
          <a:p>
            <a:r>
              <a:rPr lang="en-US"/>
              <a:t>Even though the benchmark numbers in the paper are</a:t>
            </a:r>
            <a:r>
              <a:t> impressive, </a:t>
            </a:r>
            <a:endParaRPr lang="en-US"/>
          </a:p>
          <a:p>
            <a:r>
              <a:rPr lang="en-US"/>
              <a:t>For us, these gains are only meaningful if they </a:t>
            </a:r>
            <a:r>
              <a:t>translate into safer, cheaper, and faster software delivery in production.</a:t>
            </a:r>
          </a:p>
          <a:p>
            <a:endParaRPr/>
          </a:p>
          <a:p>
            <a:r>
              <a:t>So the metrics on this slide are really how we prove that the playbook is becoming an operational asset rather than just another AI experiment.</a:t>
            </a:r>
            <a:endParaRPr lang="en-US"/>
          </a:p>
          <a:p>
            <a:endParaRPr lang="en-US"/>
          </a:p>
          <a:p>
            <a:r>
              <a:rPr lang="en-US"/>
              <a:t>that is all I have for you today…Thank you so much</a:t>
            </a:r>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core references behind the presentation.</a:t>
            </a:r>
          </a:p>
          <a:p>
            <a:endParaRPr/>
          </a:p>
          <a:p>
            <a:r>
              <a:t>The central paper is Agentic Context Engineering by Zhang and colleagues from Stanford, SambaNova Systems, and UC Berkeley.</a:t>
            </a:r>
          </a:p>
          <a:p>
            <a:endParaRPr/>
          </a:p>
          <a:p>
            <a:r>
              <a:t>The other references help place ACE in context relative to prompt optimization, reflection based agents, adaptive memory systems, and execution grounded coding agents.</a:t>
            </a:r>
          </a:p>
          <a:p>
            <a:endParaRPr/>
          </a:p>
          <a:p>
            <a:r>
              <a:t>If anyone on the team wants to go deeper, these are the papers to read next.</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That is all I have for you today…Thank you so much</a:t>
            </a:r>
          </a:p>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84556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26733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9.sv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22.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hyperlink" Target="https://arxiv.org/abs/2512.16301" TargetMode="External"/><Relationship Id="rId3" Type="http://schemas.openxmlformats.org/officeDocument/2006/relationships/hyperlink" Target="https://arxiv.org/abs/2510.04618" TargetMode="External"/><Relationship Id="rId7" Type="http://schemas.openxmlformats.org/officeDocument/2006/relationships/hyperlink" Target="https://arxiv.org/abs/2402.01030"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hyperlink" Target="https://arxiv.org/abs/2504.07952" TargetMode="External"/><Relationship Id="rId5" Type="http://schemas.openxmlformats.org/officeDocument/2006/relationships/hyperlink" Target="https://arxiv.org/abs/2303.11366" TargetMode="External"/><Relationship Id="rId4" Type="http://schemas.openxmlformats.org/officeDocument/2006/relationships/hyperlink" Target="https://aclanthology.org/2024.emnlp-main.5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9" name="Text 6"/>
          <p:cNvSpPr/>
          <p:nvPr/>
        </p:nvSpPr>
        <p:spPr>
          <a:xfrm>
            <a:off x="6280189" y="225326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Agentic Context Engineering (ACE)</a:t>
            </a:r>
            <a:endParaRPr lang="en-US" sz="3900" dirty="0"/>
          </a:p>
        </p:txBody>
      </p:sp>
      <p:sp>
        <p:nvSpPr>
          <p:cNvPr id="10" name="Text 7"/>
          <p:cNvSpPr/>
          <p:nvPr/>
        </p:nvSpPr>
        <p:spPr>
          <a:xfrm>
            <a:off x="6280188" y="368093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framework from Stanford, SambaNova Systems &amp; UC Berkeley that enables coding agents to self-improve from real engineering experience, without retraining the </a:t>
            </a:r>
            <a:r>
              <a:rPr lang="en-US" sz="1550">
                <a:solidFill>
                  <a:srgbClr val="272525"/>
                </a:solidFill>
                <a:latin typeface="Inter" pitchFamily="34" charset="0"/>
                <a:ea typeface="Inter" pitchFamily="34" charset="-122"/>
                <a:cs typeface="Inter" pitchFamily="34" charset="-120"/>
              </a:rPr>
              <a:t>model.</a:t>
            </a: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r>
              <a:rPr lang="en-US" sz="1550">
                <a:solidFill>
                  <a:srgbClr val="272525"/>
                </a:solidFill>
                <a:latin typeface="Inter" pitchFamily="34" charset="0"/>
                <a:ea typeface="Inter" pitchFamily="34" charset="-122"/>
                <a:cs typeface="Inter" pitchFamily="34" charset="-120"/>
              </a:rPr>
              <a:t>Presented by: Mubeen Bhatti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Problem Statement</a:t>
            </a:r>
            <a:endParaRPr lang="en-US" sz="3900" dirty="0"/>
          </a:p>
        </p:txBody>
      </p:sp>
      <p:sp>
        <p:nvSpPr>
          <p:cNvPr id="3" name="Text 1"/>
          <p:cNvSpPr/>
          <p:nvPr/>
        </p:nvSpPr>
        <p:spPr>
          <a:xfrm>
            <a:off x="793790" y="222218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Coding agents have no persistent memory of what worked, or what failed.</a:t>
            </a:r>
            <a:endParaRPr lang="en-US" sz="1550" dirty="0"/>
          </a:p>
        </p:txBody>
      </p:sp>
      <p:sp>
        <p:nvSpPr>
          <p:cNvPr id="4" name="Shape 2"/>
          <p:cNvSpPr/>
          <p:nvPr/>
        </p:nvSpPr>
        <p:spPr>
          <a:xfrm>
            <a:off x="793790" y="2762964"/>
            <a:ext cx="13042821" cy="1478280"/>
          </a:xfrm>
          <a:prstGeom prst="roundRect">
            <a:avLst>
              <a:gd name="adj" fmla="val 5639"/>
            </a:avLst>
          </a:prstGeom>
          <a:solidFill>
            <a:srgbClr val="C7C9EA"/>
          </a:solidFill>
          <a:ln/>
        </p:spPr>
        <p:txBody>
          <a:bodyPr/>
          <a:lstStyle/>
          <a:p>
            <a:endParaRPr lang="en-US"/>
          </a:p>
        </p:txBody>
      </p:sp>
      <p:sp>
        <p:nvSpPr>
          <p:cNvPr id="5" name="Text 3"/>
          <p:cNvSpPr/>
          <p:nvPr/>
        </p:nvSpPr>
        <p:spPr>
          <a:xfrm>
            <a:off x="992148" y="3010853"/>
            <a:ext cx="126461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Modern AI agents are forced to rewrite their entire memory every time they learn something new. Like an employee who must rewrite their entire training manual just to add one new rule, they inevitably compress, summarise, and lose the critical nuance that makes them effective.</a:t>
            </a:r>
            <a:endParaRPr lang="en-US" sz="1550" dirty="0"/>
          </a:p>
        </p:txBody>
      </p:sp>
      <p:sp>
        <p:nvSpPr>
          <p:cNvPr id="6" name="Shape 4"/>
          <p:cNvSpPr/>
          <p:nvPr/>
        </p:nvSpPr>
        <p:spPr>
          <a:xfrm>
            <a:off x="793790" y="4573607"/>
            <a:ext cx="99179" cy="99179"/>
          </a:xfrm>
          <a:prstGeom prst="roundRect">
            <a:avLst>
              <a:gd name="adj" fmla="val 460985"/>
            </a:avLst>
          </a:prstGeom>
          <a:solidFill>
            <a:srgbClr val="4950BC"/>
          </a:solidFill>
          <a:ln/>
        </p:spPr>
        <p:txBody>
          <a:bodyPr/>
          <a:lstStyle/>
          <a:p>
            <a:endParaRPr lang="en-US"/>
          </a:p>
        </p:txBody>
      </p:sp>
      <p:sp>
        <p:nvSpPr>
          <p:cNvPr id="7" name="Text 5"/>
          <p:cNvSpPr/>
          <p:nvPr/>
        </p:nvSpPr>
        <p:spPr>
          <a:xfrm>
            <a:off x="1091327" y="446448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Agents repeat the same mistakes across every run: no accumulated learning</a:t>
            </a:r>
            <a:endParaRPr lang="en-US" sz="1550" dirty="0"/>
          </a:p>
        </p:txBody>
      </p:sp>
      <p:sp>
        <p:nvSpPr>
          <p:cNvPr id="8" name="Shape 6"/>
          <p:cNvSpPr/>
          <p:nvPr/>
        </p:nvSpPr>
        <p:spPr>
          <a:xfrm>
            <a:off x="793790" y="5287982"/>
            <a:ext cx="99179" cy="99179"/>
          </a:xfrm>
          <a:prstGeom prst="roundRect">
            <a:avLst>
              <a:gd name="adj" fmla="val 460985"/>
            </a:avLst>
          </a:prstGeom>
          <a:solidFill>
            <a:srgbClr val="4950BC"/>
          </a:solidFill>
          <a:ln/>
        </p:spPr>
        <p:txBody>
          <a:bodyPr/>
          <a:lstStyle/>
          <a:p>
            <a:endParaRPr lang="en-US"/>
          </a:p>
        </p:txBody>
      </p:sp>
      <p:sp>
        <p:nvSpPr>
          <p:cNvPr id="9" name="Text 7"/>
          <p:cNvSpPr/>
          <p:nvPr/>
        </p:nvSpPr>
        <p:spPr>
          <a:xfrm>
            <a:off x="1091327" y="517886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Prompt optimisers suffer from brevity bias, compressing away crucial domain-specific detail</a:t>
            </a:r>
            <a:endParaRPr lang="en-US" sz="1550" dirty="0"/>
          </a:p>
        </p:txBody>
      </p:sp>
      <p:sp>
        <p:nvSpPr>
          <p:cNvPr id="10" name="Shape 8"/>
          <p:cNvSpPr/>
          <p:nvPr/>
        </p:nvSpPr>
        <p:spPr>
          <a:xfrm>
            <a:off x="793790" y="6002357"/>
            <a:ext cx="99179" cy="99179"/>
          </a:xfrm>
          <a:prstGeom prst="roundRect">
            <a:avLst>
              <a:gd name="adj" fmla="val 460985"/>
            </a:avLst>
          </a:prstGeom>
          <a:solidFill>
            <a:srgbClr val="4950BC"/>
          </a:solidFill>
          <a:ln/>
        </p:spPr>
        <p:txBody>
          <a:bodyPr/>
          <a:lstStyle/>
          <a:p>
            <a:endParaRPr lang="en-US"/>
          </a:p>
        </p:txBody>
      </p:sp>
      <p:sp>
        <p:nvSpPr>
          <p:cNvPr id="11" name="Text 9"/>
          <p:cNvSpPr/>
          <p:nvPr/>
        </p:nvSpPr>
        <p:spPr>
          <a:xfrm>
            <a:off x="1091327" y="589323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Monolithic context rewrites trigger context collapse, degrading accumulated knowledge</a:t>
            </a:r>
            <a:endParaRPr lang="en-US" sz="1550" dirty="0"/>
          </a:p>
        </p:txBody>
      </p:sp>
      <p:sp>
        <p:nvSpPr>
          <p:cNvPr id="12" name="Shape 10"/>
          <p:cNvSpPr/>
          <p:nvPr/>
        </p:nvSpPr>
        <p:spPr>
          <a:xfrm>
            <a:off x="793790" y="6716732"/>
            <a:ext cx="99179" cy="99179"/>
          </a:xfrm>
          <a:prstGeom prst="roundRect">
            <a:avLst>
              <a:gd name="adj" fmla="val 460985"/>
            </a:avLst>
          </a:prstGeom>
          <a:solidFill>
            <a:srgbClr val="4950BC"/>
          </a:solidFill>
          <a:ln/>
        </p:spPr>
        <p:txBody>
          <a:bodyPr/>
          <a:lstStyle/>
          <a:p>
            <a:endParaRPr lang="en-US"/>
          </a:p>
        </p:txBody>
      </p:sp>
      <p:sp>
        <p:nvSpPr>
          <p:cNvPr id="13" name="Text 11"/>
          <p:cNvSpPr/>
          <p:nvPr/>
        </p:nvSpPr>
        <p:spPr>
          <a:xfrm>
            <a:off x="1091327" y="660761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Retraining the base model is expensive, slow, and does not resolve the operational knowledge gap</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37630"/>
            <a:ext cx="8519160" cy="548640"/>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Value Proposition : ACE Framework</a:t>
            </a:r>
            <a:endParaRPr lang="en-US" sz="3900" dirty="0"/>
          </a:p>
        </p:txBody>
      </p:sp>
      <p:pic>
        <p:nvPicPr>
          <p:cNvPr id="3" name="Image 0" descr="preencoded.png"/>
          <p:cNvPicPr>
            <a:picLocks noChangeAspect="1"/>
          </p:cNvPicPr>
          <p:nvPr/>
        </p:nvPicPr>
        <p:blipFill>
          <a:blip r:embed="rId3"/>
          <a:stretch>
            <a:fillRect/>
          </a:stretch>
        </p:blipFill>
        <p:spPr>
          <a:xfrm>
            <a:off x="793790" y="2054543"/>
            <a:ext cx="4347567" cy="793790"/>
          </a:xfrm>
          <a:prstGeom prst="rect">
            <a:avLst/>
          </a:prstGeom>
        </p:spPr>
      </p:pic>
      <p:sp>
        <p:nvSpPr>
          <p:cNvPr id="4" name="Text 1"/>
          <p:cNvSpPr/>
          <p:nvPr/>
        </p:nvSpPr>
        <p:spPr>
          <a:xfrm>
            <a:off x="992148"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Generator</a:t>
            </a:r>
            <a:endParaRPr lang="en-US" sz="1950" dirty="0"/>
          </a:p>
        </p:txBody>
      </p:sp>
      <p:sp>
        <p:nvSpPr>
          <p:cNvPr id="5" name="Text 2"/>
          <p:cNvSpPr/>
          <p:nvPr/>
        </p:nvSpPr>
        <p:spPr>
          <a:xfrm>
            <a:off x="992148"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junior developer. Reads tickets, inspects the repository, proposes changes, and executes tools, interacting with compilers, test runners, APIs, and sandboxes.</a:t>
            </a:r>
            <a:endParaRPr lang="en-US" sz="1550" dirty="0"/>
          </a:p>
        </p:txBody>
      </p:sp>
      <p:pic>
        <p:nvPicPr>
          <p:cNvPr id="6" name="Image 1" descr="preencoded.png"/>
          <p:cNvPicPr>
            <a:picLocks noChangeAspect="1"/>
          </p:cNvPicPr>
          <p:nvPr/>
        </p:nvPicPr>
        <p:blipFill>
          <a:blip r:embed="rId4"/>
          <a:stretch>
            <a:fillRect/>
          </a:stretch>
        </p:blipFill>
        <p:spPr>
          <a:xfrm>
            <a:off x="5141357" y="2054543"/>
            <a:ext cx="4347567" cy="793790"/>
          </a:xfrm>
          <a:prstGeom prst="rect">
            <a:avLst/>
          </a:prstGeom>
        </p:spPr>
      </p:pic>
      <p:sp>
        <p:nvSpPr>
          <p:cNvPr id="7" name="Text 3"/>
          <p:cNvSpPr/>
          <p:nvPr/>
        </p:nvSpPr>
        <p:spPr>
          <a:xfrm>
            <a:off x="5339715"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Reflector</a:t>
            </a:r>
            <a:endParaRPr lang="en-US" sz="1950" dirty="0"/>
          </a:p>
        </p:txBody>
      </p:sp>
      <p:sp>
        <p:nvSpPr>
          <p:cNvPr id="8" name="Text 4"/>
          <p:cNvSpPr/>
          <p:nvPr/>
        </p:nvSpPr>
        <p:spPr>
          <a:xfrm>
            <a:off x="5339715" y="3475911"/>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QA tester. Reviews execution logs after each task, analyses environment feedback and error codes, and extracts concrete, actionable insights.</a:t>
            </a:r>
            <a:endParaRPr lang="en-US" sz="1550" dirty="0"/>
          </a:p>
        </p:txBody>
      </p:sp>
      <p:sp>
        <p:nvSpPr>
          <p:cNvPr id="9" name="Text 5"/>
          <p:cNvSpPr/>
          <p:nvPr/>
        </p:nvSpPr>
        <p:spPr>
          <a:xfrm>
            <a:off x="5339715" y="4865132"/>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Example: If an API returns paginated results of 100 rather than a full list, the Reflector identifies the pagination gap and flags it.</a:t>
            </a:r>
            <a:endParaRPr lang="en-US" sz="1550" dirty="0"/>
          </a:p>
        </p:txBody>
      </p:sp>
      <p:pic>
        <p:nvPicPr>
          <p:cNvPr id="10" name="Image 2" descr="preencoded.png"/>
          <p:cNvPicPr>
            <a:picLocks noChangeAspect="1"/>
          </p:cNvPicPr>
          <p:nvPr/>
        </p:nvPicPr>
        <p:blipFill>
          <a:blip r:embed="rId5"/>
          <a:stretch>
            <a:fillRect/>
          </a:stretch>
        </p:blipFill>
        <p:spPr>
          <a:xfrm>
            <a:off x="9488924" y="2054543"/>
            <a:ext cx="4347567" cy="793790"/>
          </a:xfrm>
          <a:prstGeom prst="rect">
            <a:avLst/>
          </a:prstGeom>
        </p:spPr>
      </p:pic>
      <p:sp>
        <p:nvSpPr>
          <p:cNvPr id="11" name="Text 6"/>
          <p:cNvSpPr/>
          <p:nvPr/>
        </p:nvSpPr>
        <p:spPr>
          <a:xfrm>
            <a:off x="9687282"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Curator</a:t>
            </a:r>
            <a:endParaRPr lang="en-US" sz="1950" dirty="0"/>
          </a:p>
        </p:txBody>
      </p:sp>
      <p:sp>
        <p:nvSpPr>
          <p:cNvPr id="12" name="Text 7"/>
          <p:cNvSpPr/>
          <p:nvPr/>
        </p:nvSpPr>
        <p:spPr>
          <a:xfrm>
            <a:off x="9687282"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lead architect. Takes the Reflector's insight and integrates it into the master playbook as a single, localised bullet point, without touching or rewriting the rest of the document.</a:t>
            </a:r>
            <a:endParaRPr lang="en-US" sz="1550" dirty="0"/>
          </a:p>
        </p:txBody>
      </p:sp>
      <p:sp>
        <p:nvSpPr>
          <p:cNvPr id="13" name="Text 8"/>
          <p:cNvSpPr/>
          <p:nvPr/>
        </p:nvSpPr>
        <p:spPr>
          <a:xfrm>
            <a:off x="9687282" y="5182672"/>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This is how ACE prevents context collapse.</a:t>
            </a:r>
            <a:endParaRPr lang="en-US" sz="1550" dirty="0"/>
          </a:p>
        </p:txBody>
      </p:sp>
      <p:sp>
        <p:nvSpPr>
          <p:cNvPr id="14" name="Text 9"/>
          <p:cNvSpPr/>
          <p:nvPr/>
        </p:nvSpPr>
        <p:spPr>
          <a:xfrm>
            <a:off x="793790" y="6556891"/>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By dividing cognitive labour across three roles, ACE bypasses the bottleneck of overloading a single process with execution, critique, and synthesis, mirroring how high-performing engineering teams actually operate.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1526" y="563523"/>
            <a:ext cx="12111752" cy="580073"/>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Generator vs. Reflector: Complementary Roles in ACE</a:t>
            </a:r>
            <a:endParaRPr lang="en-US" sz="3650" dirty="0"/>
          </a:p>
        </p:txBody>
      </p:sp>
      <p:sp>
        <p:nvSpPr>
          <p:cNvPr id="3" name="Text 1"/>
          <p:cNvSpPr/>
          <p:nvPr/>
        </p:nvSpPr>
        <p:spPr>
          <a:xfrm>
            <a:off x="781526" y="1490782"/>
            <a:ext cx="13067348" cy="574596"/>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In the ACE framework, the Generator and the Reflector </a:t>
            </a:r>
            <a:r>
              <a:rPr lang="en-US" sz="1450">
                <a:solidFill>
                  <a:srgbClr val="272525"/>
                </a:solidFill>
                <a:latin typeface="Inter" pitchFamily="34" charset="0"/>
                <a:ea typeface="Inter" pitchFamily="34" charset="-122"/>
                <a:cs typeface="Inter" pitchFamily="34" charset="-120"/>
              </a:rPr>
              <a:t>serve different </a:t>
            </a:r>
            <a:r>
              <a:rPr lang="en-US" sz="1450" dirty="0">
                <a:solidFill>
                  <a:srgbClr val="272525"/>
                </a:solidFill>
                <a:latin typeface="Inter" pitchFamily="34" charset="0"/>
                <a:ea typeface="Inter" pitchFamily="34" charset="-122"/>
                <a:cs typeface="Inter" pitchFamily="34" charset="-120"/>
              </a:rPr>
              <a:t>but complementary functions. The Generator is the "doer" that attempts tasks, while the Reflector is the "critic" or "diagnostician" that analyzes what went wrong and extracts lessons.</a:t>
            </a:r>
            <a:endParaRPr lang="en-US" sz="1450" dirty="0"/>
          </a:p>
        </p:txBody>
      </p:sp>
      <p:sp>
        <p:nvSpPr>
          <p:cNvPr id="4" name="Shape 2"/>
          <p:cNvSpPr/>
          <p:nvPr/>
        </p:nvSpPr>
        <p:spPr>
          <a:xfrm>
            <a:off x="781526"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5" name="Text 3"/>
          <p:cNvSpPr/>
          <p:nvPr/>
        </p:nvSpPr>
        <p:spPr>
          <a:xfrm>
            <a:off x="990005" y="2469118"/>
            <a:ext cx="2983349"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Generator — The Executor</a:t>
            </a:r>
            <a:endParaRPr lang="en-US" sz="1800" dirty="0"/>
          </a:p>
        </p:txBody>
      </p:sp>
      <p:sp>
        <p:nvSpPr>
          <p:cNvPr id="6" name="Text 4"/>
          <p:cNvSpPr/>
          <p:nvPr/>
        </p:nvSpPr>
        <p:spPr>
          <a:xfrm>
            <a:off x="990005" y="2863215"/>
            <a:ext cx="6029920" cy="1149191"/>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Takes the user's query and the current context playbook, produces a reasoning trajectory, calls external tools, and generates an output. Leaves behind an execution trace that exposes its strategies, decisions, and any mistakes it made along the way.</a:t>
            </a:r>
            <a:endParaRPr lang="en-US" sz="1450" dirty="0"/>
          </a:p>
        </p:txBody>
      </p:sp>
      <p:sp>
        <p:nvSpPr>
          <p:cNvPr id="7" name="Shape 5"/>
          <p:cNvSpPr/>
          <p:nvPr/>
        </p:nvSpPr>
        <p:spPr>
          <a:xfrm>
            <a:off x="990005" y="4207669"/>
            <a:ext cx="6029920" cy="1905357"/>
          </a:xfrm>
          <a:prstGeom prst="roundRect">
            <a:avLst>
              <a:gd name="adj" fmla="val 4092"/>
            </a:avLst>
          </a:prstGeom>
          <a:solidFill>
            <a:srgbClr val="C7C9E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5623" y="4482822"/>
            <a:ext cx="231934" cy="185618"/>
          </a:xfrm>
          <a:prstGeom prst="rect">
            <a:avLst/>
          </a:prstGeom>
        </p:spPr>
      </p:pic>
      <p:sp>
        <p:nvSpPr>
          <p:cNvPr id="9" name="Text 6"/>
          <p:cNvSpPr/>
          <p:nvPr/>
        </p:nvSpPr>
        <p:spPr>
          <a:xfrm>
            <a:off x="1593175" y="4427577"/>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student taking a math test — uses the study guide (playbook) to attempt a complex equation, writes down step-by-step work (the reasoning trace), and sometimes applies the wrong formula. The job is simply to execute the task and show the work.</a:t>
            </a:r>
            <a:endParaRPr lang="en-US" sz="1450" dirty="0"/>
          </a:p>
        </p:txBody>
      </p:sp>
      <p:sp>
        <p:nvSpPr>
          <p:cNvPr id="10" name="Shape 7"/>
          <p:cNvSpPr/>
          <p:nvPr/>
        </p:nvSpPr>
        <p:spPr>
          <a:xfrm>
            <a:off x="7401997"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11" name="Text 8"/>
          <p:cNvSpPr/>
          <p:nvPr/>
        </p:nvSpPr>
        <p:spPr>
          <a:xfrm>
            <a:off x="7610475" y="2469118"/>
            <a:ext cx="3425190"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Reflector — The Diagnostician</a:t>
            </a:r>
            <a:endParaRPr lang="en-US" sz="1800" dirty="0"/>
          </a:p>
        </p:txBody>
      </p:sp>
      <p:sp>
        <p:nvSpPr>
          <p:cNvPr id="12" name="Text 9"/>
          <p:cNvSpPr/>
          <p:nvPr/>
        </p:nvSpPr>
        <p:spPr>
          <a:xfrm>
            <a:off x="7610475" y="2863215"/>
            <a:ext cx="6029920" cy="1723787"/>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After the Generator produces its execution trace, the Reflector steps in to analyze it. It identifies exactly where and why the Generator went wrong — misapplied rules, flawed reasoning steps, or incorrect assumptions — and distills these into specific, actionable lessons. It does NOT fix the problem itself; it diagnoses and extracts the insight.</a:t>
            </a:r>
            <a:endParaRPr lang="en-US" sz="1450" dirty="0"/>
          </a:p>
        </p:txBody>
      </p:sp>
      <p:sp>
        <p:nvSpPr>
          <p:cNvPr id="13" name="Shape 10"/>
          <p:cNvSpPr/>
          <p:nvPr/>
        </p:nvSpPr>
        <p:spPr>
          <a:xfrm>
            <a:off x="7610475" y="4782264"/>
            <a:ext cx="6029920" cy="1905357"/>
          </a:xfrm>
          <a:prstGeom prst="roundRect">
            <a:avLst>
              <a:gd name="adj" fmla="val 4092"/>
            </a:avLst>
          </a:prstGeom>
          <a:solidFill>
            <a:srgbClr val="C7C9E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7796093" y="5057418"/>
            <a:ext cx="231934" cy="185618"/>
          </a:xfrm>
          <a:prstGeom prst="rect">
            <a:avLst/>
          </a:prstGeom>
        </p:spPr>
      </p:pic>
      <p:sp>
        <p:nvSpPr>
          <p:cNvPr id="15" name="Text 11"/>
          <p:cNvSpPr/>
          <p:nvPr/>
        </p:nvSpPr>
        <p:spPr>
          <a:xfrm>
            <a:off x="8213646" y="5002173"/>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teacher grading the student's test — reviews the step-by-step work, circles the exact mistake (e.g., "You forgot to carry the 1 in step 3"), and writes a clear correction note. The teacher doesn't retake the test; they identify the lesson to be learned.</a:t>
            </a:r>
            <a:endParaRPr lang="en-US" sz="1450" dirty="0"/>
          </a:p>
        </p:txBody>
      </p:sp>
      <p:sp>
        <p:nvSpPr>
          <p:cNvPr id="16" name="Text 12"/>
          <p:cNvSpPr/>
          <p:nvPr/>
        </p:nvSpPr>
        <p:spPr>
          <a:xfrm>
            <a:off x="781526" y="7091363"/>
            <a:ext cx="13067348" cy="574596"/>
          </a:xfrm>
          <a:prstGeom prst="rect">
            <a:avLst/>
          </a:prstGeom>
          <a:noFill/>
          <a:ln/>
        </p:spPr>
        <p:txBody>
          <a:bodyPr wrap="square" lIns="0" tIns="0" rIns="0" bIns="0" rtlCol="0" anchor="t"/>
          <a:lstStyle/>
          <a:p>
            <a:pPr marL="0" indent="0" algn="l">
              <a:lnSpc>
                <a:spcPts val="2250"/>
              </a:lnSpc>
              <a:buNone/>
            </a:pPr>
            <a:r>
              <a:rPr lang="en-US" sz="1450" b="1" dirty="0">
                <a:solidFill>
                  <a:srgbClr val="272525"/>
                </a:solidFill>
                <a:latin typeface="Inter" pitchFamily="34" charset="0"/>
                <a:ea typeface="Inter" pitchFamily="34" charset="-122"/>
                <a:cs typeface="Inter" pitchFamily="34" charset="-120"/>
              </a:rPr>
              <a:t>The Generator tries to accomplish the task and produces the raw experience. The Reflector reviews that experience, pinpoints what went wrong, and extracts the precise lesson — ready to be filed into memory.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2416"/>
            <a:ext cx="614505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Playbook Advantage</a:t>
            </a:r>
            <a:endParaRPr lang="en-US" sz="3900" dirty="0"/>
          </a:p>
        </p:txBody>
      </p:sp>
      <p:sp>
        <p:nvSpPr>
          <p:cNvPr id="3" name="Text 1"/>
          <p:cNvSpPr/>
          <p:nvPr/>
        </p:nvSpPr>
        <p:spPr>
          <a:xfrm>
            <a:off x="793790" y="182368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Most AI memory systems fail because they treat memory as a single document to rewrite. ACE treats it as a structured, modular knowledge base: entries are appended, refined, or retired individually, never overwritten wholesale.</a:t>
            </a:r>
            <a:endParaRPr lang="en-US" sz="1550" dirty="0"/>
          </a:p>
        </p:txBody>
      </p:sp>
      <p:sp>
        <p:nvSpPr>
          <p:cNvPr id="4" name="Text 2"/>
          <p:cNvSpPr/>
          <p:nvPr/>
        </p:nvSpPr>
        <p:spPr>
          <a:xfrm>
            <a:off x="2254091" y="3260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Modular by Design</a:t>
            </a:r>
            <a:endParaRPr lang="en-US" sz="1950" dirty="0"/>
          </a:p>
        </p:txBody>
      </p:sp>
      <p:sp>
        <p:nvSpPr>
          <p:cNvPr id="5" name="Text 3"/>
          <p:cNvSpPr/>
          <p:nvPr/>
        </p:nvSpPr>
        <p:spPr>
          <a:xfrm>
            <a:off x="793790" y="3689866"/>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Individual entries added or removed without touching the rest of the playbook.</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4008" y="3964603"/>
            <a:ext cx="296942" cy="296942"/>
          </a:xfrm>
          <a:prstGeom prst="rect">
            <a:avLst/>
          </a:prstGeom>
        </p:spPr>
      </p:pic>
      <p:sp>
        <p:nvSpPr>
          <p:cNvPr id="8" name="Text 4"/>
          <p:cNvSpPr/>
          <p:nvPr/>
        </p:nvSpPr>
        <p:spPr>
          <a:xfrm>
            <a:off x="9895284" y="2682002"/>
            <a:ext cx="3208734"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Incremental Delta Updates</a:t>
            </a:r>
            <a:endParaRPr lang="en-US" sz="1950" dirty="0"/>
          </a:p>
        </p:txBody>
      </p:sp>
      <p:sp>
        <p:nvSpPr>
          <p:cNvPr id="9" name="Text 5"/>
          <p:cNvSpPr/>
          <p:nvPr/>
        </p:nvSpPr>
        <p:spPr>
          <a:xfrm>
            <a:off x="9895284" y="3111222"/>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New knowledge merged via lightweight logic: no full rewrites, no context collapse.</a:t>
            </a:r>
            <a:endParaRPr lang="en-US" sz="1550" dirty="0"/>
          </a:p>
        </p:txBody>
      </p:sp>
      <p:pic>
        <p:nvPicPr>
          <p:cNvPr id="10" name="Image 2" descr="preencoded.png"/>
          <p:cNvPicPr>
            <a:picLocks noChangeAspect="1"/>
          </p:cNvPicPr>
          <p:nvPr/>
        </p:nvPicPr>
        <p:blipFill>
          <a:blip r:embed="rId5"/>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0303" y="3384173"/>
            <a:ext cx="296942" cy="296942"/>
          </a:xfrm>
          <a:prstGeom prst="rect">
            <a:avLst/>
          </a:prstGeom>
        </p:spPr>
      </p:pic>
      <p:sp>
        <p:nvSpPr>
          <p:cNvPr id="12" name="Text 6"/>
          <p:cNvSpPr/>
          <p:nvPr/>
        </p:nvSpPr>
        <p:spPr>
          <a:xfrm>
            <a:off x="9994463" y="43614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Grow and Refine</a:t>
            </a:r>
            <a:endParaRPr lang="en-US" sz="1950" dirty="0"/>
          </a:p>
        </p:txBody>
      </p:sp>
      <p:sp>
        <p:nvSpPr>
          <p:cNvPr id="13" name="Text 7"/>
          <p:cNvSpPr/>
          <p:nvPr/>
        </p:nvSpPr>
        <p:spPr>
          <a:xfrm>
            <a:off x="9994463" y="4790718"/>
            <a:ext cx="38421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Semantic clustering merges similar rules: preserving nuance, not compressing it.</a:t>
            </a:r>
            <a:endParaRPr lang="en-US" sz="1550" dirty="0"/>
          </a:p>
        </p:txBody>
      </p:sp>
      <p:pic>
        <p:nvPicPr>
          <p:cNvPr id="14" name="Image 4" descr="preencoded.png"/>
          <p:cNvPicPr>
            <a:picLocks noChangeAspect="1"/>
          </p:cNvPicPr>
          <p:nvPr/>
        </p:nvPicPr>
        <p:blipFill>
          <a:blip r:embed="rId7"/>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50" y="4903768"/>
            <a:ext cx="296942" cy="296942"/>
          </a:xfrm>
          <a:prstGeom prst="rect">
            <a:avLst/>
          </a:prstGeom>
        </p:spPr>
      </p:pic>
      <p:sp>
        <p:nvSpPr>
          <p:cNvPr id="16" name="Text 8"/>
          <p:cNvSpPr/>
          <p:nvPr/>
        </p:nvSpPr>
        <p:spPr>
          <a:xfrm>
            <a:off x="9895284" y="6040993"/>
            <a:ext cx="384869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Human-Readable and Auditable</a:t>
            </a:r>
            <a:endParaRPr lang="en-US" sz="1950" dirty="0"/>
          </a:p>
        </p:txBody>
      </p:sp>
      <p:sp>
        <p:nvSpPr>
          <p:cNvPr id="17" name="Text 9"/>
          <p:cNvSpPr/>
          <p:nvPr/>
        </p:nvSpPr>
        <p:spPr>
          <a:xfrm>
            <a:off x="9895284" y="6470213"/>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Plain structured text: any engineer or compliance officer can read, verify, or delete entries instantly.</a:t>
            </a:r>
            <a:endParaRPr lang="en-US" sz="1550" dirty="0"/>
          </a:p>
        </p:txBody>
      </p:sp>
      <p:pic>
        <p:nvPicPr>
          <p:cNvPr id="18" name="Image 6"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60303" y="6423362"/>
            <a:ext cx="296942" cy="296942"/>
          </a:xfrm>
          <a:prstGeom prst="rect">
            <a:avLst/>
          </a:prstGeom>
        </p:spPr>
      </p:pic>
      <p:sp>
        <p:nvSpPr>
          <p:cNvPr id="20" name="Text 10"/>
          <p:cNvSpPr/>
          <p:nvPr/>
        </p:nvSpPr>
        <p:spPr>
          <a:xfrm>
            <a:off x="852845" y="5779889"/>
            <a:ext cx="3882152"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Machine Unlearning in One Step</a:t>
            </a:r>
            <a:endParaRPr lang="en-US" sz="1950" dirty="0"/>
          </a:p>
        </p:txBody>
      </p:sp>
      <p:sp>
        <p:nvSpPr>
          <p:cNvPr id="21" name="Text 11"/>
          <p:cNvSpPr/>
          <p:nvPr/>
        </p:nvSpPr>
        <p:spPr>
          <a:xfrm>
            <a:off x="793790" y="6209109"/>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Delete a bullet point. The model instantly unlearns, with zero retraining required.</a:t>
            </a:r>
            <a:endParaRPr lang="en-US" sz="1550" dirty="0"/>
          </a:p>
        </p:txBody>
      </p:sp>
      <p:pic>
        <p:nvPicPr>
          <p:cNvPr id="22" name="Image 8" descr="preencoded.png"/>
          <p:cNvPicPr>
            <a:picLocks noChangeAspect="1"/>
          </p:cNvPicPr>
          <p:nvPr/>
        </p:nvPicPr>
        <p:blipFill>
          <a:blip r:embed="rId11"/>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74008" y="5842933"/>
            <a:ext cx="296942" cy="2969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2416"/>
            <a:ext cx="11826835"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Limitations of Existing Context Adaptation Methods</a:t>
            </a:r>
            <a:endParaRPr lang="en-US" sz="3700" dirty="0"/>
          </a:p>
        </p:txBody>
      </p:sp>
      <p:sp>
        <p:nvSpPr>
          <p:cNvPr id="3" name="Text 1"/>
          <p:cNvSpPr/>
          <p:nvPr/>
        </p:nvSpPr>
        <p:spPr>
          <a:xfrm>
            <a:off x="793790" y="1742956"/>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Context collapse is a fundamental risk of monolithic memory rewrites.</a:t>
            </a:r>
            <a:endParaRPr lang="en-US" sz="1450" dirty="0"/>
          </a:p>
        </p:txBody>
      </p:sp>
      <p:pic>
        <p:nvPicPr>
          <p:cNvPr id="4" name="Image 0" descr="preencoded.png"/>
          <p:cNvPicPr>
            <a:picLocks noChangeAspect="1"/>
          </p:cNvPicPr>
          <p:nvPr/>
        </p:nvPicPr>
        <p:blipFill>
          <a:blip r:embed="rId3"/>
          <a:stretch>
            <a:fillRect/>
          </a:stretch>
        </p:blipFill>
        <p:spPr>
          <a:xfrm>
            <a:off x="3172301" y="2238613"/>
            <a:ext cx="8285798" cy="3428167"/>
          </a:xfrm>
          <a:prstGeom prst="rect">
            <a:avLst/>
          </a:prstGeom>
        </p:spPr>
      </p:pic>
      <p:sp>
        <p:nvSpPr>
          <p:cNvPr id="5" name="Shape 2"/>
          <p:cNvSpPr/>
          <p:nvPr/>
        </p:nvSpPr>
        <p:spPr>
          <a:xfrm>
            <a:off x="793790" y="5868233"/>
            <a:ext cx="13042821" cy="1069896"/>
          </a:xfrm>
          <a:prstGeom prst="roundRect">
            <a:avLst>
              <a:gd name="adj" fmla="val 7402"/>
            </a:avLst>
          </a:prstGeom>
          <a:solidFill>
            <a:srgbClr val="C7C9EA"/>
          </a:solidFill>
          <a:ln/>
        </p:spPr>
        <p:txBody>
          <a:bodyPr/>
          <a:lstStyle/>
          <a:p>
            <a:endParaRPr lang="en-US"/>
          </a:p>
        </p:txBody>
      </p:sp>
      <p:sp>
        <p:nvSpPr>
          <p:cNvPr id="6" name="Text 3"/>
          <p:cNvSpPr/>
          <p:nvPr/>
        </p:nvSpPr>
        <p:spPr>
          <a:xfrm>
            <a:off x="982266" y="6094333"/>
            <a:ext cx="12665869" cy="588407"/>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Inter" pitchFamily="34" charset="0"/>
                <a:ea typeface="Inter" pitchFamily="34" charset="-122"/>
                <a:cs typeface="Inter" pitchFamily="34" charset="-120"/>
              </a:rPr>
              <a:t>In an experiment, a single rewrite compressed 18,282 tokens to 122, dropping accuracy from 66.7% to 57.1% below the 63.7% baseline of an empty context. LLMs are trained to synthesis: when forced to rewrite memory, they discard the nuance that makes agents effective.</a:t>
            </a:r>
            <a:endParaRPr lang="en-US" sz="1450" dirty="0"/>
          </a:p>
        </p:txBody>
      </p:sp>
      <p:sp>
        <p:nvSpPr>
          <p:cNvPr id="7" name="Text 4"/>
          <p:cNvSpPr/>
          <p:nvPr/>
        </p:nvSpPr>
        <p:spPr>
          <a:xfrm>
            <a:off x="793790" y="7139583"/>
            <a:ext cx="13042821" cy="294203"/>
          </a:xfrm>
          <a:prstGeom prst="rect">
            <a:avLst/>
          </a:prstGeom>
          <a:noFill/>
          <a:ln/>
        </p:spPr>
        <p:txBody>
          <a:bodyPr wrap="none" lIns="0" tIns="0" rIns="0" bIns="0" rtlCol="0" anchor="t"/>
          <a:lstStyle/>
          <a:p>
            <a:pPr marL="0" indent="0" algn="l">
              <a:lnSpc>
                <a:spcPts val="2300"/>
              </a:lnSpc>
              <a:buNone/>
            </a:pP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42416"/>
            <a:ext cx="110010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Where ACE Fits Relative to Other Frameworks</a:t>
            </a:r>
            <a:endParaRPr lang="en-US" sz="3900" dirty="0"/>
          </a:p>
        </p:txBody>
      </p:sp>
      <p:sp>
        <p:nvSpPr>
          <p:cNvPr id="3" name="Shape 1"/>
          <p:cNvSpPr/>
          <p:nvPr/>
        </p:nvSpPr>
        <p:spPr>
          <a:xfrm>
            <a:off x="793790"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4" name="Shape 2"/>
          <p:cNvSpPr/>
          <p:nvPr/>
        </p:nvSpPr>
        <p:spPr>
          <a:xfrm>
            <a:off x="770930" y="2007751"/>
            <a:ext cx="91440" cy="1824276"/>
          </a:xfrm>
          <a:prstGeom prst="roundRect">
            <a:avLst>
              <a:gd name="adj" fmla="val 91163"/>
            </a:avLst>
          </a:prstGeom>
          <a:solidFill>
            <a:srgbClr val="4950BC"/>
          </a:solidFill>
          <a:ln/>
        </p:spPr>
        <p:txBody>
          <a:bodyPr/>
          <a:lstStyle/>
          <a:p>
            <a:endParaRPr lang="en-US"/>
          </a:p>
        </p:txBody>
      </p:sp>
      <p:sp>
        <p:nvSpPr>
          <p:cNvPr id="5" name="Text 3"/>
          <p:cNvSpPr/>
          <p:nvPr/>
        </p:nvSpPr>
        <p:spPr>
          <a:xfrm>
            <a:off x="1083588"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Reflexion</a:t>
            </a:r>
            <a:endParaRPr lang="en-US" sz="1950" dirty="0"/>
          </a:p>
        </p:txBody>
      </p:sp>
      <p:sp>
        <p:nvSpPr>
          <p:cNvPr id="6" name="Text 4"/>
          <p:cNvSpPr/>
          <p:nvPr/>
        </p:nvSpPr>
        <p:spPr>
          <a:xfrm>
            <a:off x="1083588"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Improves agents through verbal feedback and episodic memory, but does not produce structured, curated enterprise playbooks.</a:t>
            </a:r>
            <a:endParaRPr lang="en-US" sz="1550" dirty="0"/>
          </a:p>
        </p:txBody>
      </p:sp>
      <p:sp>
        <p:nvSpPr>
          <p:cNvPr id="7" name="Shape 5"/>
          <p:cNvSpPr/>
          <p:nvPr/>
        </p:nvSpPr>
        <p:spPr>
          <a:xfrm>
            <a:off x="7414379"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8" name="Shape 6"/>
          <p:cNvSpPr/>
          <p:nvPr/>
        </p:nvSpPr>
        <p:spPr>
          <a:xfrm>
            <a:off x="7391519" y="2007751"/>
            <a:ext cx="91440" cy="1824276"/>
          </a:xfrm>
          <a:prstGeom prst="roundRect">
            <a:avLst>
              <a:gd name="adj" fmla="val 91163"/>
            </a:avLst>
          </a:prstGeom>
          <a:solidFill>
            <a:srgbClr val="4950BC"/>
          </a:solidFill>
          <a:ln/>
        </p:spPr>
        <p:txBody>
          <a:bodyPr/>
          <a:lstStyle/>
          <a:p>
            <a:endParaRPr lang="en-US"/>
          </a:p>
        </p:txBody>
      </p:sp>
      <p:sp>
        <p:nvSpPr>
          <p:cNvPr id="9" name="Text 7"/>
          <p:cNvSpPr/>
          <p:nvPr/>
        </p:nvSpPr>
        <p:spPr>
          <a:xfrm>
            <a:off x="7704177"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MIPRO</a:t>
            </a:r>
            <a:endParaRPr lang="en-US" sz="1950" dirty="0"/>
          </a:p>
        </p:txBody>
      </p:sp>
      <p:sp>
        <p:nvSpPr>
          <p:cNvPr id="10" name="Text 8"/>
          <p:cNvSpPr/>
          <p:nvPr/>
        </p:nvSpPr>
        <p:spPr>
          <a:xfrm>
            <a:off x="7704177"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strong prompt optimiser for multi-stage LM programs, but suffers from brevity bias: it systematically compresses away domain-specific nuance.</a:t>
            </a:r>
            <a:endParaRPr lang="en-US" sz="1550" dirty="0"/>
          </a:p>
        </p:txBody>
      </p:sp>
      <p:sp>
        <p:nvSpPr>
          <p:cNvPr id="11" name="Shape 9"/>
          <p:cNvSpPr/>
          <p:nvPr/>
        </p:nvSpPr>
        <p:spPr>
          <a:xfrm>
            <a:off x="793790"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2" name="Shape 10"/>
          <p:cNvSpPr/>
          <p:nvPr/>
        </p:nvSpPr>
        <p:spPr>
          <a:xfrm>
            <a:off x="770930" y="4030385"/>
            <a:ext cx="91440" cy="1824276"/>
          </a:xfrm>
          <a:prstGeom prst="roundRect">
            <a:avLst>
              <a:gd name="adj" fmla="val 91163"/>
            </a:avLst>
          </a:prstGeom>
          <a:solidFill>
            <a:srgbClr val="4950BC"/>
          </a:solidFill>
          <a:ln/>
        </p:spPr>
        <p:txBody>
          <a:bodyPr/>
          <a:lstStyle/>
          <a:p>
            <a:endParaRPr lang="en-US"/>
          </a:p>
        </p:txBody>
      </p:sp>
      <p:sp>
        <p:nvSpPr>
          <p:cNvPr id="13" name="Text 11"/>
          <p:cNvSpPr/>
          <p:nvPr/>
        </p:nvSpPr>
        <p:spPr>
          <a:xfrm>
            <a:off x="1083588" y="4251603"/>
            <a:ext cx="252567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Dynamic Cheatsheet</a:t>
            </a:r>
            <a:endParaRPr lang="en-US" sz="1950" dirty="0"/>
          </a:p>
        </p:txBody>
      </p:sp>
      <p:sp>
        <p:nvSpPr>
          <p:cNvPr id="14" name="Text 12"/>
          <p:cNvSpPr/>
          <p:nvPr/>
        </p:nvSpPr>
        <p:spPr>
          <a:xfrm>
            <a:off x="1083588"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direct conceptual predecessor to ACE. ACE addresses its core weakness, monolithic memory rewrites, through structured delta updates and grow-and-refine curation.</a:t>
            </a:r>
            <a:endParaRPr lang="en-US" sz="1550" dirty="0"/>
          </a:p>
        </p:txBody>
      </p:sp>
      <p:sp>
        <p:nvSpPr>
          <p:cNvPr id="15" name="Shape 13"/>
          <p:cNvSpPr/>
          <p:nvPr/>
        </p:nvSpPr>
        <p:spPr>
          <a:xfrm>
            <a:off x="7414379"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6" name="Shape 14"/>
          <p:cNvSpPr/>
          <p:nvPr/>
        </p:nvSpPr>
        <p:spPr>
          <a:xfrm>
            <a:off x="7391519" y="4030385"/>
            <a:ext cx="91440" cy="1824276"/>
          </a:xfrm>
          <a:prstGeom prst="roundRect">
            <a:avLst>
              <a:gd name="adj" fmla="val 91163"/>
            </a:avLst>
          </a:prstGeom>
          <a:solidFill>
            <a:srgbClr val="4950BC"/>
          </a:solidFill>
          <a:ln/>
        </p:spPr>
        <p:txBody>
          <a:bodyPr/>
          <a:lstStyle/>
          <a:p>
            <a:endParaRPr lang="en-US"/>
          </a:p>
        </p:txBody>
      </p:sp>
      <p:sp>
        <p:nvSpPr>
          <p:cNvPr id="17" name="Text 15"/>
          <p:cNvSpPr/>
          <p:nvPr/>
        </p:nvSpPr>
        <p:spPr>
          <a:xfrm>
            <a:off x="7704177" y="42516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CodeAct</a:t>
            </a:r>
            <a:endParaRPr lang="en-US" sz="1950" dirty="0"/>
          </a:p>
        </p:txBody>
      </p:sp>
      <p:sp>
        <p:nvSpPr>
          <p:cNvPr id="18" name="Text 16"/>
          <p:cNvSpPr/>
          <p:nvPr/>
        </p:nvSpPr>
        <p:spPr>
          <a:xfrm>
            <a:off x="7704177"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Demonstrates the value of execution-grounded agents. ACE complements it by providing the governed, evolving memory layer that CodeAct lacks.</a:t>
            </a:r>
            <a:endParaRPr lang="en-US" sz="1550" dirty="0"/>
          </a:p>
        </p:txBody>
      </p:sp>
      <p:sp>
        <p:nvSpPr>
          <p:cNvPr id="19" name="Shape 17"/>
          <p:cNvSpPr/>
          <p:nvPr/>
        </p:nvSpPr>
        <p:spPr>
          <a:xfrm>
            <a:off x="793790" y="6077903"/>
            <a:ext cx="13042821" cy="1160740"/>
          </a:xfrm>
          <a:prstGeom prst="roundRect">
            <a:avLst>
              <a:gd name="adj" fmla="val 7182"/>
            </a:avLst>
          </a:prstGeom>
          <a:solidFill>
            <a:srgbClr val="C7C9EA"/>
          </a:solidFill>
          <a:ln/>
        </p:spPr>
        <p:txBody>
          <a:bodyPr/>
          <a:lstStyle/>
          <a:p>
            <a:endParaRPr lang="en-US"/>
          </a:p>
        </p:txBody>
      </p:sp>
      <p:sp>
        <p:nvSpPr>
          <p:cNvPr id="20" name="Text 18"/>
          <p:cNvSpPr/>
          <p:nvPr/>
        </p:nvSpPr>
        <p:spPr>
          <a:xfrm>
            <a:off x="992148" y="6325791"/>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simplest positioning: CodeAct provides an action-capable agent. ACE gives that agent a governed, self-improving memory without touching the model weights.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42416"/>
            <a:ext cx="634948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Relative Performance</a:t>
            </a:r>
            <a:endParaRPr lang="en-US" sz="3900" dirty="0"/>
          </a:p>
        </p:txBody>
      </p:sp>
      <p:sp>
        <p:nvSpPr>
          <p:cNvPr id="3" name="Shape 1"/>
          <p:cNvSpPr/>
          <p:nvPr/>
        </p:nvSpPr>
        <p:spPr>
          <a:xfrm>
            <a:off x="793729" y="2104767"/>
            <a:ext cx="13042821" cy="1160740"/>
          </a:xfrm>
          <a:prstGeom prst="roundRect">
            <a:avLst>
              <a:gd name="adj" fmla="val 7182"/>
            </a:avLst>
          </a:prstGeom>
          <a:solidFill>
            <a:srgbClr val="C7C9EA"/>
          </a:solidFill>
          <a:ln/>
        </p:spPr>
        <p:txBody>
          <a:bodyPr/>
          <a:lstStyle/>
          <a:p>
            <a:endParaRPr lang="en-US"/>
          </a:p>
        </p:txBody>
      </p:sp>
      <p:sp>
        <p:nvSpPr>
          <p:cNvPr id="4" name="Text 2"/>
          <p:cNvSpPr/>
          <p:nvPr/>
        </p:nvSpPr>
        <p:spPr>
          <a:xfrm>
            <a:off x="992087" y="2352655"/>
            <a:ext cx="1264610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Using a smaller open-source model (DeepSeek V3), ACE matched IBM's top-ranked production agent, powered by GPT-4.1, on the AppWorld leaderboard, and outperformed it on the hardest test-challenge split. It achieved this at a fraction of the compute cost.</a:t>
            </a:r>
            <a:endParaRPr lang="en-US" sz="1550" dirty="0"/>
          </a:p>
        </p:txBody>
      </p:sp>
      <p:sp>
        <p:nvSpPr>
          <p:cNvPr id="5" name="Text 3"/>
          <p:cNvSpPr/>
          <p:nvPr/>
        </p:nvSpPr>
        <p:spPr>
          <a:xfrm>
            <a:off x="793790" y="4089196"/>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10.6%</a:t>
            </a:r>
            <a:endParaRPr lang="en-US" sz="5150" dirty="0"/>
          </a:p>
        </p:txBody>
      </p:sp>
      <p:sp>
        <p:nvSpPr>
          <p:cNvPr id="6" name="Text 4"/>
          <p:cNvSpPr/>
          <p:nvPr/>
        </p:nvSpPr>
        <p:spPr>
          <a:xfrm>
            <a:off x="1423392" y="4992166"/>
            <a:ext cx="292286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Agent Benchmark Gains</a:t>
            </a:r>
            <a:endParaRPr lang="en-US" sz="1950" dirty="0"/>
          </a:p>
        </p:txBody>
      </p:sp>
      <p:sp>
        <p:nvSpPr>
          <p:cNvPr id="7" name="Text 5"/>
          <p:cNvSpPr/>
          <p:nvPr/>
        </p:nvSpPr>
        <p:spPr>
          <a:xfrm>
            <a:off x="793790" y="5421386"/>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Average improvement on the AppWorld benchmark vs. baseline methods</a:t>
            </a:r>
            <a:endParaRPr lang="en-US" sz="1550" dirty="0"/>
          </a:p>
        </p:txBody>
      </p:sp>
      <p:sp>
        <p:nvSpPr>
          <p:cNvPr id="8" name="Text 6"/>
          <p:cNvSpPr/>
          <p:nvPr/>
        </p:nvSpPr>
        <p:spPr>
          <a:xfrm>
            <a:off x="5223986" y="4089196"/>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a:t>
            </a:r>
            <a:endParaRPr lang="en-US" sz="5150" dirty="0"/>
          </a:p>
        </p:txBody>
      </p:sp>
      <p:sp>
        <p:nvSpPr>
          <p:cNvPr id="9" name="Text 7"/>
          <p:cNvSpPr/>
          <p:nvPr/>
        </p:nvSpPr>
        <p:spPr>
          <a:xfrm>
            <a:off x="6074688" y="4992166"/>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Finance Task Gains</a:t>
            </a:r>
            <a:endParaRPr lang="en-US" sz="1950" dirty="0"/>
          </a:p>
        </p:txBody>
      </p:sp>
      <p:sp>
        <p:nvSpPr>
          <p:cNvPr id="10" name="Text 8"/>
          <p:cNvSpPr/>
          <p:nvPr/>
        </p:nvSpPr>
        <p:spPr>
          <a:xfrm>
            <a:off x="5223986" y="5421386"/>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Accuracy boost on XBRL-structured financial filings (FinER &amp; FormuLA datasets)</a:t>
            </a:r>
            <a:endParaRPr lang="en-US" sz="1550" dirty="0"/>
          </a:p>
        </p:txBody>
      </p:sp>
      <p:sp>
        <p:nvSpPr>
          <p:cNvPr id="11" name="Text 9"/>
          <p:cNvSpPr/>
          <p:nvPr/>
        </p:nvSpPr>
        <p:spPr>
          <a:xfrm>
            <a:off x="9654302" y="4089196"/>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86.9%</a:t>
            </a:r>
            <a:endParaRPr lang="en-US" sz="5150" dirty="0"/>
          </a:p>
        </p:txBody>
      </p:sp>
      <p:sp>
        <p:nvSpPr>
          <p:cNvPr id="12" name="Text 10"/>
          <p:cNvSpPr/>
          <p:nvPr/>
        </p:nvSpPr>
        <p:spPr>
          <a:xfrm>
            <a:off x="10505003" y="4992166"/>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Latency Reduction</a:t>
            </a:r>
            <a:endParaRPr lang="en-US" sz="1950" dirty="0"/>
          </a:p>
        </p:txBody>
      </p:sp>
      <p:sp>
        <p:nvSpPr>
          <p:cNvPr id="13" name="Text 11"/>
          <p:cNvSpPr/>
          <p:nvPr/>
        </p:nvSpPr>
        <p:spPr>
          <a:xfrm>
            <a:off x="9654302" y="5421386"/>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Reduction in adaptation latency vs. prior prompt optimisation methods</a:t>
            </a:r>
            <a:endParaRPr lang="en-US" sz="1550" dirty="0"/>
          </a:p>
        </p:txBody>
      </p:sp>
      <p:sp>
        <p:nvSpPr>
          <p:cNvPr id="14" name="Text 13">
            <a:extLst>
              <a:ext uri="{FF2B5EF4-FFF2-40B4-BE49-F238E27FC236}">
                <a16:creationId xmlns:a16="http://schemas.microsoft.com/office/drawing/2014/main" id="{3C298AEC-1ED7-1576-1AB9-5BC497CBAAC9}"/>
              </a:ext>
            </a:extLst>
          </p:cNvPr>
          <p:cNvSpPr/>
          <p:nvPr/>
        </p:nvSpPr>
        <p:spPr>
          <a:xfrm>
            <a:off x="793790" y="6424946"/>
            <a:ext cx="13042821"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 AppWorld is a benchmark that ranks AI agents based on how well they perform real-world, multi-step tasks across simulated applications such as email, calendars, and e-commerce systems. It evaluates not just whether a task is completed, but how accurately, efficiently, and safely the agent navigates complex workflows — measuring how effectively AI systems can operate as practical digital assistants.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03496"/>
            <a:ext cx="109433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Case Study: ACE in Financial Analysis (XBRL)</a:t>
            </a:r>
            <a:endParaRPr lang="en-US" sz="3900" dirty="0"/>
          </a:p>
        </p:txBody>
      </p:sp>
      <p:sp>
        <p:nvSpPr>
          <p:cNvPr id="3" name="Text 1"/>
          <p:cNvSpPr/>
          <p:nvPr/>
        </p:nvSpPr>
        <p:spPr>
          <a:xfrm>
            <a:off x="793790" y="2002869"/>
            <a:ext cx="5852041"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challenges ACE is designed to solve</a:t>
            </a:r>
            <a:endParaRPr lang="en-US" sz="2300" dirty="0"/>
          </a:p>
        </p:txBody>
      </p:sp>
      <p:sp>
        <p:nvSpPr>
          <p:cNvPr id="4" name="Shape 2"/>
          <p:cNvSpPr/>
          <p:nvPr/>
        </p:nvSpPr>
        <p:spPr>
          <a:xfrm>
            <a:off x="793790"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5" name="Shape 3"/>
          <p:cNvSpPr/>
          <p:nvPr/>
        </p:nvSpPr>
        <p:spPr>
          <a:xfrm>
            <a:off x="816650" y="2695456"/>
            <a:ext cx="4169569" cy="595313"/>
          </a:xfrm>
          <a:prstGeom prst="roundRect">
            <a:avLst>
              <a:gd name="adj" fmla="val 9395"/>
            </a:avLst>
          </a:prstGeom>
          <a:solidFill>
            <a:srgbClr val="DADBF1"/>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2606" y="2840355"/>
            <a:ext cx="297656" cy="297656"/>
          </a:xfrm>
          <a:prstGeom prst="rect">
            <a:avLst/>
          </a:prstGeom>
        </p:spPr>
      </p:pic>
      <p:sp>
        <p:nvSpPr>
          <p:cNvPr id="7" name="Text 4"/>
          <p:cNvSpPr/>
          <p:nvPr/>
        </p:nvSpPr>
        <p:spPr>
          <a:xfrm>
            <a:off x="1015008" y="3489127"/>
            <a:ext cx="288988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Structured but Complex</a:t>
            </a:r>
            <a:endParaRPr lang="en-US" sz="1950" dirty="0"/>
          </a:p>
        </p:txBody>
      </p:sp>
      <p:sp>
        <p:nvSpPr>
          <p:cNvPr id="8" name="Text 5"/>
          <p:cNvSpPr/>
          <p:nvPr/>
        </p:nvSpPr>
        <p:spPr>
          <a:xfrm>
            <a:off x="1015008" y="3918347"/>
            <a:ext cx="3772853"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Financial statements are broken into hundreds of tagged elements — many representing similar concepts across different reporting contexts. Variations across companies make consistent extraction difficult at scale.</a:t>
            </a:r>
            <a:endParaRPr lang="en-US" sz="1550" dirty="0"/>
          </a:p>
        </p:txBody>
      </p:sp>
      <p:sp>
        <p:nvSpPr>
          <p:cNvPr id="9" name="Text 6"/>
          <p:cNvSpPr/>
          <p:nvPr/>
        </p:nvSpPr>
        <p:spPr>
          <a:xfrm>
            <a:off x="1015008" y="5942648"/>
            <a:ext cx="3772853"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A filing may include "Total Revenue," "Operating Revenue," and "Net Sales" — selecting the wrong tag distorts the analysis.</a:t>
            </a:r>
            <a:endParaRPr lang="en-US" sz="1250" dirty="0"/>
          </a:p>
        </p:txBody>
      </p:sp>
      <p:sp>
        <p:nvSpPr>
          <p:cNvPr id="10" name="Shape 7"/>
          <p:cNvSpPr/>
          <p:nvPr/>
        </p:nvSpPr>
        <p:spPr>
          <a:xfrm>
            <a:off x="5207437" y="2672596"/>
            <a:ext cx="4215408" cy="4253508"/>
          </a:xfrm>
          <a:prstGeom prst="roundRect">
            <a:avLst>
              <a:gd name="adj" fmla="val 1977"/>
            </a:avLst>
          </a:prstGeom>
          <a:solidFill>
            <a:srgbClr val="FFFFFF"/>
          </a:solidFill>
          <a:ln w="22860">
            <a:solidFill>
              <a:srgbClr val="C0C1D7"/>
            </a:solidFill>
            <a:prstDash val="solid"/>
          </a:ln>
        </p:spPr>
        <p:txBody>
          <a:bodyPr/>
          <a:lstStyle/>
          <a:p>
            <a:endParaRPr lang="en-US"/>
          </a:p>
        </p:txBody>
      </p:sp>
      <p:sp>
        <p:nvSpPr>
          <p:cNvPr id="11" name="Shape 8"/>
          <p:cNvSpPr/>
          <p:nvPr/>
        </p:nvSpPr>
        <p:spPr>
          <a:xfrm>
            <a:off x="5230297" y="2695456"/>
            <a:ext cx="4169688" cy="595313"/>
          </a:xfrm>
          <a:prstGeom prst="roundRect">
            <a:avLst>
              <a:gd name="adj" fmla="val 9395"/>
            </a:avLst>
          </a:prstGeom>
          <a:solidFill>
            <a:srgbClr val="DADBF1"/>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6253" y="2840355"/>
            <a:ext cx="297656" cy="297656"/>
          </a:xfrm>
          <a:prstGeom prst="rect">
            <a:avLst/>
          </a:prstGeom>
        </p:spPr>
      </p:pic>
      <p:sp>
        <p:nvSpPr>
          <p:cNvPr id="13" name="Text 9"/>
          <p:cNvSpPr/>
          <p:nvPr/>
        </p:nvSpPr>
        <p:spPr>
          <a:xfrm>
            <a:off x="5428655" y="3489127"/>
            <a:ext cx="3458289"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139 Fine-Grained Categories</a:t>
            </a:r>
            <a:endParaRPr lang="en-US" sz="1950" dirty="0"/>
          </a:p>
        </p:txBody>
      </p:sp>
      <p:sp>
        <p:nvSpPr>
          <p:cNvPr id="14" name="Text 10"/>
          <p:cNvSpPr/>
          <p:nvPr/>
        </p:nvSpPr>
        <p:spPr>
          <a:xfrm>
            <a:off x="5428655" y="3918347"/>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Identifying and labeling financial entities across a large set of closely related categories. Mislabeling a single entity can propagate errors through all downstream analysis.</a:t>
            </a:r>
            <a:endParaRPr lang="en-US" sz="1550" dirty="0"/>
          </a:p>
        </p:txBody>
      </p:sp>
      <p:sp>
        <p:nvSpPr>
          <p:cNvPr id="15" name="Text 11"/>
          <p:cNvSpPr/>
          <p:nvPr/>
        </p:nvSpPr>
        <p:spPr>
          <a:xfrm>
            <a:off x="5428655" y="5625108"/>
            <a:ext cx="3772972"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"Interest" could mean interest income, interest expense, or ownership interest — context determines everything.</a:t>
            </a:r>
            <a:endParaRPr lang="en-US" sz="1250" dirty="0"/>
          </a:p>
        </p:txBody>
      </p:sp>
      <p:sp>
        <p:nvSpPr>
          <p:cNvPr id="16" name="Shape 12"/>
          <p:cNvSpPr/>
          <p:nvPr/>
        </p:nvSpPr>
        <p:spPr>
          <a:xfrm>
            <a:off x="9621203"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17" name="Shape 13"/>
          <p:cNvSpPr/>
          <p:nvPr/>
        </p:nvSpPr>
        <p:spPr>
          <a:xfrm>
            <a:off x="9644063" y="2695456"/>
            <a:ext cx="4169569" cy="595313"/>
          </a:xfrm>
          <a:prstGeom prst="roundRect">
            <a:avLst>
              <a:gd name="adj" fmla="val 9395"/>
            </a:avLst>
          </a:prstGeom>
          <a:solidFill>
            <a:srgbClr val="DADBF1"/>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019" y="2840355"/>
            <a:ext cx="297656" cy="297656"/>
          </a:xfrm>
          <a:prstGeom prst="rect">
            <a:avLst/>
          </a:prstGeom>
        </p:spPr>
      </p:pic>
      <p:sp>
        <p:nvSpPr>
          <p:cNvPr id="19" name="Text 14"/>
          <p:cNvSpPr/>
          <p:nvPr/>
        </p:nvSpPr>
        <p:spPr>
          <a:xfrm>
            <a:off x="9842421" y="3489127"/>
            <a:ext cx="279070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Extract, Then Compute</a:t>
            </a:r>
            <a:endParaRPr lang="en-US" sz="1950" dirty="0"/>
          </a:p>
        </p:txBody>
      </p:sp>
      <p:sp>
        <p:nvSpPr>
          <p:cNvPr id="20" name="Text 15"/>
          <p:cNvSpPr/>
          <p:nvPr/>
        </p:nvSpPr>
        <p:spPr>
          <a:xfrm>
            <a:off x="9842421" y="3918347"/>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Requires extracting specific values from structured filings and applying financial logic correctly. Errors in data selection or misunderstood variable relationships compound into wrong results.</a:t>
            </a:r>
            <a:endParaRPr lang="en-US" sz="1550" dirty="0"/>
          </a:p>
        </p:txBody>
      </p:sp>
      <p:sp>
        <p:nvSpPr>
          <p:cNvPr id="21" name="Text 16"/>
          <p:cNvSpPr/>
          <p:nvPr/>
        </p:nvSpPr>
        <p:spPr>
          <a:xfrm>
            <a:off x="9842421" y="5625108"/>
            <a:ext cx="3772853" cy="508159"/>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Calculating profit fails if operating expenses are confused with total expenses.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19601"/>
            <a:ext cx="9848255" cy="558165"/>
          </a:xfrm>
          <a:prstGeom prst="rect">
            <a:avLst/>
          </a:prstGeom>
          <a:noFill/>
          <a:ln/>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Case Study: ACE in Financial Analysis (XBRL)</a:t>
            </a:r>
            <a:endParaRPr lang="en-US" sz="3500" dirty="0"/>
          </a:p>
        </p:txBody>
      </p:sp>
      <p:sp>
        <p:nvSpPr>
          <p:cNvPr id="3" name="Text 1"/>
          <p:cNvSpPr/>
          <p:nvPr/>
        </p:nvSpPr>
        <p:spPr>
          <a:xfrm>
            <a:off x="793790" y="1242060"/>
            <a:ext cx="93087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How ACE masters complex domain knowledge through division of labor</a:t>
            </a:r>
            <a:endParaRPr lang="en-US" sz="2100" dirty="0"/>
          </a:p>
        </p:txBody>
      </p:sp>
      <p:sp>
        <p:nvSpPr>
          <p:cNvPr id="4" name="Text 2"/>
          <p:cNvSpPr/>
          <p:nvPr/>
        </p:nvSpPr>
        <p:spPr>
          <a:xfrm>
            <a:off x="793790" y="1817965"/>
            <a:ext cx="13042821" cy="542925"/>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ACE addresses complex XBRL-based reasoning by dividing labor across three specialized roles. Researchers evaluated its performance on FiNER, which involves labeling 139 financial entity types, and FormuLA, which requires numerical computation from structured filings.</a:t>
            </a:r>
            <a:endParaRPr lang="en-US" sz="1400" dirty="0"/>
          </a:p>
        </p:txBody>
      </p:sp>
      <p:sp>
        <p:nvSpPr>
          <p:cNvPr id="5" name="Shape 3"/>
          <p:cNvSpPr/>
          <p:nvPr/>
        </p:nvSpPr>
        <p:spPr>
          <a:xfrm>
            <a:off x="79379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80003" y="2727960"/>
            <a:ext cx="535781" cy="535781"/>
          </a:xfrm>
          <a:prstGeom prst="roundRect">
            <a:avLst>
              <a:gd name="adj" fmla="val 17064968"/>
            </a:avLst>
          </a:prstGeom>
          <a:solidFill>
            <a:srgbClr val="4950BC"/>
          </a:solidFill>
          <a:ln/>
        </p:spPr>
        <p:txBody>
          <a:bodyPr/>
          <a:lstStyle/>
          <a:p>
            <a:endParaRPr lang="en-US"/>
          </a:p>
        </p:txBody>
      </p:sp>
      <p:sp>
        <p:nvSpPr>
          <p:cNvPr id="7" name="Text 5"/>
          <p:cNvSpPr/>
          <p:nvPr/>
        </p:nvSpPr>
        <p:spPr>
          <a:xfrm>
            <a:off x="980003" y="3424476"/>
            <a:ext cx="3350419" cy="278963"/>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Generator: Task Execution</a:t>
            </a:r>
            <a:endParaRPr lang="en-US" sz="1750" dirty="0"/>
          </a:p>
        </p:txBody>
      </p:sp>
      <p:sp>
        <p:nvSpPr>
          <p:cNvPr id="8" name="Text 6"/>
          <p:cNvSpPr/>
          <p:nvPr/>
        </p:nvSpPr>
        <p:spPr>
          <a:xfrm>
            <a:off x="980003" y="3799880"/>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Acts as the financial analyst. Attempts FiNER and FormuLA queries using the current playbook, producing a reasoning trace that exposes calculation methods and any misapplied XBRL rules.</a:t>
            </a:r>
            <a:endParaRPr lang="en-US" sz="1400" dirty="0"/>
          </a:p>
        </p:txBody>
      </p:sp>
      <p:sp>
        <p:nvSpPr>
          <p:cNvPr id="9" name="Shape 7"/>
          <p:cNvSpPr/>
          <p:nvPr/>
        </p:nvSpPr>
        <p:spPr>
          <a:xfrm>
            <a:off x="5194935"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0" name="Shape 8"/>
          <p:cNvSpPr/>
          <p:nvPr/>
        </p:nvSpPr>
        <p:spPr>
          <a:xfrm>
            <a:off x="5381149" y="2727960"/>
            <a:ext cx="535781" cy="535781"/>
          </a:xfrm>
          <a:prstGeom prst="roundRect">
            <a:avLst>
              <a:gd name="adj" fmla="val 17064968"/>
            </a:avLst>
          </a:prstGeom>
          <a:solidFill>
            <a:srgbClr val="4950BC"/>
          </a:solidFill>
          <a:ln/>
        </p:spPr>
        <p:txBody>
          <a:bodyPr/>
          <a:lstStyle/>
          <a:p>
            <a:endParaRPr lang="en-US"/>
          </a:p>
        </p:txBody>
      </p:sp>
      <p:sp>
        <p:nvSpPr>
          <p:cNvPr id="11" name="Text 9"/>
          <p:cNvSpPr/>
          <p:nvPr/>
        </p:nvSpPr>
        <p:spPr>
          <a:xfrm>
            <a:off x="5381149"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Reflector: Diagnosis &amp; Insight Extraction</a:t>
            </a:r>
            <a:endParaRPr lang="en-US" sz="1750" dirty="0"/>
          </a:p>
        </p:txBody>
      </p:sp>
      <p:sp>
        <p:nvSpPr>
          <p:cNvPr id="12" name="Text 10"/>
          <p:cNvSpPr/>
          <p:nvPr/>
        </p:nvSpPr>
        <p:spPr>
          <a:xfrm>
            <a:off x="5381149" y="4078843"/>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Reviews the execution trace to pinpoint exactly where the Generator went wrong. Distills errors into specific, actionable XBRL rules and financial concepts—not vague feedback.</a:t>
            </a:r>
            <a:endParaRPr lang="en-US" sz="1400" dirty="0"/>
          </a:p>
        </p:txBody>
      </p:sp>
      <p:sp>
        <p:nvSpPr>
          <p:cNvPr id="13" name="Shape 11"/>
          <p:cNvSpPr/>
          <p:nvPr/>
        </p:nvSpPr>
        <p:spPr>
          <a:xfrm>
            <a:off x="959608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4" name="Shape 12"/>
          <p:cNvSpPr/>
          <p:nvPr/>
        </p:nvSpPr>
        <p:spPr>
          <a:xfrm>
            <a:off x="9782294" y="2727960"/>
            <a:ext cx="535781" cy="535781"/>
          </a:xfrm>
          <a:prstGeom prst="roundRect">
            <a:avLst>
              <a:gd name="adj" fmla="val 17064968"/>
            </a:avLst>
          </a:prstGeom>
          <a:solidFill>
            <a:srgbClr val="4950BC"/>
          </a:solidFill>
          <a:ln/>
        </p:spPr>
        <p:txBody>
          <a:bodyPr/>
          <a:lstStyle/>
          <a:p>
            <a:endParaRPr lang="en-US"/>
          </a:p>
        </p:txBody>
      </p:sp>
      <p:sp>
        <p:nvSpPr>
          <p:cNvPr id="15" name="Text 13"/>
          <p:cNvSpPr/>
          <p:nvPr/>
        </p:nvSpPr>
        <p:spPr>
          <a:xfrm>
            <a:off x="9782294"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Curator: Knowledge Preservation</a:t>
            </a:r>
            <a:endParaRPr lang="en-US" sz="1750" dirty="0"/>
          </a:p>
        </p:txBody>
      </p:sp>
      <p:sp>
        <p:nvSpPr>
          <p:cNvPr id="16" name="Text 14"/>
          <p:cNvSpPr/>
          <p:nvPr/>
        </p:nvSpPr>
        <p:spPr>
          <a:xfrm>
            <a:off x="9782294" y="4078843"/>
            <a:ext cx="3867983" cy="1085850"/>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Files the extracted rules into permanent memory as incremental delta updates—never rewriting the full playbook. Builds a growing, precise XBRL rulebook over time.</a:t>
            </a:r>
            <a:endParaRPr lang="en-US" sz="1400" dirty="0"/>
          </a:p>
        </p:txBody>
      </p:sp>
      <p:sp>
        <p:nvSpPr>
          <p:cNvPr id="17" name="Text 15"/>
          <p:cNvSpPr/>
          <p:nvPr/>
        </p:nvSpPr>
        <p:spPr>
          <a:xfrm>
            <a:off x="10044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8.6%</a:t>
            </a:r>
            <a:endParaRPr lang="en-US" sz="4600" dirty="0"/>
          </a:p>
        </p:txBody>
      </p:sp>
      <p:sp>
        <p:nvSpPr>
          <p:cNvPr id="18" name="Text 16"/>
          <p:cNvSpPr/>
          <p:nvPr/>
        </p:nvSpPr>
        <p:spPr>
          <a:xfrm>
            <a:off x="1643658" y="6691670"/>
            <a:ext cx="2513767"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Avg. Performance Gain</a:t>
            </a:r>
            <a:endParaRPr lang="en-US" sz="1750" dirty="0"/>
          </a:p>
        </p:txBody>
      </p:sp>
      <p:sp>
        <p:nvSpPr>
          <p:cNvPr id="19" name="Text 17"/>
          <p:cNvSpPr/>
          <p:nvPr/>
        </p:nvSpPr>
        <p:spPr>
          <a:xfrm>
            <a:off x="793790" y="7067074"/>
            <a:ext cx="4213622"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Over strong baselines on FiNER and FormuLA benchmarks.</a:t>
            </a:r>
            <a:endParaRPr lang="en-US" sz="1400" dirty="0"/>
          </a:p>
        </p:txBody>
      </p:sp>
      <p:sp>
        <p:nvSpPr>
          <p:cNvPr id="20" name="Text 18"/>
          <p:cNvSpPr/>
          <p:nvPr/>
        </p:nvSpPr>
        <p:spPr>
          <a:xfrm>
            <a:off x="54190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10.9%</a:t>
            </a:r>
            <a:endParaRPr lang="en-US" sz="4600" dirty="0"/>
          </a:p>
        </p:txBody>
      </p:sp>
      <p:sp>
        <p:nvSpPr>
          <p:cNvPr id="21" name="Text 19"/>
          <p:cNvSpPr/>
          <p:nvPr/>
        </p:nvSpPr>
        <p:spPr>
          <a:xfrm>
            <a:off x="6028015" y="6691670"/>
            <a:ext cx="2574131"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Offline Adaptation Lead</a:t>
            </a:r>
            <a:endParaRPr lang="en-US" sz="1750" dirty="0"/>
          </a:p>
        </p:txBody>
      </p:sp>
      <p:sp>
        <p:nvSpPr>
          <p:cNvPr id="22" name="Text 20"/>
          <p:cNvSpPr/>
          <p:nvPr/>
        </p:nvSpPr>
        <p:spPr>
          <a:xfrm>
            <a:off x="5208270"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Surpassed ICL, MIPROv2, and GEPA during offline adaptation.</a:t>
            </a:r>
            <a:endParaRPr lang="en-US" sz="1400" dirty="0"/>
          </a:p>
        </p:txBody>
      </p:sp>
      <p:sp>
        <p:nvSpPr>
          <p:cNvPr id="23" name="Text 21"/>
          <p:cNvSpPr/>
          <p:nvPr/>
        </p:nvSpPr>
        <p:spPr>
          <a:xfrm>
            <a:off x="9833610"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6.2%</a:t>
            </a:r>
            <a:endParaRPr lang="en-US" sz="4600" dirty="0"/>
          </a:p>
        </p:txBody>
      </p:sp>
      <p:sp>
        <p:nvSpPr>
          <p:cNvPr id="24" name="Text 22"/>
          <p:cNvSpPr/>
          <p:nvPr/>
        </p:nvSpPr>
        <p:spPr>
          <a:xfrm>
            <a:off x="10457378" y="6691670"/>
            <a:ext cx="2544723"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Online Adaptation Lead</a:t>
            </a:r>
            <a:endParaRPr lang="en-US" sz="1750" dirty="0"/>
          </a:p>
        </p:txBody>
      </p:sp>
      <p:sp>
        <p:nvSpPr>
          <p:cNvPr id="25" name="Text 23"/>
          <p:cNvSpPr/>
          <p:nvPr/>
        </p:nvSpPr>
        <p:spPr>
          <a:xfrm>
            <a:off x="9622869"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Exceeded Dynamic Cheatsheet and other adaptive memory methods.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9503" y="549593"/>
            <a:ext cx="11373207" cy="616744"/>
          </a:xfrm>
          <a:prstGeom prst="rect">
            <a:avLst/>
          </a:prstGeom>
          <a:noFill/>
          <a:ln/>
        </p:spPr>
        <p:txBody>
          <a:bodyPr wrap="none" lIns="0" tIns="0" rIns="0" bIns="0" rtlCol="0" anchor="t"/>
          <a:lstStyle/>
          <a:p>
            <a:pPr marL="0" indent="0" algn="l">
              <a:lnSpc>
                <a:spcPts val="4850"/>
              </a:lnSpc>
              <a:buNone/>
            </a:pPr>
            <a:r>
              <a:rPr lang="en-US" sz="3850" b="1" dirty="0">
                <a:solidFill>
                  <a:srgbClr val="000000"/>
                </a:solidFill>
                <a:latin typeface="Inter Bold" pitchFamily="34" charset="0"/>
                <a:ea typeface="Inter Bold" pitchFamily="34" charset="-122"/>
                <a:cs typeface="Inter Bold" pitchFamily="34" charset="-120"/>
              </a:rPr>
              <a:t>Case Study: AI-Powered Expense Management</a:t>
            </a:r>
            <a:endParaRPr lang="en-US" sz="3850" dirty="0"/>
          </a:p>
        </p:txBody>
      </p:sp>
      <p:sp>
        <p:nvSpPr>
          <p:cNvPr id="3" name="Text 1"/>
          <p:cNvSpPr/>
          <p:nvPr/>
        </p:nvSpPr>
        <p:spPr>
          <a:xfrm>
            <a:off x="789503" y="1244798"/>
            <a:ext cx="8137327" cy="370046"/>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Continuous improvement without costly redesign cycles</a:t>
            </a:r>
            <a:endParaRPr lang="en-US" sz="2300" dirty="0"/>
          </a:p>
        </p:txBody>
      </p:sp>
      <p:sp>
        <p:nvSpPr>
          <p:cNvPr id="4" name="Text 2"/>
          <p:cNvSpPr/>
          <p:nvPr/>
        </p:nvSpPr>
        <p:spPr>
          <a:xfrm>
            <a:off x="789503" y="1909167"/>
            <a:ext cx="13051393"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ACE refines expense categorization by learning from user corrections, such as reclassifying Uber from "Travel" to "Transport" without requiring manual system redesigns.</a:t>
            </a:r>
            <a:endParaRPr lang="en-US" sz="1550" dirty="0"/>
          </a:p>
        </p:txBody>
      </p:sp>
      <p:sp>
        <p:nvSpPr>
          <p:cNvPr id="5" name="Shape 3"/>
          <p:cNvSpPr/>
          <p:nvPr/>
        </p:nvSpPr>
        <p:spPr>
          <a:xfrm>
            <a:off x="7895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94410" y="2964656"/>
            <a:ext cx="592098" cy="592098"/>
          </a:xfrm>
          <a:prstGeom prst="roundRect">
            <a:avLst>
              <a:gd name="adj" fmla="val 15441845"/>
            </a:avLst>
          </a:prstGeom>
          <a:solidFill>
            <a:srgbClr val="4950BC"/>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288" y="3127534"/>
            <a:ext cx="266343" cy="266343"/>
          </a:xfrm>
          <a:prstGeom prst="rect">
            <a:avLst/>
          </a:prstGeom>
        </p:spPr>
      </p:pic>
      <p:sp>
        <p:nvSpPr>
          <p:cNvPr id="8" name="Text 5"/>
          <p:cNvSpPr/>
          <p:nvPr/>
        </p:nvSpPr>
        <p:spPr>
          <a:xfrm>
            <a:off x="994410"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Generator: Product Behavior</a:t>
            </a:r>
            <a:endParaRPr lang="en-US" sz="1900" dirty="0"/>
          </a:p>
        </p:txBody>
      </p:sp>
      <p:sp>
        <p:nvSpPr>
          <p:cNvPr id="9" name="Text 6"/>
          <p:cNvSpPr/>
          <p:nvPr/>
        </p:nvSpPr>
        <p:spPr>
          <a:xfrm>
            <a:off x="994410"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The AI categorizes transactions and generates spending insights using current rules, serving as the initial functional release.</a:t>
            </a:r>
            <a:endParaRPr lang="en-US" sz="1550" dirty="0"/>
          </a:p>
        </p:txBody>
      </p:sp>
      <p:sp>
        <p:nvSpPr>
          <p:cNvPr id="10" name="Shape 7"/>
          <p:cNvSpPr/>
          <p:nvPr/>
        </p:nvSpPr>
        <p:spPr>
          <a:xfrm>
            <a:off x="5205293" y="2759750"/>
            <a:ext cx="4219694"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1" name="Shape 8"/>
          <p:cNvSpPr/>
          <p:nvPr/>
        </p:nvSpPr>
        <p:spPr>
          <a:xfrm>
            <a:off x="5410200" y="2964656"/>
            <a:ext cx="592098" cy="592098"/>
          </a:xfrm>
          <a:prstGeom prst="roundRect">
            <a:avLst>
              <a:gd name="adj" fmla="val 15441845"/>
            </a:avLst>
          </a:prstGeom>
          <a:solidFill>
            <a:srgbClr val="4950BC"/>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3078" y="3127534"/>
            <a:ext cx="266343" cy="266343"/>
          </a:xfrm>
          <a:prstGeom prst="rect">
            <a:avLst/>
          </a:prstGeom>
        </p:spPr>
      </p:pic>
      <p:sp>
        <p:nvSpPr>
          <p:cNvPr id="13" name="Text 9"/>
          <p:cNvSpPr/>
          <p:nvPr/>
        </p:nvSpPr>
        <p:spPr>
          <a:xfrm>
            <a:off x="5410200" y="3752969"/>
            <a:ext cx="3809881"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Reflector: Feedback &amp; Diagnosis</a:t>
            </a:r>
            <a:endParaRPr lang="en-US" sz="1900" dirty="0"/>
          </a:p>
        </p:txBody>
      </p:sp>
      <p:sp>
        <p:nvSpPr>
          <p:cNvPr id="14" name="Text 10"/>
          <p:cNvSpPr/>
          <p:nvPr/>
        </p:nvSpPr>
        <p:spPr>
          <a:xfrm>
            <a:off x="5410200" y="4487466"/>
            <a:ext cx="3809881"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Analyzes user corrections to identify patterns, such as ride-sharing merchants being misclassified 42% of the time.</a:t>
            </a:r>
            <a:endParaRPr lang="en-US" sz="1550" dirty="0"/>
          </a:p>
        </p:txBody>
      </p:sp>
      <p:sp>
        <p:nvSpPr>
          <p:cNvPr id="15" name="Shape 11"/>
          <p:cNvSpPr/>
          <p:nvPr/>
        </p:nvSpPr>
        <p:spPr>
          <a:xfrm>
            <a:off x="96212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6" name="Shape 12"/>
          <p:cNvSpPr/>
          <p:nvPr/>
        </p:nvSpPr>
        <p:spPr>
          <a:xfrm>
            <a:off x="9826109" y="2964656"/>
            <a:ext cx="592098" cy="592098"/>
          </a:xfrm>
          <a:prstGeom prst="roundRect">
            <a:avLst>
              <a:gd name="adj" fmla="val 15441845"/>
            </a:avLst>
          </a:prstGeom>
          <a:solidFill>
            <a:srgbClr val="4950B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8987" y="3127534"/>
            <a:ext cx="266343" cy="266343"/>
          </a:xfrm>
          <a:prstGeom prst="rect">
            <a:avLst/>
          </a:prstGeom>
        </p:spPr>
      </p:pic>
      <p:sp>
        <p:nvSpPr>
          <p:cNvPr id="18" name="Text 13"/>
          <p:cNvSpPr/>
          <p:nvPr/>
        </p:nvSpPr>
        <p:spPr>
          <a:xfrm>
            <a:off x="9826109"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Curator: Improvement Engine</a:t>
            </a:r>
            <a:endParaRPr lang="en-US" sz="1900" dirty="0"/>
          </a:p>
        </p:txBody>
      </p:sp>
      <p:sp>
        <p:nvSpPr>
          <p:cNvPr id="19" name="Text 14"/>
          <p:cNvSpPr/>
          <p:nvPr/>
        </p:nvSpPr>
        <p:spPr>
          <a:xfrm>
            <a:off x="9826109"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Merges insights into the playbook as incremental updates, evolving the system continuously without full rewrites.</a:t>
            </a:r>
            <a:endParaRPr lang="en-US" sz="1550" dirty="0"/>
          </a:p>
        </p:txBody>
      </p:sp>
      <p:sp>
        <p:nvSpPr>
          <p:cNvPr id="20" name="Text 15"/>
          <p:cNvSpPr/>
          <p:nvPr/>
        </p:nvSpPr>
        <p:spPr>
          <a:xfrm>
            <a:off x="789503" y="6369010"/>
            <a:ext cx="2610445"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Traditional Approach:</a:t>
            </a:r>
            <a:endParaRPr lang="en-US" sz="1900" dirty="0"/>
          </a:p>
        </p:txBody>
      </p:sp>
      <p:sp>
        <p:nvSpPr>
          <p:cNvPr id="21" name="Text 16"/>
          <p:cNvSpPr/>
          <p:nvPr/>
        </p:nvSpPr>
        <p:spPr>
          <a:xfrm>
            <a:off x="789503" y="6873597"/>
            <a:ext cx="6284952" cy="314920"/>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Collect feedback → redesign → release v2. Slow, lossy cycles.</a:t>
            </a:r>
            <a:endParaRPr lang="en-US" sz="1550" dirty="0"/>
          </a:p>
        </p:txBody>
      </p:sp>
      <p:sp>
        <p:nvSpPr>
          <p:cNvPr id="22" name="Text 17"/>
          <p:cNvSpPr/>
          <p:nvPr/>
        </p:nvSpPr>
        <p:spPr>
          <a:xfrm>
            <a:off x="7563564" y="6369010"/>
            <a:ext cx="2467213"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ACE Approach:</a:t>
            </a:r>
            <a:endParaRPr lang="en-US" sz="1900" dirty="0"/>
          </a:p>
        </p:txBody>
      </p:sp>
      <p:sp>
        <p:nvSpPr>
          <p:cNvPr id="23" name="Text 18"/>
          <p:cNvSpPr/>
          <p:nvPr/>
        </p:nvSpPr>
        <p:spPr>
          <a:xfrm>
            <a:off x="7563564" y="6873597"/>
            <a:ext cx="6284952"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Feedback is immediately structured and reused. Continuous improvement, no lost learning.</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42416"/>
            <a:ext cx="65262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Criteria for Implementation</a:t>
            </a:r>
            <a:endParaRPr lang="en-US" sz="3900" dirty="0"/>
          </a:p>
        </p:txBody>
      </p:sp>
      <p:sp>
        <p:nvSpPr>
          <p:cNvPr id="3" name="Text 1"/>
          <p:cNvSpPr/>
          <p:nvPr/>
        </p:nvSpPr>
        <p:spPr>
          <a:xfrm>
            <a:off x="801529" y="196035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ACE is best piloted where the following conditions already exist: they define the scope where implementation is viable and measurable.</a:t>
            </a:r>
            <a:endParaRPr lang="en-US" sz="1550" dirty="0"/>
          </a:p>
        </p:txBody>
      </p:sp>
      <p:sp>
        <p:nvSpPr>
          <p:cNvPr id="4" name="Shape 2"/>
          <p:cNvSpPr/>
          <p:nvPr/>
        </p:nvSpPr>
        <p:spPr>
          <a:xfrm>
            <a:off x="786051" y="2623596"/>
            <a:ext cx="13042821" cy="3440668"/>
          </a:xfrm>
          <a:prstGeom prst="roundRect">
            <a:avLst>
              <a:gd name="adj" fmla="val 2423"/>
            </a:avLst>
          </a:prstGeom>
          <a:noFill/>
          <a:ln w="7620">
            <a:solidFill>
              <a:srgbClr val="000000">
                <a:alpha val="8000"/>
              </a:srgbClr>
            </a:solidFill>
            <a:prstDash val="solid"/>
          </a:ln>
        </p:spPr>
        <p:txBody>
          <a:bodyPr/>
          <a:lstStyle/>
          <a:p>
            <a:endParaRPr lang="en-US"/>
          </a:p>
        </p:txBody>
      </p:sp>
      <p:sp>
        <p:nvSpPr>
          <p:cNvPr id="5" name="Shape 3"/>
          <p:cNvSpPr/>
          <p:nvPr/>
        </p:nvSpPr>
        <p:spPr>
          <a:xfrm>
            <a:off x="793671" y="2631217"/>
            <a:ext cx="13027581" cy="570905"/>
          </a:xfrm>
          <a:prstGeom prst="rect">
            <a:avLst/>
          </a:prstGeom>
          <a:solidFill>
            <a:srgbClr val="FFFFFF">
              <a:alpha val="4000"/>
            </a:srgbClr>
          </a:solidFill>
          <a:ln/>
        </p:spPr>
        <p:txBody>
          <a:bodyPr/>
          <a:lstStyle/>
          <a:p>
            <a:endParaRPr lang="en-US"/>
          </a:p>
        </p:txBody>
      </p:sp>
      <p:sp>
        <p:nvSpPr>
          <p:cNvPr id="6" name="Shape 4"/>
          <p:cNvSpPr/>
          <p:nvPr/>
        </p:nvSpPr>
        <p:spPr>
          <a:xfrm>
            <a:off x="793790" y="2631217"/>
            <a:ext cx="3672364" cy="570905"/>
          </a:xfrm>
          <a:prstGeom prst="roundRect">
            <a:avLst>
              <a:gd name="adj" fmla="val 14601"/>
            </a:avLst>
          </a:prstGeom>
          <a:solidFill>
            <a:srgbClr val="C7C9EB"/>
          </a:solidFill>
          <a:ln/>
        </p:spPr>
        <p:txBody>
          <a:bodyPr/>
          <a:lstStyle/>
          <a:p>
            <a:endParaRPr lang="en-US"/>
          </a:p>
        </p:txBody>
      </p:sp>
      <p:sp>
        <p:nvSpPr>
          <p:cNvPr id="7" name="Text 5"/>
          <p:cNvSpPr/>
          <p:nvPr/>
        </p:nvSpPr>
        <p:spPr>
          <a:xfrm>
            <a:off x="992148" y="2757899"/>
            <a:ext cx="3271838"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Condition</a:t>
            </a:r>
            <a:endParaRPr lang="en-US" sz="1550" dirty="0"/>
          </a:p>
        </p:txBody>
      </p:sp>
      <p:sp>
        <p:nvSpPr>
          <p:cNvPr id="8" name="Shape 6"/>
          <p:cNvSpPr/>
          <p:nvPr/>
        </p:nvSpPr>
        <p:spPr>
          <a:xfrm>
            <a:off x="4466154" y="2631217"/>
            <a:ext cx="9355098" cy="570905"/>
          </a:xfrm>
          <a:prstGeom prst="rect">
            <a:avLst/>
          </a:prstGeom>
          <a:solidFill>
            <a:srgbClr val="C7C9EB"/>
          </a:solidFill>
          <a:ln/>
        </p:spPr>
        <p:txBody>
          <a:bodyPr/>
          <a:lstStyle/>
          <a:p>
            <a:endParaRPr lang="en-US"/>
          </a:p>
        </p:txBody>
      </p:sp>
      <p:sp>
        <p:nvSpPr>
          <p:cNvPr id="9" name="Text 7"/>
          <p:cNvSpPr/>
          <p:nvPr/>
        </p:nvSpPr>
        <p:spPr>
          <a:xfrm>
            <a:off x="4668322" y="2757899"/>
            <a:ext cx="8954572"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Why It Matters</a:t>
            </a:r>
            <a:endParaRPr lang="en-US" sz="1550" dirty="0"/>
          </a:p>
        </p:txBody>
      </p:sp>
      <p:sp>
        <p:nvSpPr>
          <p:cNvPr id="10" name="Shape 8"/>
          <p:cNvSpPr/>
          <p:nvPr/>
        </p:nvSpPr>
        <p:spPr>
          <a:xfrm>
            <a:off x="793671" y="3202121"/>
            <a:ext cx="13027581" cy="570905"/>
          </a:xfrm>
          <a:prstGeom prst="rect">
            <a:avLst/>
          </a:prstGeom>
          <a:solidFill>
            <a:srgbClr val="000000">
              <a:alpha val="4000"/>
            </a:srgbClr>
          </a:solidFill>
          <a:ln/>
        </p:spPr>
        <p:txBody>
          <a:bodyPr/>
          <a:lstStyle/>
          <a:p>
            <a:endParaRPr lang="en-US"/>
          </a:p>
        </p:txBody>
      </p:sp>
      <p:sp>
        <p:nvSpPr>
          <p:cNvPr id="11" name="Shape 9"/>
          <p:cNvSpPr/>
          <p:nvPr/>
        </p:nvSpPr>
        <p:spPr>
          <a:xfrm>
            <a:off x="793790" y="3202121"/>
            <a:ext cx="3672364" cy="570905"/>
          </a:xfrm>
          <a:prstGeom prst="rect">
            <a:avLst/>
          </a:prstGeom>
          <a:solidFill>
            <a:srgbClr val="FFFFFF"/>
          </a:solidFill>
          <a:ln/>
        </p:spPr>
        <p:txBody>
          <a:bodyPr/>
          <a:lstStyle/>
          <a:p>
            <a:endParaRPr lang="en-US"/>
          </a:p>
        </p:txBody>
      </p:sp>
      <p:sp>
        <p:nvSpPr>
          <p:cNvPr id="12" name="Text 10"/>
          <p:cNvSpPr/>
          <p:nvPr/>
        </p:nvSpPr>
        <p:spPr>
          <a:xfrm>
            <a:off x="992148" y="3328804"/>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Strong CI Coverage</a:t>
            </a:r>
            <a:endParaRPr lang="en-US" sz="1550" dirty="0"/>
          </a:p>
        </p:txBody>
      </p:sp>
      <p:sp>
        <p:nvSpPr>
          <p:cNvPr id="13" name="Shape 11"/>
          <p:cNvSpPr/>
          <p:nvPr/>
        </p:nvSpPr>
        <p:spPr>
          <a:xfrm>
            <a:off x="4466154" y="3202121"/>
            <a:ext cx="9355098" cy="570905"/>
          </a:xfrm>
          <a:prstGeom prst="rect">
            <a:avLst/>
          </a:prstGeom>
          <a:solidFill>
            <a:srgbClr val="FFFFFF"/>
          </a:solidFill>
          <a:ln/>
        </p:spPr>
        <p:txBody>
          <a:bodyPr/>
          <a:lstStyle/>
          <a:p>
            <a:endParaRPr lang="en-US"/>
          </a:p>
        </p:txBody>
      </p:sp>
      <p:sp>
        <p:nvSpPr>
          <p:cNvPr id="14" name="Text 12"/>
          <p:cNvSpPr/>
          <p:nvPr/>
        </p:nvSpPr>
        <p:spPr>
          <a:xfrm>
            <a:off x="4668322" y="3328804"/>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Reliable, objective feedback signals for the Reflector to learn from</a:t>
            </a:r>
            <a:endParaRPr lang="en-US" sz="1550" dirty="0"/>
          </a:p>
        </p:txBody>
      </p:sp>
      <p:sp>
        <p:nvSpPr>
          <p:cNvPr id="15" name="Shape 13"/>
          <p:cNvSpPr/>
          <p:nvPr/>
        </p:nvSpPr>
        <p:spPr>
          <a:xfrm>
            <a:off x="793671" y="3773026"/>
            <a:ext cx="13027581" cy="570905"/>
          </a:xfrm>
          <a:prstGeom prst="rect">
            <a:avLst/>
          </a:prstGeom>
          <a:solidFill>
            <a:srgbClr val="FFFFFF">
              <a:alpha val="4000"/>
            </a:srgbClr>
          </a:solidFill>
          <a:ln/>
        </p:spPr>
        <p:txBody>
          <a:bodyPr/>
          <a:lstStyle/>
          <a:p>
            <a:endParaRPr lang="en-US"/>
          </a:p>
        </p:txBody>
      </p:sp>
      <p:sp>
        <p:nvSpPr>
          <p:cNvPr id="16" name="Shape 14"/>
          <p:cNvSpPr/>
          <p:nvPr/>
        </p:nvSpPr>
        <p:spPr>
          <a:xfrm>
            <a:off x="793790" y="3773026"/>
            <a:ext cx="3672364" cy="570905"/>
          </a:xfrm>
          <a:prstGeom prst="rect">
            <a:avLst/>
          </a:prstGeom>
          <a:solidFill>
            <a:srgbClr val="C7C9EB"/>
          </a:solidFill>
          <a:ln/>
        </p:spPr>
        <p:txBody>
          <a:bodyPr/>
          <a:lstStyle/>
          <a:p>
            <a:endParaRPr lang="en-US"/>
          </a:p>
        </p:txBody>
      </p:sp>
      <p:sp>
        <p:nvSpPr>
          <p:cNvPr id="17" name="Text 15"/>
          <p:cNvSpPr/>
          <p:nvPr/>
        </p:nvSpPr>
        <p:spPr>
          <a:xfrm>
            <a:off x="992148" y="389970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Repetitive Change Patterns</a:t>
            </a:r>
            <a:endParaRPr lang="en-US" sz="1550" dirty="0"/>
          </a:p>
        </p:txBody>
      </p:sp>
      <p:sp>
        <p:nvSpPr>
          <p:cNvPr id="18" name="Shape 16"/>
          <p:cNvSpPr/>
          <p:nvPr/>
        </p:nvSpPr>
        <p:spPr>
          <a:xfrm>
            <a:off x="4466154" y="3773026"/>
            <a:ext cx="9355098" cy="570905"/>
          </a:xfrm>
          <a:prstGeom prst="rect">
            <a:avLst/>
          </a:prstGeom>
          <a:solidFill>
            <a:srgbClr val="C7C9EB"/>
          </a:solidFill>
          <a:ln/>
        </p:spPr>
        <p:txBody>
          <a:bodyPr/>
          <a:lstStyle/>
          <a:p>
            <a:endParaRPr lang="en-US"/>
          </a:p>
        </p:txBody>
      </p:sp>
      <p:sp>
        <p:nvSpPr>
          <p:cNvPr id="19" name="Text 17"/>
          <p:cNvSpPr/>
          <p:nvPr/>
        </p:nvSpPr>
        <p:spPr>
          <a:xfrm>
            <a:off x="4668322" y="389970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High-frequency tasks where accumulated playbook rules compound in value</a:t>
            </a:r>
            <a:endParaRPr lang="en-US" sz="1550" dirty="0"/>
          </a:p>
        </p:txBody>
      </p:sp>
      <p:sp>
        <p:nvSpPr>
          <p:cNvPr id="20" name="Shape 18"/>
          <p:cNvSpPr/>
          <p:nvPr/>
        </p:nvSpPr>
        <p:spPr>
          <a:xfrm>
            <a:off x="793671" y="4343931"/>
            <a:ext cx="13027581" cy="570905"/>
          </a:xfrm>
          <a:prstGeom prst="rect">
            <a:avLst/>
          </a:prstGeom>
          <a:solidFill>
            <a:srgbClr val="000000">
              <a:alpha val="4000"/>
            </a:srgbClr>
          </a:solidFill>
          <a:ln/>
        </p:spPr>
        <p:txBody>
          <a:bodyPr/>
          <a:lstStyle/>
          <a:p>
            <a:endParaRPr lang="en-US"/>
          </a:p>
        </p:txBody>
      </p:sp>
      <p:sp>
        <p:nvSpPr>
          <p:cNvPr id="21" name="Shape 19"/>
          <p:cNvSpPr/>
          <p:nvPr/>
        </p:nvSpPr>
        <p:spPr>
          <a:xfrm>
            <a:off x="793790" y="4343931"/>
            <a:ext cx="3672364" cy="570905"/>
          </a:xfrm>
          <a:prstGeom prst="rect">
            <a:avLst/>
          </a:prstGeom>
          <a:solidFill>
            <a:srgbClr val="FFFFFF"/>
          </a:solidFill>
          <a:ln/>
        </p:spPr>
        <p:txBody>
          <a:bodyPr/>
          <a:lstStyle/>
          <a:p>
            <a:endParaRPr lang="en-US"/>
          </a:p>
        </p:txBody>
      </p:sp>
      <p:sp>
        <p:nvSpPr>
          <p:cNvPr id="22" name="Text 20"/>
          <p:cNvSpPr/>
          <p:nvPr/>
        </p:nvSpPr>
        <p:spPr>
          <a:xfrm>
            <a:off x="992148" y="4470613"/>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Low Regulatory Sensitivity</a:t>
            </a:r>
            <a:endParaRPr lang="en-US" sz="1550" dirty="0"/>
          </a:p>
        </p:txBody>
      </p:sp>
      <p:sp>
        <p:nvSpPr>
          <p:cNvPr id="23" name="Shape 21"/>
          <p:cNvSpPr/>
          <p:nvPr/>
        </p:nvSpPr>
        <p:spPr>
          <a:xfrm>
            <a:off x="4466154" y="4343931"/>
            <a:ext cx="9355098" cy="570905"/>
          </a:xfrm>
          <a:prstGeom prst="rect">
            <a:avLst/>
          </a:prstGeom>
          <a:solidFill>
            <a:srgbClr val="FFFFFF"/>
          </a:solidFill>
          <a:ln/>
        </p:spPr>
        <p:txBody>
          <a:bodyPr/>
          <a:lstStyle/>
          <a:p>
            <a:endParaRPr lang="en-US"/>
          </a:p>
        </p:txBody>
      </p:sp>
      <p:sp>
        <p:nvSpPr>
          <p:cNvPr id="24" name="Text 22"/>
          <p:cNvSpPr/>
          <p:nvPr/>
        </p:nvSpPr>
        <p:spPr>
          <a:xfrm>
            <a:off x="4668322" y="4470613"/>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Reduced compliance risk during the initial learning and trace-collection phase</a:t>
            </a:r>
            <a:endParaRPr lang="en-US" sz="1550" dirty="0"/>
          </a:p>
        </p:txBody>
      </p:sp>
      <p:sp>
        <p:nvSpPr>
          <p:cNvPr id="25" name="Shape 23"/>
          <p:cNvSpPr/>
          <p:nvPr/>
        </p:nvSpPr>
        <p:spPr>
          <a:xfrm>
            <a:off x="793671" y="4914835"/>
            <a:ext cx="13027581" cy="570905"/>
          </a:xfrm>
          <a:prstGeom prst="rect">
            <a:avLst/>
          </a:prstGeom>
          <a:solidFill>
            <a:srgbClr val="FFFFFF">
              <a:alpha val="4000"/>
            </a:srgbClr>
          </a:solidFill>
          <a:ln/>
        </p:spPr>
        <p:txBody>
          <a:bodyPr/>
          <a:lstStyle/>
          <a:p>
            <a:endParaRPr lang="en-US"/>
          </a:p>
        </p:txBody>
      </p:sp>
      <p:sp>
        <p:nvSpPr>
          <p:cNvPr id="26" name="Shape 24"/>
          <p:cNvSpPr/>
          <p:nvPr/>
        </p:nvSpPr>
        <p:spPr>
          <a:xfrm>
            <a:off x="793790" y="4914835"/>
            <a:ext cx="3672364" cy="570905"/>
          </a:xfrm>
          <a:prstGeom prst="rect">
            <a:avLst/>
          </a:prstGeom>
          <a:solidFill>
            <a:srgbClr val="C7C9EB"/>
          </a:solidFill>
          <a:ln/>
        </p:spPr>
        <p:txBody>
          <a:bodyPr/>
          <a:lstStyle/>
          <a:p>
            <a:endParaRPr lang="en-US"/>
          </a:p>
        </p:txBody>
      </p:sp>
      <p:sp>
        <p:nvSpPr>
          <p:cNvPr id="27" name="Text 25"/>
          <p:cNvSpPr/>
          <p:nvPr/>
        </p:nvSpPr>
        <p:spPr>
          <a:xfrm>
            <a:off x="992148" y="504151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Clear Rollback Mechanisms</a:t>
            </a:r>
            <a:endParaRPr lang="en-US" sz="1550" dirty="0"/>
          </a:p>
        </p:txBody>
      </p:sp>
      <p:sp>
        <p:nvSpPr>
          <p:cNvPr id="28" name="Shape 26"/>
          <p:cNvSpPr/>
          <p:nvPr/>
        </p:nvSpPr>
        <p:spPr>
          <a:xfrm>
            <a:off x="4466154" y="4914835"/>
            <a:ext cx="9355098" cy="570905"/>
          </a:xfrm>
          <a:prstGeom prst="rect">
            <a:avLst/>
          </a:prstGeom>
          <a:solidFill>
            <a:srgbClr val="C7C9EB"/>
          </a:solidFill>
          <a:ln/>
        </p:spPr>
        <p:txBody>
          <a:bodyPr/>
          <a:lstStyle/>
          <a:p>
            <a:endParaRPr lang="en-US"/>
          </a:p>
        </p:txBody>
      </p:sp>
      <p:sp>
        <p:nvSpPr>
          <p:cNvPr id="29" name="Text 27"/>
          <p:cNvSpPr/>
          <p:nvPr/>
        </p:nvSpPr>
        <p:spPr>
          <a:xfrm>
            <a:off x="4668322" y="504151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Safe recovery path if an approved playbook rule produces an unexpected outcome</a:t>
            </a:r>
            <a:endParaRPr lang="en-US" sz="1550" dirty="0"/>
          </a:p>
        </p:txBody>
      </p:sp>
      <p:sp>
        <p:nvSpPr>
          <p:cNvPr id="30" name="Shape 28"/>
          <p:cNvSpPr/>
          <p:nvPr/>
        </p:nvSpPr>
        <p:spPr>
          <a:xfrm>
            <a:off x="793671" y="5485740"/>
            <a:ext cx="13027581" cy="570905"/>
          </a:xfrm>
          <a:prstGeom prst="rect">
            <a:avLst/>
          </a:prstGeom>
          <a:solidFill>
            <a:srgbClr val="000000">
              <a:alpha val="4000"/>
            </a:srgbClr>
          </a:solidFill>
          <a:ln/>
        </p:spPr>
        <p:txBody>
          <a:bodyPr/>
          <a:lstStyle/>
          <a:p>
            <a:endParaRPr lang="en-US"/>
          </a:p>
        </p:txBody>
      </p:sp>
      <p:sp>
        <p:nvSpPr>
          <p:cNvPr id="31" name="Shape 29"/>
          <p:cNvSpPr/>
          <p:nvPr/>
        </p:nvSpPr>
        <p:spPr>
          <a:xfrm>
            <a:off x="793790" y="5485740"/>
            <a:ext cx="3672364" cy="570905"/>
          </a:xfrm>
          <a:prstGeom prst="rect">
            <a:avLst/>
          </a:prstGeom>
          <a:solidFill>
            <a:srgbClr val="FFFFFF"/>
          </a:solidFill>
          <a:ln/>
        </p:spPr>
        <p:txBody>
          <a:bodyPr/>
          <a:lstStyle/>
          <a:p>
            <a:endParaRPr lang="en-US"/>
          </a:p>
        </p:txBody>
      </p:sp>
      <p:sp>
        <p:nvSpPr>
          <p:cNvPr id="32" name="Text 30"/>
          <p:cNvSpPr/>
          <p:nvPr/>
        </p:nvSpPr>
        <p:spPr>
          <a:xfrm>
            <a:off x="992148" y="5612422"/>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Willing Reviewers</a:t>
            </a:r>
            <a:endParaRPr lang="en-US" sz="1550" dirty="0"/>
          </a:p>
        </p:txBody>
      </p:sp>
      <p:sp>
        <p:nvSpPr>
          <p:cNvPr id="33" name="Shape 31"/>
          <p:cNvSpPr/>
          <p:nvPr/>
        </p:nvSpPr>
        <p:spPr>
          <a:xfrm>
            <a:off x="4466154" y="5485740"/>
            <a:ext cx="9355098" cy="570905"/>
          </a:xfrm>
          <a:prstGeom prst="rect">
            <a:avLst/>
          </a:prstGeom>
          <a:solidFill>
            <a:srgbClr val="FFFFFF"/>
          </a:solidFill>
          <a:ln/>
        </p:spPr>
        <p:txBody>
          <a:bodyPr/>
          <a:lstStyle/>
          <a:p>
            <a:endParaRPr lang="en-US"/>
          </a:p>
        </p:txBody>
      </p:sp>
      <p:sp>
        <p:nvSpPr>
          <p:cNvPr id="34" name="Text 32"/>
          <p:cNvSpPr/>
          <p:nvPr/>
        </p:nvSpPr>
        <p:spPr>
          <a:xfrm>
            <a:off x="4668322" y="5612422"/>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Human oversight to validate lessons before they enter the active playbook</a:t>
            </a:r>
            <a:endParaRPr lang="en-US" sz="1550" dirty="0"/>
          </a:p>
        </p:txBody>
      </p:sp>
      <p:sp>
        <p:nvSpPr>
          <p:cNvPr id="35" name="Text 33"/>
          <p:cNvSpPr/>
          <p:nvPr/>
        </p:nvSpPr>
        <p:spPr>
          <a:xfrm>
            <a:off x="793790" y="640806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initial objective is not autonomous deployment, it is proving that ACE reduces repeated mistakes and captures engineering knowledge in a reusable, auditable way.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42416"/>
            <a:ext cx="515088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Staged Rollout Model</a:t>
            </a:r>
            <a:endParaRPr lang="en-US" sz="3900" dirty="0"/>
          </a:p>
        </p:txBody>
      </p:sp>
      <p:sp>
        <p:nvSpPr>
          <p:cNvPr id="3" name="Shape 1"/>
          <p:cNvSpPr/>
          <p:nvPr/>
        </p:nvSpPr>
        <p:spPr>
          <a:xfrm>
            <a:off x="793790" y="2103120"/>
            <a:ext cx="13042821" cy="843201"/>
          </a:xfrm>
          <a:prstGeom prst="roundRect">
            <a:avLst>
              <a:gd name="adj" fmla="val 9886"/>
            </a:avLst>
          </a:prstGeom>
          <a:solidFill>
            <a:srgbClr val="C7C9EA"/>
          </a:solidFill>
          <a:ln/>
        </p:spPr>
        <p:txBody>
          <a:bodyPr/>
          <a:lstStyle/>
          <a:p>
            <a:endParaRPr lang="en-US"/>
          </a:p>
        </p:txBody>
      </p:sp>
      <p:sp>
        <p:nvSpPr>
          <p:cNvPr id="4" name="Text 2"/>
          <p:cNvSpPr/>
          <p:nvPr/>
        </p:nvSpPr>
        <p:spPr>
          <a:xfrm>
            <a:off x="992148" y="2321599"/>
            <a:ext cx="126461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Autonomy is earned incrementally: each level requires demonstrated reliability at the previous stage before progression is considered.</a:t>
            </a:r>
            <a:endParaRPr lang="en-US" sz="1550" dirty="0"/>
          </a:p>
        </p:txBody>
      </p:sp>
      <p:sp>
        <p:nvSpPr>
          <p:cNvPr id="5" name="Shape 3"/>
          <p:cNvSpPr/>
          <p:nvPr/>
        </p:nvSpPr>
        <p:spPr>
          <a:xfrm>
            <a:off x="793790" y="5156478"/>
            <a:ext cx="13042821" cy="22860"/>
          </a:xfrm>
          <a:prstGeom prst="roundRect">
            <a:avLst>
              <a:gd name="adj" fmla="val 364651"/>
            </a:avLst>
          </a:prstGeom>
          <a:solidFill>
            <a:srgbClr val="C0C1D7"/>
          </a:solidFill>
          <a:ln/>
        </p:spPr>
        <p:txBody>
          <a:bodyPr/>
          <a:lstStyle/>
          <a:p>
            <a:endParaRPr lang="en-US"/>
          </a:p>
        </p:txBody>
      </p:sp>
      <p:sp>
        <p:nvSpPr>
          <p:cNvPr id="6" name="Shape 4"/>
          <p:cNvSpPr/>
          <p:nvPr/>
        </p:nvSpPr>
        <p:spPr>
          <a:xfrm>
            <a:off x="3316486" y="4561165"/>
            <a:ext cx="22860" cy="595313"/>
          </a:xfrm>
          <a:prstGeom prst="roundRect">
            <a:avLst>
              <a:gd name="adj" fmla="val 364651"/>
            </a:avLst>
          </a:prstGeom>
          <a:solidFill>
            <a:srgbClr val="C0C1D7"/>
          </a:solidFill>
          <a:ln/>
        </p:spPr>
        <p:txBody>
          <a:bodyPr/>
          <a:lstStyle/>
          <a:p>
            <a:endParaRPr lang="en-US"/>
          </a:p>
        </p:txBody>
      </p:sp>
      <p:sp>
        <p:nvSpPr>
          <p:cNvPr id="7" name="Shape 5"/>
          <p:cNvSpPr/>
          <p:nvPr/>
        </p:nvSpPr>
        <p:spPr>
          <a:xfrm>
            <a:off x="310467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9088" y="5007590"/>
            <a:ext cx="297656" cy="297656"/>
          </a:xfrm>
          <a:prstGeom prst="rect">
            <a:avLst/>
          </a:prstGeom>
        </p:spPr>
      </p:pic>
      <p:sp>
        <p:nvSpPr>
          <p:cNvPr id="9" name="Text 6"/>
          <p:cNvSpPr/>
          <p:nvPr/>
        </p:nvSpPr>
        <p:spPr>
          <a:xfrm>
            <a:off x="992148" y="3410069"/>
            <a:ext cx="4671536"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0: Advisory Only:</a:t>
            </a:r>
            <a:r>
              <a:rPr lang="en-US" sz="1550" dirty="0">
                <a:solidFill>
                  <a:srgbClr val="272525"/>
                </a:solidFill>
                <a:latin typeface="Inter" pitchFamily="34" charset="0"/>
                <a:ea typeface="Inter" pitchFamily="34" charset="-122"/>
                <a:cs typeface="Inter" pitchFamily="34" charset="-120"/>
              </a:rPr>
              <a:t> The agent proposes, and humans approve all actions. ACE collects traces only.</a:t>
            </a:r>
            <a:endParaRPr lang="en-US" sz="1550" dirty="0"/>
          </a:p>
        </p:txBody>
      </p:sp>
      <p:sp>
        <p:nvSpPr>
          <p:cNvPr id="10" name="Shape 7"/>
          <p:cNvSpPr/>
          <p:nvPr/>
        </p:nvSpPr>
        <p:spPr>
          <a:xfrm>
            <a:off x="5974556" y="5156478"/>
            <a:ext cx="22860" cy="595313"/>
          </a:xfrm>
          <a:prstGeom prst="roundRect">
            <a:avLst>
              <a:gd name="adj" fmla="val 364651"/>
            </a:avLst>
          </a:prstGeom>
          <a:solidFill>
            <a:srgbClr val="C0C1D7"/>
          </a:solidFill>
          <a:ln/>
        </p:spPr>
        <p:txBody>
          <a:bodyPr/>
          <a:lstStyle/>
          <a:p>
            <a:endParaRPr lang="en-US"/>
          </a:p>
        </p:txBody>
      </p:sp>
      <p:sp>
        <p:nvSpPr>
          <p:cNvPr id="11" name="Shape 8"/>
          <p:cNvSpPr/>
          <p:nvPr/>
        </p:nvSpPr>
        <p:spPr>
          <a:xfrm>
            <a:off x="576274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37158" y="5007590"/>
            <a:ext cx="297656" cy="297656"/>
          </a:xfrm>
          <a:prstGeom prst="rect">
            <a:avLst/>
          </a:prstGeom>
        </p:spPr>
      </p:pic>
      <p:sp>
        <p:nvSpPr>
          <p:cNvPr id="13" name="Text 9"/>
          <p:cNvSpPr/>
          <p:nvPr/>
        </p:nvSpPr>
        <p:spPr>
          <a:xfrm>
            <a:off x="3650218" y="5950268"/>
            <a:ext cx="4671655" cy="63507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1: Draft PR Mode:</a:t>
            </a:r>
            <a:r>
              <a:rPr lang="en-US" sz="1550" dirty="0">
                <a:solidFill>
                  <a:srgbClr val="272525"/>
                </a:solidFill>
                <a:latin typeface="Inter" pitchFamily="34" charset="0"/>
                <a:ea typeface="Inter" pitchFamily="34" charset="-122"/>
                <a:cs typeface="Inter" pitchFamily="34" charset="-120"/>
              </a:rPr>
              <a:t> The agent opens PRs with risk notes but cannot merge.</a:t>
            </a:r>
            <a:endParaRPr lang="en-US" sz="1550" dirty="0"/>
          </a:p>
        </p:txBody>
      </p:sp>
      <p:sp>
        <p:nvSpPr>
          <p:cNvPr id="14" name="Shape 10"/>
          <p:cNvSpPr/>
          <p:nvPr/>
        </p:nvSpPr>
        <p:spPr>
          <a:xfrm>
            <a:off x="8632746" y="4561165"/>
            <a:ext cx="22860" cy="595313"/>
          </a:xfrm>
          <a:prstGeom prst="roundRect">
            <a:avLst>
              <a:gd name="adj" fmla="val 364651"/>
            </a:avLst>
          </a:prstGeom>
          <a:solidFill>
            <a:srgbClr val="C0C1D7"/>
          </a:solidFill>
          <a:ln/>
        </p:spPr>
        <p:txBody>
          <a:bodyPr/>
          <a:lstStyle/>
          <a:p>
            <a:endParaRPr lang="en-US"/>
          </a:p>
        </p:txBody>
      </p:sp>
      <p:sp>
        <p:nvSpPr>
          <p:cNvPr id="15" name="Shape 11"/>
          <p:cNvSpPr/>
          <p:nvPr/>
        </p:nvSpPr>
        <p:spPr>
          <a:xfrm>
            <a:off x="842093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95348" y="5007590"/>
            <a:ext cx="297656" cy="297656"/>
          </a:xfrm>
          <a:prstGeom prst="rect">
            <a:avLst/>
          </a:prstGeom>
        </p:spPr>
      </p:pic>
      <p:sp>
        <p:nvSpPr>
          <p:cNvPr id="17" name="Text 12"/>
          <p:cNvSpPr/>
          <p:nvPr/>
        </p:nvSpPr>
        <p:spPr>
          <a:xfrm>
            <a:off x="6308408" y="3410069"/>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2: Scoped Auto-Merge:</a:t>
            </a:r>
            <a:r>
              <a:rPr lang="en-US" sz="1550" dirty="0">
                <a:solidFill>
                  <a:srgbClr val="272525"/>
                </a:solidFill>
                <a:latin typeface="Inter" pitchFamily="34" charset="0"/>
                <a:ea typeface="Inter" pitchFamily="34" charset="-122"/>
                <a:cs typeface="Inter" pitchFamily="34" charset="-120"/>
              </a:rPr>
              <a:t> The agent merges only low-risk changes with green CI and no regulated modules.</a:t>
            </a:r>
            <a:endParaRPr lang="en-US" sz="1550" dirty="0"/>
          </a:p>
        </p:txBody>
      </p:sp>
      <p:sp>
        <p:nvSpPr>
          <p:cNvPr id="18" name="Shape 13"/>
          <p:cNvSpPr/>
          <p:nvPr/>
        </p:nvSpPr>
        <p:spPr>
          <a:xfrm>
            <a:off x="11290935" y="5156478"/>
            <a:ext cx="22860" cy="595313"/>
          </a:xfrm>
          <a:prstGeom prst="roundRect">
            <a:avLst>
              <a:gd name="adj" fmla="val 364651"/>
            </a:avLst>
          </a:prstGeom>
          <a:solidFill>
            <a:srgbClr val="C0C1D7"/>
          </a:solidFill>
          <a:ln/>
        </p:spPr>
        <p:txBody>
          <a:bodyPr/>
          <a:lstStyle/>
          <a:p>
            <a:endParaRPr lang="en-US"/>
          </a:p>
        </p:txBody>
      </p:sp>
      <p:sp>
        <p:nvSpPr>
          <p:cNvPr id="19" name="Shape 14"/>
          <p:cNvSpPr/>
          <p:nvPr/>
        </p:nvSpPr>
        <p:spPr>
          <a:xfrm>
            <a:off x="1107912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3537" y="5007590"/>
            <a:ext cx="297656" cy="297656"/>
          </a:xfrm>
          <a:prstGeom prst="rect">
            <a:avLst/>
          </a:prstGeom>
        </p:spPr>
      </p:pic>
      <p:sp>
        <p:nvSpPr>
          <p:cNvPr id="21" name="Text 15"/>
          <p:cNvSpPr/>
          <p:nvPr/>
        </p:nvSpPr>
        <p:spPr>
          <a:xfrm>
            <a:off x="8966597" y="5950268"/>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3: Near-Autonomous Rollout:</a:t>
            </a:r>
            <a:r>
              <a:rPr lang="en-US" sz="1550" dirty="0">
                <a:solidFill>
                  <a:srgbClr val="272525"/>
                </a:solidFill>
                <a:latin typeface="Inter" pitchFamily="34" charset="0"/>
                <a:ea typeface="Inter" pitchFamily="34" charset="-122"/>
                <a:cs typeface="Inter" pitchFamily="34" charset="-120"/>
              </a:rPr>
              <a:t> The agent deploys within tightly bounded services using canary releases and automatic rollback.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42416"/>
            <a:ext cx="512397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Performance Metrics</a:t>
            </a:r>
            <a:endParaRPr lang="en-US" sz="3900" dirty="0"/>
          </a:p>
        </p:txBody>
      </p:sp>
      <p:sp>
        <p:nvSpPr>
          <p:cNvPr id="3" name="Text 1"/>
          <p:cNvSpPr/>
          <p:nvPr/>
        </p:nvSpPr>
        <p:spPr>
          <a:xfrm>
            <a:off x="793729" y="1843788"/>
            <a:ext cx="13042821" cy="635079"/>
          </a:xfrm>
          <a:prstGeom prst="rect">
            <a:avLst/>
          </a:prstGeom>
          <a:noFill/>
          <a:ln/>
        </p:spPr>
        <p:txBody>
          <a:bodyPr wrap="square" lIns="0" tIns="0" rIns="0" bIns="0" rtlCol="0" anchor="t"/>
          <a:lstStyle/>
          <a:p>
            <a:pPr marL="0" indent="0" algn="l">
              <a:lnSpc>
                <a:spcPts val="2500"/>
              </a:lnSpc>
              <a:buNone/>
            </a:pPr>
            <a:r>
              <a:rPr lang="en-US" sz="1550">
                <a:solidFill>
                  <a:srgbClr val="272525"/>
                </a:solidFill>
                <a:latin typeface="Inter" pitchFamily="34" charset="0"/>
                <a:ea typeface="Inter" pitchFamily="34" charset="-122"/>
                <a:cs typeface="Inter" pitchFamily="34" charset="-120"/>
              </a:rPr>
              <a:t>Success of ACE </a:t>
            </a:r>
            <a:r>
              <a:rPr lang="en-US" sz="1550" dirty="0">
                <a:solidFill>
                  <a:srgbClr val="272525"/>
                </a:solidFill>
                <a:latin typeface="Inter" pitchFamily="34" charset="0"/>
                <a:ea typeface="Inter" pitchFamily="34" charset="-122"/>
                <a:cs typeface="Inter" pitchFamily="34" charset="-120"/>
              </a:rPr>
              <a:t>framework is measured across two dimensions: the quality of engineering outcomes it produces, and the health of the playbook.</a:t>
            </a:r>
            <a:endParaRPr lang="en-US" sz="1550" dirty="0"/>
          </a:p>
        </p:txBody>
      </p:sp>
      <p:pic>
        <p:nvPicPr>
          <p:cNvPr id="4" name="Image 0" descr="preencoded.png"/>
          <p:cNvPicPr>
            <a:picLocks noChangeAspect="1"/>
          </p:cNvPicPr>
          <p:nvPr/>
        </p:nvPicPr>
        <p:blipFill>
          <a:blip r:embed="rId3"/>
          <a:stretch>
            <a:fillRect/>
          </a:stretch>
        </p:blipFill>
        <p:spPr>
          <a:xfrm>
            <a:off x="3632359" y="2484001"/>
            <a:ext cx="7365563" cy="3752731"/>
          </a:xfrm>
          <a:prstGeom prst="rect">
            <a:avLst/>
          </a:prstGeom>
        </p:spPr>
      </p:pic>
      <p:sp>
        <p:nvSpPr>
          <p:cNvPr id="5" name="Text 2"/>
          <p:cNvSpPr/>
          <p:nvPr/>
        </p:nvSpPr>
        <p:spPr>
          <a:xfrm>
            <a:off x="4339506" y="3409734"/>
            <a:ext cx="2338280"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Engineering Outcomes</a:t>
            </a:r>
            <a:endParaRPr lang="en-US" sz="2300" dirty="0"/>
          </a:p>
        </p:txBody>
      </p:sp>
      <p:sp>
        <p:nvSpPr>
          <p:cNvPr id="6" name="Text 3"/>
          <p:cNvSpPr/>
          <p:nvPr/>
        </p:nvSpPr>
        <p:spPr>
          <a:xfrm>
            <a:off x="4339506" y="4247717"/>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Drives PR Quality,</a:t>
            </a:r>
            <a:endParaRPr lang="en-US" sz="1800" dirty="0"/>
          </a:p>
        </p:txBody>
      </p:sp>
      <p:sp>
        <p:nvSpPr>
          <p:cNvPr id="7" name="Text 4"/>
          <p:cNvSpPr/>
          <p:nvPr/>
        </p:nvSpPr>
        <p:spPr>
          <a:xfrm>
            <a:off x="4339506" y="4645514"/>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CI Health, and</a:t>
            </a:r>
            <a:endParaRPr lang="en-US" sz="1800" dirty="0"/>
          </a:p>
        </p:txBody>
      </p:sp>
      <p:sp>
        <p:nvSpPr>
          <p:cNvPr id="8" name="Text 5"/>
          <p:cNvSpPr/>
          <p:nvPr/>
        </p:nvSpPr>
        <p:spPr>
          <a:xfrm>
            <a:off x="4339506" y="5043311"/>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Build Performance.</a:t>
            </a:r>
            <a:endParaRPr lang="en-US" sz="1800" dirty="0"/>
          </a:p>
        </p:txBody>
      </p:sp>
      <p:sp>
        <p:nvSpPr>
          <p:cNvPr id="9" name="Text 6"/>
          <p:cNvSpPr/>
          <p:nvPr/>
        </p:nvSpPr>
        <p:spPr>
          <a:xfrm>
            <a:off x="7965328" y="3354303"/>
            <a:ext cx="2338281"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Playbook Quality</a:t>
            </a:r>
            <a:endParaRPr lang="en-US" sz="2300" dirty="0"/>
          </a:p>
        </p:txBody>
      </p:sp>
      <p:sp>
        <p:nvSpPr>
          <p:cNvPr id="10" name="Text 7"/>
          <p:cNvSpPr/>
          <p:nvPr/>
        </p:nvSpPr>
        <p:spPr>
          <a:xfrm>
            <a:off x="7965328" y="4192286"/>
            <a:ext cx="2338281" cy="1173827"/>
          </a:xfrm>
          <a:prstGeom prst="rect">
            <a:avLst/>
          </a:prstGeom>
          <a:noFill/>
          <a:ln/>
        </p:spPr>
        <p:txBody>
          <a:bodyPr wrap="squar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Influences Playbook Health and Deployment Validation.</a:t>
            </a:r>
            <a:endParaRPr lang="en-US" sz="1800" dirty="0"/>
          </a:p>
        </p:txBody>
      </p:sp>
      <p:sp>
        <p:nvSpPr>
          <p:cNvPr id="11" name="Shape 8"/>
          <p:cNvSpPr/>
          <p:nvPr/>
        </p:nvSpPr>
        <p:spPr>
          <a:xfrm>
            <a:off x="793790" y="6459974"/>
            <a:ext cx="13042821" cy="1160740"/>
          </a:xfrm>
          <a:prstGeom prst="roundRect">
            <a:avLst>
              <a:gd name="adj" fmla="val 7182"/>
            </a:avLst>
          </a:prstGeom>
          <a:solidFill>
            <a:srgbClr val="C7C9EA"/>
          </a:solidFill>
          <a:ln/>
        </p:spPr>
        <p:txBody>
          <a:bodyPr/>
          <a:lstStyle/>
          <a:p>
            <a:endParaRPr lang="en-US"/>
          </a:p>
        </p:txBody>
      </p:sp>
      <p:sp>
        <p:nvSpPr>
          <p:cNvPr id="12" name="Text 9"/>
          <p:cNvSpPr/>
          <p:nvPr/>
        </p:nvSpPr>
        <p:spPr>
          <a:xfrm>
            <a:off x="992148" y="6707862"/>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ACE paper reports strong benchmark gains, but enterprise value is realized only when those gains translate into safer, cheaper, and faster engineering outcomes in production.</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References</a:t>
            </a:r>
            <a:endParaRPr lang="en-US" sz="3900" dirty="0"/>
          </a:p>
        </p:txBody>
      </p:sp>
      <p:sp>
        <p:nvSpPr>
          <p:cNvPr id="3" name="Shape 1"/>
          <p:cNvSpPr/>
          <p:nvPr/>
        </p:nvSpPr>
        <p:spPr>
          <a:xfrm>
            <a:off x="793790" y="2479834"/>
            <a:ext cx="99179" cy="99179"/>
          </a:xfrm>
          <a:prstGeom prst="roundRect">
            <a:avLst>
              <a:gd name="adj" fmla="val 460985"/>
            </a:avLst>
          </a:prstGeom>
          <a:solidFill>
            <a:srgbClr val="4950BC"/>
          </a:solidFill>
          <a:ln/>
        </p:spPr>
        <p:txBody>
          <a:bodyPr/>
          <a:lstStyle/>
          <a:p>
            <a:endParaRPr lang="en-US"/>
          </a:p>
        </p:txBody>
      </p:sp>
      <p:sp>
        <p:nvSpPr>
          <p:cNvPr id="4" name="Text 2"/>
          <p:cNvSpPr/>
          <p:nvPr/>
        </p:nvSpPr>
        <p:spPr>
          <a:xfrm>
            <a:off x="1091327" y="2370713"/>
            <a:ext cx="6099810"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Zhang, Q., et al. (2025). </a:t>
            </a:r>
            <a:r>
              <a:rPr lang="en-US" sz="1550" i="1" dirty="0">
                <a:solidFill>
                  <a:srgbClr val="272525"/>
                </a:solidFill>
                <a:latin typeface="Inter" pitchFamily="34" charset="0"/>
                <a:ea typeface="Inter" pitchFamily="34" charset="-122"/>
                <a:cs typeface="Inter" pitchFamily="34" charset="-120"/>
              </a:rPr>
              <a:t>Agentic Context Engineering: Evolving contexts for self-improving language models.</a:t>
            </a:r>
            <a:r>
              <a:rPr lang="en-US" sz="1550" dirty="0">
                <a:solidFill>
                  <a:srgbClr val="272525"/>
                </a:solidFill>
                <a:latin typeface="Inter" pitchFamily="34" charset="0"/>
                <a:ea typeface="Inter" pitchFamily="34" charset="-122"/>
                <a:cs typeface="Inter" pitchFamily="34" charset="-120"/>
              </a:rPr>
              <a:t> arXiv. ICLR 2026 submission. </a:t>
            </a:r>
            <a:r>
              <a:rPr lang="en-US" sz="15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arXiv:2510.04618</a:t>
            </a:r>
            <a:endParaRPr lang="en-US" sz="1550" dirty="0"/>
          </a:p>
        </p:txBody>
      </p:sp>
      <p:sp>
        <p:nvSpPr>
          <p:cNvPr id="5" name="Shape 3"/>
          <p:cNvSpPr/>
          <p:nvPr/>
        </p:nvSpPr>
        <p:spPr>
          <a:xfrm>
            <a:off x="7439144" y="2479834"/>
            <a:ext cx="99179" cy="99179"/>
          </a:xfrm>
          <a:prstGeom prst="roundRect">
            <a:avLst>
              <a:gd name="adj" fmla="val 460985"/>
            </a:avLst>
          </a:prstGeom>
          <a:solidFill>
            <a:srgbClr val="4950BC"/>
          </a:solidFill>
          <a:ln/>
        </p:spPr>
        <p:txBody>
          <a:bodyPr/>
          <a:lstStyle/>
          <a:p>
            <a:endParaRPr lang="en-US"/>
          </a:p>
        </p:txBody>
      </p:sp>
      <p:sp>
        <p:nvSpPr>
          <p:cNvPr id="6" name="Text 4"/>
          <p:cNvSpPr/>
          <p:nvPr/>
        </p:nvSpPr>
        <p:spPr>
          <a:xfrm>
            <a:off x="7736681" y="2370713"/>
            <a:ext cx="609992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Opsahl-Ong, K., et al. (2024). </a:t>
            </a:r>
            <a:r>
              <a:rPr lang="en-US" sz="1550" i="1" dirty="0">
                <a:solidFill>
                  <a:srgbClr val="272525"/>
                </a:solidFill>
                <a:latin typeface="Inter" pitchFamily="34" charset="0"/>
                <a:ea typeface="Inter" pitchFamily="34" charset="-122"/>
                <a:cs typeface="Inter" pitchFamily="34" charset="-120"/>
              </a:rPr>
              <a:t>Optimizing instructions and demonstrations for multi-stage language model programs (MIPRO).</a:t>
            </a:r>
            <a:r>
              <a:rPr lang="en-US" sz="1550" dirty="0">
                <a:solidFill>
                  <a:srgbClr val="272525"/>
                </a:solidFill>
                <a:latin typeface="Inter" pitchFamily="34" charset="0"/>
                <a:ea typeface="Inter" pitchFamily="34" charset="-122"/>
                <a:cs typeface="Inter" pitchFamily="34" charset="-120"/>
              </a:rPr>
              <a:t> EMNLP 2024. </a:t>
            </a:r>
            <a:r>
              <a:rPr lang="en-US" sz="155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ACL Anthology</a:t>
            </a:r>
            <a:endParaRPr lang="en-US" sz="1550" dirty="0"/>
          </a:p>
        </p:txBody>
      </p:sp>
      <p:sp>
        <p:nvSpPr>
          <p:cNvPr id="7" name="Shape 5"/>
          <p:cNvSpPr/>
          <p:nvPr/>
        </p:nvSpPr>
        <p:spPr>
          <a:xfrm>
            <a:off x="793790" y="3829288"/>
            <a:ext cx="99179" cy="99179"/>
          </a:xfrm>
          <a:prstGeom prst="roundRect">
            <a:avLst>
              <a:gd name="adj" fmla="val 460985"/>
            </a:avLst>
          </a:prstGeom>
          <a:solidFill>
            <a:srgbClr val="4950BC"/>
          </a:solidFill>
          <a:ln/>
        </p:spPr>
        <p:txBody>
          <a:bodyPr/>
          <a:lstStyle/>
          <a:p>
            <a:endParaRPr lang="en-US"/>
          </a:p>
        </p:txBody>
      </p:sp>
      <p:sp>
        <p:nvSpPr>
          <p:cNvPr id="8" name="Text 6"/>
          <p:cNvSpPr/>
          <p:nvPr/>
        </p:nvSpPr>
        <p:spPr>
          <a:xfrm>
            <a:off x="1091327" y="3720168"/>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Shinn, N., et al. (2023). </a:t>
            </a:r>
            <a:r>
              <a:rPr lang="en-US" sz="1550" i="1" dirty="0">
                <a:solidFill>
                  <a:srgbClr val="272525"/>
                </a:solidFill>
                <a:latin typeface="Inter" pitchFamily="34" charset="0"/>
                <a:ea typeface="Inter" pitchFamily="34" charset="-122"/>
                <a:cs typeface="Inter" pitchFamily="34" charset="-120"/>
              </a:rPr>
              <a:t>Reflexion: Language agents with verbal reinforcement learning.</a:t>
            </a:r>
            <a:r>
              <a:rPr lang="en-US" sz="1550" dirty="0">
                <a:solidFill>
                  <a:srgbClr val="272525"/>
                </a:solidFill>
                <a:latin typeface="Inter" pitchFamily="34" charset="0"/>
                <a:ea typeface="Inter" pitchFamily="34" charset="-122"/>
                <a:cs typeface="Inter" pitchFamily="34" charset="-120"/>
              </a:rPr>
              <a:t> NeurIPS 36. </a:t>
            </a:r>
            <a:r>
              <a:rPr lang="en-US" sz="1550"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arXiv:2303.11366</a:t>
            </a:r>
            <a:endParaRPr lang="en-US" sz="1550" dirty="0"/>
          </a:p>
        </p:txBody>
      </p:sp>
      <p:sp>
        <p:nvSpPr>
          <p:cNvPr id="9" name="Shape 7"/>
          <p:cNvSpPr/>
          <p:nvPr/>
        </p:nvSpPr>
        <p:spPr>
          <a:xfrm>
            <a:off x="7439144" y="3829288"/>
            <a:ext cx="99179" cy="99179"/>
          </a:xfrm>
          <a:prstGeom prst="roundRect">
            <a:avLst>
              <a:gd name="adj" fmla="val 460985"/>
            </a:avLst>
          </a:prstGeom>
          <a:solidFill>
            <a:srgbClr val="4950BC"/>
          </a:solidFill>
          <a:ln/>
        </p:spPr>
        <p:txBody>
          <a:bodyPr/>
          <a:lstStyle/>
          <a:p>
            <a:endParaRPr lang="en-US"/>
          </a:p>
        </p:txBody>
      </p:sp>
      <p:sp>
        <p:nvSpPr>
          <p:cNvPr id="10" name="Text 8"/>
          <p:cNvSpPr/>
          <p:nvPr/>
        </p:nvSpPr>
        <p:spPr>
          <a:xfrm>
            <a:off x="7736681" y="3720168"/>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Suzgun, M., et al. (2025). </a:t>
            </a:r>
            <a:r>
              <a:rPr lang="en-US" sz="1550" i="1" dirty="0">
                <a:solidFill>
                  <a:srgbClr val="272525"/>
                </a:solidFill>
                <a:latin typeface="Inter" pitchFamily="34" charset="0"/>
                <a:ea typeface="Inter" pitchFamily="34" charset="-122"/>
                <a:cs typeface="Inter" pitchFamily="34" charset="-120"/>
              </a:rPr>
              <a:t>Dynamic Cheatsheet: Test-time learning with adaptive memory.</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arXiv:2504.07952</a:t>
            </a:r>
            <a:endParaRPr lang="en-US" sz="1550" dirty="0"/>
          </a:p>
        </p:txBody>
      </p:sp>
      <p:sp>
        <p:nvSpPr>
          <p:cNvPr id="11" name="Shape 9"/>
          <p:cNvSpPr/>
          <p:nvPr/>
        </p:nvSpPr>
        <p:spPr>
          <a:xfrm>
            <a:off x="793790" y="4861203"/>
            <a:ext cx="99179" cy="99179"/>
          </a:xfrm>
          <a:prstGeom prst="roundRect">
            <a:avLst>
              <a:gd name="adj" fmla="val 460985"/>
            </a:avLst>
          </a:prstGeom>
          <a:solidFill>
            <a:srgbClr val="4950BC"/>
          </a:solidFill>
          <a:ln/>
        </p:spPr>
        <p:txBody>
          <a:bodyPr/>
          <a:lstStyle/>
          <a:p>
            <a:endParaRPr lang="en-US"/>
          </a:p>
        </p:txBody>
      </p:sp>
      <p:sp>
        <p:nvSpPr>
          <p:cNvPr id="12" name="Text 10"/>
          <p:cNvSpPr/>
          <p:nvPr/>
        </p:nvSpPr>
        <p:spPr>
          <a:xfrm>
            <a:off x="1091327" y="4752082"/>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Wang, X., et al. (2024). </a:t>
            </a:r>
            <a:r>
              <a:rPr lang="en-US" sz="1550" i="1" dirty="0">
                <a:solidFill>
                  <a:srgbClr val="272525"/>
                </a:solidFill>
                <a:latin typeface="Inter" pitchFamily="34" charset="0"/>
                <a:ea typeface="Inter" pitchFamily="34" charset="-122"/>
                <a:cs typeface="Inter" pitchFamily="34" charset="-120"/>
              </a:rPr>
              <a:t>Executable code actions elicit better LLM agents (CodeAct).</a:t>
            </a:r>
            <a:r>
              <a:rPr lang="en-US" sz="1550" dirty="0">
                <a:solidFill>
                  <a:srgbClr val="272525"/>
                </a:solidFill>
                <a:latin typeface="Inter" pitchFamily="34" charset="0"/>
                <a:ea typeface="Inter" pitchFamily="34" charset="-122"/>
                <a:cs typeface="Inter" pitchFamily="34" charset="-120"/>
              </a:rPr>
              <a:t> ICML. </a:t>
            </a:r>
            <a:r>
              <a:rPr lang="en-US" sz="1550" u="sng" dirty="0">
                <a:solidFill>
                  <a:srgbClr val="4950BC"/>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arXiv:2402.01030</a:t>
            </a:r>
            <a:endParaRPr lang="en-US" sz="1550" dirty="0"/>
          </a:p>
        </p:txBody>
      </p:sp>
      <p:sp>
        <p:nvSpPr>
          <p:cNvPr id="13" name="Shape 11"/>
          <p:cNvSpPr/>
          <p:nvPr/>
        </p:nvSpPr>
        <p:spPr>
          <a:xfrm>
            <a:off x="7439144" y="4861203"/>
            <a:ext cx="99179" cy="99179"/>
          </a:xfrm>
          <a:prstGeom prst="roundRect">
            <a:avLst>
              <a:gd name="adj" fmla="val 460985"/>
            </a:avLst>
          </a:prstGeom>
          <a:solidFill>
            <a:srgbClr val="4950BC"/>
          </a:solidFill>
          <a:ln/>
        </p:spPr>
        <p:txBody>
          <a:bodyPr/>
          <a:lstStyle/>
          <a:p>
            <a:endParaRPr lang="en-US"/>
          </a:p>
        </p:txBody>
      </p:sp>
      <p:sp>
        <p:nvSpPr>
          <p:cNvPr id="14" name="Text 12"/>
          <p:cNvSpPr/>
          <p:nvPr/>
        </p:nvSpPr>
        <p:spPr>
          <a:xfrm>
            <a:off x="7736681" y="4752082"/>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Jiang, P., et al. (2025). </a:t>
            </a:r>
            <a:r>
              <a:rPr lang="en-US" sz="1550" i="1" dirty="0">
                <a:solidFill>
                  <a:srgbClr val="272525"/>
                </a:solidFill>
                <a:latin typeface="Inter" pitchFamily="34" charset="0"/>
                <a:ea typeface="Inter" pitchFamily="34" charset="-122"/>
                <a:cs typeface="Inter" pitchFamily="34" charset="-120"/>
              </a:rPr>
              <a:t>Adaptation of agentic AI.</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arXiv:2512.16301</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4110</Words>
  <Application>Microsoft Office PowerPoint</Application>
  <PresentationFormat>Custom</PresentationFormat>
  <Paragraphs>334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Mubeen Bhatti</cp:lastModifiedBy>
  <cp:revision>5</cp:revision>
  <dcterms:created xsi:type="dcterms:W3CDTF">2026-03-16T06:16:53Z</dcterms:created>
  <dcterms:modified xsi:type="dcterms:W3CDTF">2026-03-18T06:31:01Z</dcterms:modified>
</cp:coreProperties>
</file>